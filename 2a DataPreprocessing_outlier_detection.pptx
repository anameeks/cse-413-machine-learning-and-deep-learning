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87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16795" y="2532570"/>
            <a:ext cx="6358408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13086" y="1494114"/>
            <a:ext cx="4907280" cy="3676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09-Sep-26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09-Sep-26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09-Sep-26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0876" y="298551"/>
            <a:ext cx="10890247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7636" y="1512616"/>
            <a:ext cx="9939655" cy="289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2286000" y="2499258"/>
            <a:ext cx="7272808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Data</a:t>
            </a:r>
            <a:r>
              <a:rPr sz="6000" spc="-125" dirty="0"/>
              <a:t> </a:t>
            </a:r>
            <a:r>
              <a:rPr sz="6000" spc="-10" dirty="0"/>
              <a:t>Preprocessing</a:t>
            </a:r>
            <a:r>
              <a:rPr lang="en-US" sz="6000" spc="-10" dirty="0"/>
              <a:t>: Outlier Detection</a:t>
            </a:r>
            <a:endParaRPr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2966" y="1406406"/>
            <a:ext cx="10007600" cy="412496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60020" marR="5080" indent="-147955">
              <a:lnSpc>
                <a:spcPts val="2380"/>
              </a:lnSpc>
              <a:spcBef>
                <a:spcPts val="395"/>
              </a:spcBef>
              <a:buFont typeface="Arial"/>
              <a:buChar char="•"/>
              <a:tabLst>
                <a:tab pos="161290" algn="l"/>
              </a:tabLst>
            </a:pPr>
            <a:r>
              <a:rPr sz="2200" b="1" dirty="0">
                <a:latin typeface="Times New Roman"/>
                <a:cs typeface="Times New Roman"/>
              </a:rPr>
              <a:t>Outliers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instances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characteristics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considerably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different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most 	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instances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set</a:t>
            </a:r>
            <a:endParaRPr sz="2200">
              <a:latin typeface="Times New Roman"/>
              <a:cs typeface="Times New Roman"/>
            </a:endParaRPr>
          </a:p>
          <a:p>
            <a:pPr marL="617855" lvl="1" indent="-173355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617855" algn="l"/>
              </a:tabLst>
            </a:pPr>
            <a:r>
              <a:rPr sz="2200" b="1" dirty="0">
                <a:latin typeface="Times New Roman"/>
                <a:cs typeface="Times New Roman"/>
              </a:rPr>
              <a:t>Case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1: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Outliers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goal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analysis</a:t>
            </a:r>
            <a:endParaRPr sz="2200">
              <a:latin typeface="Times New Roman"/>
              <a:cs typeface="Times New Roman"/>
            </a:endParaRPr>
          </a:p>
          <a:p>
            <a:pPr marL="1075055" lvl="2" indent="-211454">
              <a:lnSpc>
                <a:spcPts val="2510"/>
              </a:lnSpc>
              <a:spcBef>
                <a:spcPts val="235"/>
              </a:spcBef>
              <a:buFont typeface="Tahoma"/>
              <a:buChar char="•"/>
              <a:tabLst>
                <a:tab pos="1075055" algn="l"/>
              </a:tabLst>
            </a:pPr>
            <a:r>
              <a:rPr sz="2200" dirty="0">
                <a:latin typeface="Times New Roman"/>
                <a:cs typeface="Times New Roman"/>
              </a:rPr>
              <a:t>Credit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card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fraud</a:t>
            </a:r>
            <a:endParaRPr sz="2200">
              <a:latin typeface="Times New Roman"/>
              <a:cs typeface="Times New Roman"/>
            </a:endParaRPr>
          </a:p>
          <a:p>
            <a:pPr marL="1075055" lvl="2" indent="-211454">
              <a:lnSpc>
                <a:spcPts val="2375"/>
              </a:lnSpc>
              <a:buChar char="•"/>
              <a:tabLst>
                <a:tab pos="1075055" algn="l"/>
              </a:tabLst>
            </a:pPr>
            <a:r>
              <a:rPr sz="2200" dirty="0">
                <a:latin typeface="Times New Roman"/>
                <a:cs typeface="Times New Roman"/>
              </a:rPr>
              <a:t>Intrusion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detection</a:t>
            </a:r>
            <a:endParaRPr sz="2200">
              <a:latin typeface="Times New Roman"/>
              <a:cs typeface="Times New Roman"/>
            </a:endParaRPr>
          </a:p>
          <a:p>
            <a:pPr marL="617220" marR="4853940" indent="-211454">
              <a:lnSpc>
                <a:spcPts val="2380"/>
              </a:lnSpc>
              <a:spcBef>
                <a:spcPts val="165"/>
              </a:spcBef>
              <a:buChar char="•"/>
              <a:tabLst>
                <a:tab pos="618490" algn="l"/>
              </a:tabLst>
            </a:pPr>
            <a:r>
              <a:rPr sz="2200" b="1" dirty="0">
                <a:latin typeface="Times New Roman"/>
                <a:cs typeface="Times New Roman"/>
              </a:rPr>
              <a:t>Case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2: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Outliers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noise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interferes 	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analysis</a:t>
            </a:r>
            <a:endParaRPr sz="2200">
              <a:latin typeface="Times New Roman"/>
              <a:cs typeface="Times New Roman"/>
            </a:endParaRPr>
          </a:p>
          <a:p>
            <a:pPr marL="1075055" lvl="1" indent="-211454">
              <a:lnSpc>
                <a:spcPct val="100000"/>
              </a:lnSpc>
              <a:spcBef>
                <a:spcPts val="195"/>
              </a:spcBef>
              <a:buChar char="•"/>
              <a:tabLst>
                <a:tab pos="1075055" algn="l"/>
              </a:tabLst>
            </a:pPr>
            <a:r>
              <a:rPr sz="2200" dirty="0">
                <a:latin typeface="Times New Roman"/>
                <a:cs typeface="Times New Roman"/>
              </a:rPr>
              <a:t>Common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methods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remove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outliers:</a:t>
            </a:r>
            <a:endParaRPr sz="2200">
              <a:latin typeface="Times New Roman"/>
              <a:cs typeface="Times New Roman"/>
            </a:endParaRPr>
          </a:p>
          <a:p>
            <a:pPr marL="1532255" lvl="2" indent="-211454">
              <a:lnSpc>
                <a:spcPct val="100000"/>
              </a:lnSpc>
              <a:spcBef>
                <a:spcPts val="235"/>
              </a:spcBef>
              <a:buChar char="•"/>
              <a:tabLst>
                <a:tab pos="1532255" algn="l"/>
              </a:tabLst>
            </a:pPr>
            <a:r>
              <a:rPr sz="2200" spc="-25" dirty="0">
                <a:latin typeface="Times New Roman"/>
                <a:cs typeface="Times New Roman"/>
              </a:rPr>
              <a:t>Z-</a:t>
            </a:r>
            <a:r>
              <a:rPr sz="2200" spc="-10" dirty="0">
                <a:latin typeface="Times New Roman"/>
                <a:cs typeface="Times New Roman"/>
              </a:rPr>
              <a:t>score</a:t>
            </a:r>
            <a:endParaRPr sz="2200">
              <a:latin typeface="Times New Roman"/>
              <a:cs typeface="Times New Roman"/>
            </a:endParaRPr>
          </a:p>
          <a:p>
            <a:pPr marL="1532255" lvl="2" indent="-211454">
              <a:lnSpc>
                <a:spcPct val="100000"/>
              </a:lnSpc>
              <a:spcBef>
                <a:spcPts val="240"/>
              </a:spcBef>
              <a:buChar char="•"/>
              <a:tabLst>
                <a:tab pos="1532255" algn="l"/>
              </a:tabLst>
            </a:pPr>
            <a:r>
              <a:rPr sz="2200" dirty="0">
                <a:latin typeface="Times New Roman"/>
                <a:cs typeface="Times New Roman"/>
              </a:rPr>
              <a:t>IQR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(Interquartile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Range)</a:t>
            </a:r>
            <a:endParaRPr sz="2200">
              <a:latin typeface="Times New Roman"/>
              <a:cs typeface="Times New Roman"/>
            </a:endParaRPr>
          </a:p>
          <a:p>
            <a:pPr marL="1532255" lvl="2" indent="-211454">
              <a:lnSpc>
                <a:spcPct val="100000"/>
              </a:lnSpc>
              <a:spcBef>
                <a:spcPts val="235"/>
              </a:spcBef>
              <a:buChar char="•"/>
              <a:tabLst>
                <a:tab pos="1532255" algn="l"/>
              </a:tabLst>
            </a:pPr>
            <a:r>
              <a:rPr sz="2200" dirty="0">
                <a:latin typeface="Times New Roman"/>
                <a:cs typeface="Times New Roman"/>
              </a:rPr>
              <a:t>Box </a:t>
            </a:r>
            <a:r>
              <a:rPr sz="2200" spc="-20" dirty="0">
                <a:latin typeface="Times New Roman"/>
                <a:cs typeface="Times New Roman"/>
              </a:rPr>
              <a:t>Plot</a:t>
            </a:r>
            <a:endParaRPr sz="2200">
              <a:latin typeface="Times New Roman"/>
              <a:cs typeface="Times New Roman"/>
            </a:endParaRPr>
          </a:p>
          <a:p>
            <a:pPr marL="1532255" lvl="2" indent="-211454">
              <a:lnSpc>
                <a:spcPct val="100000"/>
              </a:lnSpc>
              <a:spcBef>
                <a:spcPts val="235"/>
              </a:spcBef>
              <a:buChar char="•"/>
              <a:tabLst>
                <a:tab pos="1532255" algn="l"/>
              </a:tabLst>
            </a:pPr>
            <a:r>
              <a:rPr sz="2200" dirty="0">
                <a:latin typeface="Times New Roman"/>
                <a:cs typeface="Times New Roman"/>
              </a:rPr>
              <a:t>Isolation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Forest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(for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large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datasets)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027392" y="3486020"/>
            <a:ext cx="3549650" cy="2844165"/>
            <a:chOff x="8027392" y="3486020"/>
            <a:chExt cx="3549650" cy="28441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34957" y="3486020"/>
              <a:ext cx="3525455" cy="28441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27392" y="4000527"/>
              <a:ext cx="176199" cy="1738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00631" y="5677525"/>
              <a:ext cx="176199" cy="17569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37902" y="5799153"/>
              <a:ext cx="176199" cy="1738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259851" y="4214621"/>
              <a:ext cx="2280920" cy="530860"/>
            </a:xfrm>
            <a:custGeom>
              <a:avLst/>
              <a:gdLst/>
              <a:ahLst/>
              <a:cxnLst/>
              <a:rect l="l" t="t" r="r" b="b"/>
              <a:pathLst>
                <a:path w="2280920" h="530860">
                  <a:moveTo>
                    <a:pt x="350837" y="88455"/>
                  </a:moveTo>
                  <a:lnTo>
                    <a:pt x="0" y="88455"/>
                  </a:lnTo>
                  <a:lnTo>
                    <a:pt x="0" y="530733"/>
                  </a:lnTo>
                  <a:lnTo>
                    <a:pt x="350837" y="530733"/>
                  </a:lnTo>
                  <a:lnTo>
                    <a:pt x="350837" y="88455"/>
                  </a:lnTo>
                  <a:close/>
                </a:path>
                <a:path w="2280920" h="530860">
                  <a:moveTo>
                    <a:pt x="2280488" y="0"/>
                  </a:moveTo>
                  <a:lnTo>
                    <a:pt x="1929650" y="0"/>
                  </a:lnTo>
                  <a:lnTo>
                    <a:pt x="1929650" y="442277"/>
                  </a:lnTo>
                  <a:lnTo>
                    <a:pt x="2280488" y="442277"/>
                  </a:lnTo>
                  <a:lnTo>
                    <a:pt x="22804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Outliers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2874" y="129497"/>
            <a:ext cx="375729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30" dirty="0"/>
              <a:t>Outlier</a:t>
            </a:r>
            <a:r>
              <a:rPr sz="3950" spc="-195" dirty="0"/>
              <a:t> </a:t>
            </a:r>
            <a:r>
              <a:rPr sz="3950" spc="-10" dirty="0"/>
              <a:t>Detection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782874" y="1025730"/>
            <a:ext cx="716407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b="1" spc="-10" dirty="0">
                <a:latin typeface="Times New Roman"/>
                <a:cs typeface="Times New Roman"/>
              </a:rPr>
              <a:t>Z-Score</a:t>
            </a:r>
            <a:r>
              <a:rPr sz="3950" b="1" spc="-155" dirty="0">
                <a:latin typeface="Times New Roman"/>
                <a:cs typeface="Times New Roman"/>
              </a:rPr>
              <a:t> </a:t>
            </a:r>
            <a:r>
              <a:rPr sz="3950" b="1" dirty="0">
                <a:latin typeface="Times New Roman"/>
                <a:cs typeface="Times New Roman"/>
              </a:rPr>
              <a:t>Method</a:t>
            </a:r>
            <a:r>
              <a:rPr sz="3950" b="1" spc="-150" dirty="0">
                <a:latin typeface="Times New Roman"/>
                <a:cs typeface="Times New Roman"/>
              </a:rPr>
              <a:t> </a:t>
            </a:r>
            <a:r>
              <a:rPr sz="3950" b="1" spc="-90" dirty="0">
                <a:latin typeface="Times New Roman"/>
                <a:cs typeface="Times New Roman"/>
              </a:rPr>
              <a:t>(Standard</a:t>
            </a:r>
            <a:r>
              <a:rPr sz="3950" b="1" spc="-150" dirty="0">
                <a:latin typeface="Times New Roman"/>
                <a:cs typeface="Times New Roman"/>
              </a:rPr>
              <a:t> </a:t>
            </a:r>
            <a:r>
              <a:rPr sz="3950" b="1" spc="-10" dirty="0">
                <a:latin typeface="Times New Roman"/>
                <a:cs typeface="Times New Roman"/>
              </a:rPr>
              <a:t>Score)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8124" y="2102115"/>
            <a:ext cx="9591040" cy="2617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Z-</a:t>
            </a:r>
            <a:r>
              <a:rPr sz="2000" dirty="0">
                <a:latin typeface="Times New Roman"/>
                <a:cs typeface="Times New Roman"/>
              </a:rPr>
              <a:t>score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how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many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standard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deviations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point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away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from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mean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 marR="3056890">
              <a:lnSpc>
                <a:spcPct val="165000"/>
              </a:lnSpc>
            </a:pP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b="1" dirty="0">
                <a:latin typeface="Times New Roman"/>
                <a:cs typeface="Times New Roman"/>
              </a:rPr>
              <a:t>very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far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from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mean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considered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0" dirty="0">
                <a:latin typeface="Times New Roman"/>
                <a:cs typeface="Times New Roman"/>
              </a:rPr>
              <a:t> outlier.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Z-</a:t>
            </a:r>
            <a:r>
              <a:rPr sz="2000" dirty="0">
                <a:latin typeface="Times New Roman"/>
                <a:cs typeface="Times New Roman"/>
              </a:rPr>
              <a:t>score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by: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2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Large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|Z|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(possible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outlier)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000" dirty="0">
                <a:latin typeface="Times New Roman"/>
                <a:cs typeface="Times New Roman"/>
              </a:rPr>
              <a:t>|z|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&gt;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 </a:t>
            </a:r>
            <a:r>
              <a:rPr sz="2000" spc="-50" dirty="0">
                <a:latin typeface="Times New Roman"/>
                <a:cs typeface="Times New Roman"/>
              </a:rPr>
              <a:t>?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7224" y="2987716"/>
            <a:ext cx="1338974" cy="5610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2415">
              <a:lnSpc>
                <a:spcPct val="100000"/>
              </a:lnSpc>
              <a:spcBef>
                <a:spcPts val="100"/>
              </a:spcBef>
            </a:pPr>
            <a:r>
              <a:rPr dirty="0"/>
              <a:t>IQR</a:t>
            </a:r>
            <a:r>
              <a:rPr spc="-50" dirty="0"/>
              <a:t> </a:t>
            </a:r>
            <a:r>
              <a:rPr spc="-60" dirty="0"/>
              <a:t>(Interquartile</a:t>
            </a:r>
            <a:r>
              <a:rPr spc="-45" dirty="0"/>
              <a:t> </a:t>
            </a:r>
            <a:r>
              <a:rPr dirty="0"/>
              <a:t>Range)</a:t>
            </a:r>
            <a:r>
              <a:rPr spc="-40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1225" y="1320010"/>
            <a:ext cx="8258175" cy="73406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1725295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latin typeface="Times New Roman"/>
                <a:cs typeface="Times New Roman"/>
              </a:rPr>
              <a:t>Instead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standard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deviation,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IQR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method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uses </a:t>
            </a:r>
            <a:r>
              <a:rPr sz="1800" b="1" dirty="0">
                <a:latin typeface="Times New Roman"/>
                <a:cs typeface="Times New Roman"/>
              </a:rPr>
              <a:t>quartiles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making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much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robust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extreme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values.</a:t>
            </a:r>
            <a:endParaRPr sz="1800">
              <a:latin typeface="Times New Roman"/>
              <a:cs typeface="Times New Roman"/>
            </a:endParaRPr>
          </a:p>
          <a:p>
            <a:pPr marL="7101840">
              <a:lnSpc>
                <a:spcPts val="1450"/>
              </a:lnSpc>
            </a:pPr>
            <a:r>
              <a:rPr sz="1800" b="1" spc="-10" dirty="0">
                <a:latin typeface="Times New Roman"/>
                <a:cs typeface="Times New Roman"/>
              </a:rPr>
              <a:t>Advantages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1225" y="2064332"/>
            <a:ext cx="518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Step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1: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Sort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Data: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Example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6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7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8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9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12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15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50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1225" y="2608399"/>
            <a:ext cx="2633345" cy="767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Step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2: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Compute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Quartiles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dirty="0">
                <a:latin typeface="Times New Roman"/>
                <a:cs typeface="Times New Roman"/>
              </a:rPr>
              <a:t>First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Quartile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Q1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6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1225" y="3544135"/>
            <a:ext cx="220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Third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Quartile: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Q3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12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1225" y="4088204"/>
            <a:ext cx="4568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Step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3: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Compute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IQR: </a:t>
            </a:r>
            <a:r>
              <a:rPr sz="1800" dirty="0">
                <a:latin typeface="Times New Roman"/>
                <a:cs typeface="Times New Roman"/>
              </a:rPr>
              <a:t>IQR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Q3−Q1=12−6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6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1225" y="4632271"/>
            <a:ext cx="2456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Step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4: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Compute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Bounds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1225" y="5100140"/>
            <a:ext cx="4361815" cy="767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Lower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Bound: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Q1−1.5(IQR)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6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−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1.5(6)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−3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dirty="0">
                <a:latin typeface="Times New Roman"/>
                <a:cs typeface="Times New Roman"/>
              </a:rPr>
              <a:t>Upper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Bound: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Q3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1.5(IQR)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12+1.5(6)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5" dirty="0">
                <a:latin typeface="Times New Roman"/>
                <a:cs typeface="Times New Roman"/>
              </a:rPr>
              <a:t> 21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1225" y="6112075"/>
            <a:ext cx="6946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Step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5: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outside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[−3,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21]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outlier.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Therefore,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50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is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outlier.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91199" y="2181001"/>
            <a:ext cx="3890010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Font typeface="Tahoma"/>
              <a:buChar char="●"/>
              <a:tabLst>
                <a:tab pos="379095" algn="l"/>
              </a:tabLst>
            </a:pP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assumption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normal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distribution.</a:t>
            </a:r>
            <a:endParaRPr sz="180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Tahoma"/>
              <a:buChar char="●"/>
              <a:tabLst>
                <a:tab pos="379095" algn="l"/>
              </a:tabLst>
            </a:pPr>
            <a:r>
              <a:rPr sz="1800" dirty="0">
                <a:latin typeface="Times New Roman"/>
                <a:cs typeface="Times New Roman"/>
              </a:rPr>
              <a:t>Robust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extreme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values.</a:t>
            </a:r>
            <a:endParaRPr sz="180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Tahoma"/>
              <a:buChar char="●"/>
              <a:tabLst>
                <a:tab pos="379095" algn="l"/>
              </a:tabLst>
            </a:pPr>
            <a:r>
              <a:rPr sz="1800" dirty="0">
                <a:latin typeface="Times New Roman"/>
                <a:cs typeface="Times New Roman"/>
              </a:rPr>
              <a:t>Most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widely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tabular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datasets.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00675" y="3397153"/>
            <a:ext cx="1155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Limitations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91199" y="3823872"/>
            <a:ext cx="3759835" cy="1602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Font typeface="Tahoma"/>
              <a:buChar char="●"/>
              <a:tabLst>
                <a:tab pos="379095" algn="l"/>
              </a:tabLst>
            </a:pPr>
            <a:r>
              <a:rPr sz="1800" dirty="0">
                <a:latin typeface="Times New Roman"/>
                <a:cs typeface="Times New Roman"/>
              </a:rPr>
              <a:t>Less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suitable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highly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skewed </a:t>
            </a:r>
            <a:r>
              <a:rPr sz="1800" dirty="0">
                <a:latin typeface="Times New Roman"/>
                <a:cs typeface="Times New Roman"/>
              </a:rPr>
              <a:t>distributions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legitimate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extreme values.</a:t>
            </a:r>
            <a:endParaRPr sz="1800">
              <a:latin typeface="Times New Roman"/>
              <a:cs typeface="Times New Roman"/>
            </a:endParaRPr>
          </a:p>
          <a:p>
            <a:pPr marL="379095" marR="13970" indent="-367030">
              <a:lnSpc>
                <a:spcPct val="114999"/>
              </a:lnSpc>
              <a:buFont typeface="Tahoma"/>
              <a:buChar char="●"/>
              <a:tabLst>
                <a:tab pos="379095" algn="l"/>
              </a:tabLst>
            </a:pPr>
            <a:r>
              <a:rPr sz="1800" dirty="0">
                <a:latin typeface="Times New Roman"/>
                <a:cs typeface="Times New Roman"/>
              </a:rPr>
              <a:t>May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identify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points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outliers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very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large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datasets.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241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Comparison</a:t>
            </a:r>
            <a:r>
              <a:rPr spc="-114" dirty="0"/>
              <a:t> </a:t>
            </a:r>
            <a:r>
              <a:rPr dirty="0"/>
              <a:t>of</a:t>
            </a:r>
            <a:r>
              <a:rPr spc="500" dirty="0"/>
              <a:t> </a:t>
            </a:r>
            <a:r>
              <a:rPr spc="-10" dirty="0"/>
              <a:t>Methods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6687" y="1623594"/>
          <a:ext cx="11838938" cy="4568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5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4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92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045">
                <a:tc>
                  <a:txBody>
                    <a:bodyPr/>
                    <a:lstStyle/>
                    <a:p>
                      <a:pPr marL="35115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390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Principle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772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Best 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722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Advantages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Limitations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66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Z-score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602615" algn="just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mean (in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standard deviations)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2700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Approximately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normal distributions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fast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56578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Sensitive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extreme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values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assumes normality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18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IQR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55753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quartiles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interquartile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range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tabular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datasets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20256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Robust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outliers,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no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normality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assumption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11112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flag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many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values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skewed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18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Box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Plot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27305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Visual</a:t>
                      </a:r>
                      <a:r>
                        <a:rPr sz="20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representation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IQR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69151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Exploratory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(EDA)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26162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Easy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visualize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explain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13906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Primarily a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visualization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tool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01445">
                <a:tc>
                  <a:txBody>
                    <a:bodyPr/>
                    <a:lstStyle/>
                    <a:p>
                      <a:pPr marL="85725" marR="51054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Isolation Forest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524510" algn="just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Randomly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isolates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observations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decision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trees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Large,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5725" marR="67310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high-dimensional datasets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54356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Detects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complex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anomalies</a:t>
                      </a:r>
                      <a:r>
                        <a:rPr sz="2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without distribution assumptions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310515" algn="just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computationally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expensive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requires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parameter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tuning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1225" y="657643"/>
            <a:ext cx="77038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Which</a:t>
            </a:r>
            <a:r>
              <a:rPr spc="-250" dirty="0"/>
              <a:t> </a:t>
            </a:r>
            <a:r>
              <a:rPr dirty="0"/>
              <a:t>Method</a:t>
            </a:r>
            <a:r>
              <a:rPr spc="-204" dirty="0"/>
              <a:t> </a:t>
            </a:r>
            <a:r>
              <a:rPr spc="-10" dirty="0"/>
              <a:t>Should</a:t>
            </a:r>
            <a:r>
              <a:rPr spc="-185" dirty="0"/>
              <a:t> </a:t>
            </a:r>
            <a:r>
              <a:rPr spc="-180" dirty="0"/>
              <a:t>You</a:t>
            </a:r>
            <a:r>
              <a:rPr spc="-95" dirty="0"/>
              <a:t> </a:t>
            </a:r>
            <a:r>
              <a:rPr spc="-20" dirty="0"/>
              <a:t>Use?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98000" y="1903174"/>
          <a:ext cx="9135110" cy="3593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7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7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2200" b="1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b="1" spc="-10" dirty="0">
                          <a:latin typeface="Times New Roman"/>
                          <a:cs typeface="Times New Roman"/>
                        </a:rPr>
                        <a:t>Recommended</a:t>
                      </a:r>
                      <a:r>
                        <a:rPr sz="22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10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805">
                <a:tc>
                  <a:txBody>
                    <a:bodyPr/>
                    <a:lstStyle/>
                    <a:p>
                      <a:pPr marL="85725" marR="72898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Small</a:t>
                      </a:r>
                      <a:r>
                        <a:rPr sz="2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approximately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normal</a:t>
                      </a:r>
                      <a:r>
                        <a:rPr sz="22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distribution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b="1" spc="-10" dirty="0">
                          <a:latin typeface="Times New Roman"/>
                          <a:cs typeface="Times New Roman"/>
                        </a:rPr>
                        <a:t>Z-score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General</a:t>
                      </a:r>
                      <a:r>
                        <a:rPr sz="22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tabular</a:t>
                      </a:r>
                      <a:r>
                        <a:rPr sz="22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dataset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IQR</a:t>
                      </a:r>
                      <a:r>
                        <a:rPr sz="22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(most</a:t>
                      </a:r>
                      <a:r>
                        <a:rPr sz="2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commonly</a:t>
                      </a:r>
                      <a:r>
                        <a:rPr sz="2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used)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2805">
                <a:tc>
                  <a:txBody>
                    <a:bodyPr/>
                    <a:lstStyle/>
                    <a:p>
                      <a:pPr marL="85725" marR="6191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visualization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exploratory analysis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Box </a:t>
                      </a:r>
                      <a:r>
                        <a:rPr sz="2200" b="1" spc="-20" dirty="0">
                          <a:latin typeface="Times New Roman"/>
                          <a:cs typeface="Times New Roman"/>
                        </a:rPr>
                        <a:t>Plot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2805">
                <a:tc>
                  <a:txBody>
                    <a:bodyPr/>
                    <a:lstStyle/>
                    <a:p>
                      <a:pPr marL="85725" marR="54991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dirty="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sz="2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datasets</a:t>
                      </a:r>
                      <a:r>
                        <a:rPr sz="2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20" dirty="0">
                          <a:latin typeface="Times New Roman"/>
                          <a:cs typeface="Times New Roman"/>
                        </a:rPr>
                        <a:t>high-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dimensional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2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Isolation</a:t>
                      </a:r>
                      <a:r>
                        <a:rPr sz="2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10" dirty="0">
                          <a:latin typeface="Times New Roman"/>
                          <a:cs typeface="Times New Roman"/>
                        </a:rPr>
                        <a:t>Forest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407</Words>
  <Application>Microsoft Office PowerPoint</Application>
  <PresentationFormat>Widescreen</PresentationFormat>
  <Paragraphs>75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Tahoma</vt:lpstr>
      <vt:lpstr>Times New Roman</vt:lpstr>
      <vt:lpstr>Office Theme</vt:lpstr>
      <vt:lpstr>Data Preprocessing: Outlier Detection</vt:lpstr>
      <vt:lpstr>Outliers</vt:lpstr>
      <vt:lpstr>Outlier Detection</vt:lpstr>
      <vt:lpstr>IQR (Interquartile Range) Method</vt:lpstr>
      <vt:lpstr>Comparison of Methods</vt:lpstr>
      <vt:lpstr>Which Method Should You Use?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Lecture_2_DataPreprocessingV2.pptx</dc:title>
  <dc:creator>HP</dc:creator>
  <cp:lastModifiedBy>Ahmedul Kabir</cp:lastModifiedBy>
  <cp:revision>2</cp:revision>
  <dcterms:created xsi:type="dcterms:W3CDTF">2026-09-09T13:18:13Z</dcterms:created>
  <dcterms:modified xsi:type="dcterms:W3CDTF">2026-09-09T13:21:56Z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2026-09-09T00:00:00Z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2026-09-09T00:00:00Z</vt:filetime>
  </property>
</Properties>
</file>