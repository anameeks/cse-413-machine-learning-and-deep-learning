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trictFirstAndLastChars="0" saveSubsetFonts="1" autoCompressPictures="0">
  <p:sldMasterIdLst>
    <p:sldMasterId id="2147483648" r:id="rId1"/>
  </p:sldMasterIdLst>
  <p:notesMasterIdLst>
    <p:notesMasterId r:id="rId21"/>
  </p:notesMasterIdLst>
  <p:sldIdLst>
    <p:sldId id="256" r:id="rId2"/>
    <p:sldId id="257" r:id="rId3"/>
    <p:sldId id="274" r:id="rId4"/>
    <p:sldId id="276" r:id="rId5"/>
    <p:sldId id="277" r:id="rId6"/>
    <p:sldId id="278" r:id="rId7"/>
    <p:sldId id="279" r:id="rId8"/>
    <p:sldId id="280" r:id="rId9"/>
    <p:sldId id="281" r:id="rId10"/>
    <p:sldId id="283" r:id="rId11"/>
    <p:sldId id="292" r:id="rId12"/>
    <p:sldId id="284" r:id="rId13"/>
    <p:sldId id="285" r:id="rId14"/>
    <p:sldId id="286" r:id="rId15"/>
    <p:sldId id="293" r:id="rId16"/>
    <p:sldId id="288" r:id="rId17"/>
    <p:sldId id="289" r:id="rId18"/>
    <p:sldId id="287" r:id="rId19"/>
    <p:sldId id="273" r:id="rId20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  <p:ext uri="GoogleSlidesCustomDataVersion2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24" roundtripDataSignature="AMtx7migw8TiAGEHEWRBJmlhZ8LyGFzdB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A3F5F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B0C9AC0D-79A4-41F8-9187-85EBDDFB2577}">
  <a:tblStyle styleId="{B0C9AC0D-79A4-41F8-9187-85EBDDFB2577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  <a:tblStyle styleId="{5BEB0D0C-43E2-426A-8440-724715A16C01}" styleName="Table_1">
    <a:wholeTbl>
      <a:tcTxStyle>
        <a:font>
          <a:latin typeface="Arial"/>
          <a:ea typeface="Arial"/>
          <a:cs typeface="Arial"/>
        </a:font>
        <a:srgbClr val="000000"/>
      </a:tcTxStyle>
      <a:tcStyle>
        <a:tcBdr/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  <a:tblStyle styleId="{FABFCF23-3B69-468F-B69F-88F6DE6A72F2}" styleName="Medium Style 1 - Accent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5">
              <a:tint val="20000"/>
            </a:schemeClr>
          </a:solidFill>
        </a:fill>
      </a:tcStyle>
    </a:band1H>
    <a:band1V>
      <a:tcStyle>
        <a:tcBdr/>
        <a:fill>
          <a:solidFill>
            <a:schemeClr val="accent5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firstRow>
  </a:tblStyle>
  <a:tblStyle styleId="{BC89EF96-8CEA-46FF-86C4-4CE0E7609802}" styleName="Light Style 3 - Accent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BDBED569-4797-4DF1-A0F4-6AAB3CD982D8}" styleName="Light Style 3 - Accent 5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22838BEF-8BB2-4498-84A7-C5851F593DF1}" styleName="Medium Style 4 - Accent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5"/>
              </a:solidFill>
            </a:ln>
          </a:top>
        </a:tcBdr>
        <a:fill>
          <a:solidFill>
            <a:schemeClr val="accent5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5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860" autoAdjust="0"/>
  </p:normalViewPr>
  <p:slideViewPr>
    <p:cSldViewPr snapToGrid="0">
      <p:cViewPr varScale="1">
        <p:scale>
          <a:sx n="64" d="100"/>
          <a:sy n="64" d="100"/>
        </p:scale>
        <p:origin x="876" y="60"/>
      </p:cViewPr>
      <p:guideLst/>
    </p:cSldViewPr>
  </p:slideViewPr>
  <p:notesTextViewPr>
    <p:cViewPr>
      <p:scale>
        <a:sx n="75" d="100"/>
        <a:sy n="75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customschemas.google.com/relationships/presentationmetadata" Target="metadata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7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82" name="Google Shape;8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 dirty="0"/>
          </a:p>
        </p:txBody>
      </p:sp>
      <p:sp>
        <p:nvSpPr>
          <p:cNvPr id="88" name="Google Shape;88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 dirty="0"/>
          </a:p>
        </p:txBody>
      </p:sp>
      <p:sp>
        <p:nvSpPr>
          <p:cNvPr id="88" name="Google Shape;88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374657288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 dirty="0"/>
          </a:p>
        </p:txBody>
      </p:sp>
      <p:sp>
        <p:nvSpPr>
          <p:cNvPr id="88" name="Google Shape;88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27260520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 dirty="0"/>
          </a:p>
        </p:txBody>
      </p:sp>
      <p:sp>
        <p:nvSpPr>
          <p:cNvPr id="88" name="Google Shape;88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150903982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 dirty="0"/>
          </a:p>
        </p:txBody>
      </p:sp>
      <p:sp>
        <p:nvSpPr>
          <p:cNvPr id="88" name="Google Shape;88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315653878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 dirty="0"/>
          </a:p>
        </p:txBody>
      </p:sp>
      <p:sp>
        <p:nvSpPr>
          <p:cNvPr id="88" name="Google Shape;88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1838742169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 dirty="0"/>
          </a:p>
        </p:txBody>
      </p:sp>
      <p:sp>
        <p:nvSpPr>
          <p:cNvPr id="88" name="Google Shape;88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2377807503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 dirty="0"/>
          </a:p>
        </p:txBody>
      </p:sp>
      <p:sp>
        <p:nvSpPr>
          <p:cNvPr id="88" name="Google Shape;88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505531234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 dirty="0"/>
          </a:p>
        </p:txBody>
      </p:sp>
      <p:sp>
        <p:nvSpPr>
          <p:cNvPr id="88" name="Google Shape;88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1707963238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 dirty="0"/>
          </a:p>
        </p:txBody>
      </p:sp>
      <p:sp>
        <p:nvSpPr>
          <p:cNvPr id="88" name="Google Shape;88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2933917714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 dirty="0"/>
          </a:p>
        </p:txBody>
      </p:sp>
      <p:sp>
        <p:nvSpPr>
          <p:cNvPr id="88" name="Google Shape;88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1730001795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 dirty="0"/>
          </a:p>
        </p:txBody>
      </p:sp>
      <p:sp>
        <p:nvSpPr>
          <p:cNvPr id="88" name="Google Shape;88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1723414789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 dirty="0"/>
          </a:p>
        </p:txBody>
      </p:sp>
      <p:sp>
        <p:nvSpPr>
          <p:cNvPr id="88" name="Google Shape;88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1489003327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 dirty="0"/>
          </a:p>
        </p:txBody>
      </p:sp>
      <p:sp>
        <p:nvSpPr>
          <p:cNvPr id="88" name="Google Shape;88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646870419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 dirty="0"/>
          </a:p>
        </p:txBody>
      </p:sp>
      <p:sp>
        <p:nvSpPr>
          <p:cNvPr id="88" name="Google Shape;88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2000682706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p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87" name="Google Shape;187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3"/>
          <p:cNvSpPr txBox="1"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" name="Google Shape;13;p13"/>
          <p:cNvSpPr txBox="1"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14" name="Google Shape;14;p13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5" name="Google Shape;15;p13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6" name="Google Shape;16;p13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14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14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0" name="Google Shape;20;p14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1" name="Google Shape;21;p14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14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15"/>
          <p:cNvSpPr txBox="1"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15"/>
          <p:cNvSpPr txBox="1"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26" name="Google Shape;26;p15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15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8" name="Google Shape;28;p15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16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16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2" name="Google Shape;32;p16"/>
          <p:cNvSpPr txBox="1">
            <a:spLocks noGrp="1"/>
          </p:cNvSpPr>
          <p:nvPr>
            <p:ph type="body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3" name="Google Shape;33;p16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4" name="Google Shape;34;p16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1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17"/>
          <p:cNvSpPr txBox="1"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17"/>
          <p:cNvSpPr txBox="1"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39" name="Google Shape;39;p17"/>
          <p:cNvSpPr txBox="1">
            <a:spLocks noGrp="1"/>
          </p:cNvSpPr>
          <p:nvPr>
            <p:ph type="body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0" name="Google Shape;40;p17"/>
          <p:cNvSpPr txBox="1">
            <a:spLocks noGrp="1"/>
          </p:cNvSpPr>
          <p:nvPr>
            <p:ph type="body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1" name="Google Shape;41;p17"/>
          <p:cNvSpPr txBox="1">
            <a:spLocks noGrp="1"/>
          </p:cNvSpPr>
          <p:nvPr>
            <p:ph type="body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2" name="Google Shape;42;p17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3" name="Google Shape;43;p17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4" name="Google Shape;44;p17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18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18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18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9" name="Google Shape;49;p18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9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19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19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20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20"/>
          <p:cNvSpPr txBox="1">
            <a:spLocks noGrp="1"/>
          </p:cNvSpPr>
          <p:nvPr>
            <p:ph type="body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marL="1371600" lvl="2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marL="2286000" lvl="4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marL="2743200" lvl="5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57" name="Google Shape;57;p20"/>
          <p:cNvSpPr txBox="1">
            <a:spLocks noGrp="1"/>
          </p:cNvSpPr>
          <p:nvPr>
            <p:ph type="body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58" name="Google Shape;58;p20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20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20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21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21"/>
          <p:cNvSpPr>
            <a:spLocks noGrp="1"/>
          </p:cNvSpPr>
          <p:nvPr>
            <p:ph type="pic" idx="2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21"/>
          <p:cNvSpPr txBox="1">
            <a:spLocks noGrp="1"/>
          </p:cNvSpPr>
          <p:nvPr>
            <p:ph type="body" idx="1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65" name="Google Shape;65;p21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21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2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22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22"/>
          <p:cNvSpPr txBox="1">
            <a:spLocks noGrp="1"/>
          </p:cNvSpPr>
          <p:nvPr>
            <p:ph type="body" idx="1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1" name="Google Shape;71;p22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22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22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23"/>
          <p:cNvSpPr txBox="1">
            <a:spLocks noGrp="1"/>
          </p:cNvSpPr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23"/>
          <p:cNvSpPr txBox="1">
            <a:spLocks noGrp="1"/>
          </p:cNvSpPr>
          <p:nvPr>
            <p:ph type="body" idx="1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23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23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23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2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" name="Google Shape;7;p12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p12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" name="Google Shape;9;p12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" name="Google Shape;10;p12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"/>
          <p:cNvSpPr txBox="1">
            <a:spLocks noGrp="1"/>
          </p:cNvSpPr>
          <p:nvPr>
            <p:ph type="ctrTitle"/>
          </p:nvPr>
        </p:nvSpPr>
        <p:spPr>
          <a:xfrm>
            <a:off x="1233487" y="1122363"/>
            <a:ext cx="9725025" cy="13350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</a:pPr>
            <a:r>
              <a:rPr lang="en-US" dirty="0"/>
              <a:t>Assessing Model Performance</a:t>
            </a:r>
            <a:endParaRPr dirty="0"/>
          </a:p>
        </p:txBody>
      </p:sp>
      <p:sp>
        <p:nvSpPr>
          <p:cNvPr id="85" name="Google Shape;85;p1"/>
          <p:cNvSpPr txBox="1">
            <a:spLocks noGrp="1"/>
          </p:cNvSpPr>
          <p:nvPr>
            <p:ph type="subTitle" idx="1"/>
          </p:nvPr>
        </p:nvSpPr>
        <p:spPr>
          <a:xfrm>
            <a:off x="1523999" y="4870863"/>
            <a:ext cx="9144000" cy="165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endParaRPr lang="en-US" dirty="0"/>
          </a:p>
          <a:p>
            <a:pPr marL="0" lvl="0" indent="0" algn="ctr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endParaRPr lang="en-US" dirty="0"/>
          </a:p>
          <a:p>
            <a:pPr marL="0" lvl="0" indent="0" algn="ctr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 dirty="0"/>
              <a:t>Dept. of CSE, University of Asia Pacific</a:t>
            </a:r>
            <a:endParaRPr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2"/>
          <p:cNvSpPr txBox="1">
            <a:spLocks noGrp="1"/>
          </p:cNvSpPr>
          <p:nvPr>
            <p:ph type="title"/>
          </p:nvPr>
        </p:nvSpPr>
        <p:spPr>
          <a:xfrm>
            <a:off x="1018675" y="0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r>
              <a:rPr lang="en-US" dirty="0"/>
              <a:t>Model Performance	</a:t>
            </a:r>
          </a:p>
        </p:txBody>
      </p:sp>
      <p:sp>
        <p:nvSpPr>
          <p:cNvPr id="91" name="Google Shape;91;p2"/>
          <p:cNvSpPr txBox="1">
            <a:spLocks noGrp="1"/>
          </p:cNvSpPr>
          <p:nvPr>
            <p:ph type="body" idx="1"/>
          </p:nvPr>
        </p:nvSpPr>
        <p:spPr>
          <a:xfrm>
            <a:off x="627184" y="1325699"/>
            <a:ext cx="10515600" cy="43998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>
              <a:lnSpc>
                <a:spcPct val="150000"/>
              </a:lnSpc>
            </a:pPr>
            <a:r>
              <a:rPr lang="en-US" dirty="0"/>
              <a:t>Why evaluating?</a:t>
            </a:r>
          </a:p>
          <a:p>
            <a:pPr lvl="1">
              <a:lnSpc>
                <a:spcPct val="150000"/>
              </a:lnSpc>
            </a:pPr>
            <a:r>
              <a:rPr lang="en-US" dirty="0"/>
              <a:t>Ensures reliability and generalizability.</a:t>
            </a:r>
          </a:p>
          <a:p>
            <a:pPr lvl="1">
              <a:lnSpc>
                <a:spcPct val="150000"/>
              </a:lnSpc>
            </a:pPr>
            <a:r>
              <a:rPr lang="en-US" dirty="0"/>
              <a:t>Helps in model comparison.</a:t>
            </a:r>
          </a:p>
          <a:p>
            <a:pPr>
              <a:lnSpc>
                <a:spcPct val="150000"/>
              </a:lnSpc>
            </a:pPr>
            <a:r>
              <a:rPr lang="en-US" dirty="0"/>
              <a:t>When to evaluate?</a:t>
            </a:r>
          </a:p>
          <a:p>
            <a:pPr lvl="1">
              <a:lnSpc>
                <a:spcPct val="150000"/>
              </a:lnSpc>
            </a:pPr>
            <a:r>
              <a:rPr lang="en-US" dirty="0"/>
              <a:t>During model development, after tuning, and before deployment.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79C417AE-D22A-4E71-8431-3F7DC2EEC3A3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2"/>
          <p:cNvSpPr txBox="1">
            <a:spLocks noGrp="1"/>
          </p:cNvSpPr>
          <p:nvPr>
            <p:ph type="title"/>
          </p:nvPr>
        </p:nvSpPr>
        <p:spPr>
          <a:xfrm>
            <a:off x="1018675" y="0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r>
              <a:rPr lang="en-US" dirty="0"/>
              <a:t>Holdout Validation</a:t>
            </a:r>
          </a:p>
        </p:txBody>
      </p:sp>
      <p:sp>
        <p:nvSpPr>
          <p:cNvPr id="91" name="Google Shape;91;p2"/>
          <p:cNvSpPr txBox="1">
            <a:spLocks noGrp="1"/>
          </p:cNvSpPr>
          <p:nvPr>
            <p:ph type="body" idx="1"/>
          </p:nvPr>
        </p:nvSpPr>
        <p:spPr>
          <a:xfrm>
            <a:off x="627184" y="1325699"/>
            <a:ext cx="10515600" cy="43998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>
              <a:lnSpc>
                <a:spcPct val="150000"/>
              </a:lnSpc>
            </a:pPr>
            <a:r>
              <a:rPr lang="en-US" dirty="0"/>
              <a:t>Split the dataset into two parts - training set and a test set</a:t>
            </a:r>
          </a:p>
          <a:p>
            <a:pPr lvl="1">
              <a:lnSpc>
                <a:spcPct val="150000"/>
              </a:lnSpc>
            </a:pPr>
            <a:r>
              <a:rPr lang="en-US" b="1" dirty="0"/>
              <a:t>Training Data:</a:t>
            </a:r>
            <a:r>
              <a:rPr lang="en-US" dirty="0"/>
              <a:t> Data the model was trained on.</a:t>
            </a:r>
          </a:p>
          <a:p>
            <a:pPr lvl="1">
              <a:lnSpc>
                <a:spcPct val="150000"/>
              </a:lnSpc>
            </a:pPr>
            <a:r>
              <a:rPr lang="en-US" b="1" dirty="0"/>
              <a:t>Test Data:</a:t>
            </a:r>
            <a:r>
              <a:rPr lang="en-US" dirty="0"/>
              <a:t> Data the model has not seen before.</a:t>
            </a:r>
          </a:p>
          <a:p>
            <a:pPr>
              <a:lnSpc>
                <a:spcPct val="150000"/>
              </a:lnSpc>
            </a:pPr>
            <a:r>
              <a:rPr lang="en-US" dirty="0"/>
              <a:t>Typically, with a split ratio of 70:30 or 80:20</a:t>
            </a: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0E841710-17C4-4483-8687-17663725B84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76890641"/>
              </p:ext>
            </p:extLst>
          </p:nvPr>
        </p:nvGraphicFramePr>
        <p:xfrm>
          <a:off x="2929764" y="4686022"/>
          <a:ext cx="5910439" cy="370840"/>
        </p:xfrm>
        <a:graphic>
          <a:graphicData uri="http://schemas.openxmlformats.org/drawingml/2006/table">
            <a:tbl>
              <a:tblPr firstRow="1" bandRow="1">
                <a:effectLst>
                  <a:outerShdw blurRad="76200" dist="12700" dir="2700000" sy="-23000" kx="-800400" algn="bl" rotWithShape="0">
                    <a:prstClr val="black">
                      <a:alpha val="20000"/>
                    </a:prstClr>
                  </a:outerShdw>
                </a:effectLst>
                <a:tableStyleId>{B0C9AC0D-79A4-41F8-9187-85EBDDFB2577}</a:tableStyleId>
              </a:tblPr>
              <a:tblGrid>
                <a:gridCol w="4766030">
                  <a:extLst>
                    <a:ext uri="{9D8B030D-6E8A-4147-A177-3AD203B41FA5}">
                      <a16:colId xmlns:a16="http://schemas.microsoft.com/office/drawing/2014/main" val="1196898008"/>
                    </a:ext>
                  </a:extLst>
                </a:gridCol>
                <a:gridCol w="1144409">
                  <a:extLst>
                    <a:ext uri="{9D8B030D-6E8A-4147-A177-3AD203B41FA5}">
                      <a16:colId xmlns:a16="http://schemas.microsoft.com/office/drawing/2014/main" val="79785464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rgbClr val="7030A0"/>
                          </a:solidFill>
                        </a:rPr>
                        <a:t>Train (80%)</a:t>
                      </a:r>
                    </a:p>
                  </a:txBody>
                  <a:tcPr anchor="ctr"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rgbClr val="7030A0"/>
                          </a:solidFill>
                        </a:rPr>
                        <a:t>Test (20%)</a:t>
                      </a:r>
                    </a:p>
                  </a:txBody>
                  <a:tcPr anchor="ctr"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9532644"/>
                  </a:ext>
                </a:extLst>
              </a:tr>
            </a:tbl>
          </a:graphicData>
        </a:graphic>
      </p:graphicFrame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0A4AAEF0-A003-491C-B9AC-37A7E007E173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7967512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2"/>
          <p:cNvSpPr txBox="1">
            <a:spLocks noGrp="1"/>
          </p:cNvSpPr>
          <p:nvPr>
            <p:ph type="title"/>
          </p:nvPr>
        </p:nvSpPr>
        <p:spPr>
          <a:xfrm>
            <a:off x="1018675" y="0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r>
              <a:rPr lang="en-US" dirty="0"/>
              <a:t>K-Fold Cross-Validation</a:t>
            </a:r>
          </a:p>
        </p:txBody>
      </p:sp>
      <p:sp>
        <p:nvSpPr>
          <p:cNvPr id="91" name="Google Shape;91;p2"/>
          <p:cNvSpPr txBox="1">
            <a:spLocks noGrp="1"/>
          </p:cNvSpPr>
          <p:nvPr>
            <p:ph type="body" idx="1"/>
          </p:nvPr>
        </p:nvSpPr>
        <p:spPr>
          <a:xfrm>
            <a:off x="627184" y="1325699"/>
            <a:ext cx="10515600" cy="43998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lnSpcReduction="10000"/>
          </a:bodyPr>
          <a:lstStyle/>
          <a:p>
            <a:pPr>
              <a:lnSpc>
                <a:spcPct val="150000"/>
              </a:lnSpc>
            </a:pPr>
            <a:r>
              <a:rPr lang="en-US" dirty="0"/>
              <a:t>Training models on subsets of the available input data and evaluating on the complementary subset of the data </a:t>
            </a:r>
          </a:p>
          <a:p>
            <a:pPr>
              <a:lnSpc>
                <a:spcPct val="150000"/>
              </a:lnSpc>
            </a:pPr>
            <a:r>
              <a:rPr lang="nb-NO" dirty="0"/>
              <a:t>Split dataset into K folds</a:t>
            </a:r>
          </a:p>
          <a:p>
            <a:pPr>
              <a:lnSpc>
                <a:spcPct val="150000"/>
              </a:lnSpc>
            </a:pPr>
            <a:r>
              <a:rPr lang="en-US" dirty="0"/>
              <a:t>Train and validate model K times</a:t>
            </a:r>
          </a:p>
          <a:p>
            <a:pPr>
              <a:lnSpc>
                <a:spcPct val="150000"/>
              </a:lnSpc>
            </a:pPr>
            <a:r>
              <a:rPr lang="en-US" dirty="0"/>
              <a:t>Each subset used as a test set once, and the remaining K-1 subsets used as training data.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57A49C82-C409-4751-9ECB-FCB63E9ECEF8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5701499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2"/>
          <p:cNvSpPr txBox="1">
            <a:spLocks noGrp="1"/>
          </p:cNvSpPr>
          <p:nvPr>
            <p:ph type="title"/>
          </p:nvPr>
        </p:nvSpPr>
        <p:spPr>
          <a:xfrm>
            <a:off x="1018675" y="0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r>
              <a:rPr lang="en-US" dirty="0"/>
              <a:t>5-Fold Cross-Validation</a:t>
            </a:r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0637A98A-069F-41FD-ADEB-62956590149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24924866"/>
              </p:ext>
            </p:extLst>
          </p:nvPr>
        </p:nvGraphicFramePr>
        <p:xfrm>
          <a:off x="1245229" y="1325700"/>
          <a:ext cx="10062492" cy="4384436"/>
        </p:xfrm>
        <a:graphic>
          <a:graphicData uri="http://schemas.openxmlformats.org/drawingml/2006/table">
            <a:tbl>
              <a:tblPr>
                <a:tableStyleId>{F5AB1C69-6EDB-4FF4-983F-18BD219EF322}</a:tableStyleId>
              </a:tblPr>
              <a:tblGrid>
                <a:gridCol w="1677082">
                  <a:extLst>
                    <a:ext uri="{9D8B030D-6E8A-4147-A177-3AD203B41FA5}">
                      <a16:colId xmlns:a16="http://schemas.microsoft.com/office/drawing/2014/main" val="1847190283"/>
                    </a:ext>
                  </a:extLst>
                </a:gridCol>
                <a:gridCol w="1677082">
                  <a:extLst>
                    <a:ext uri="{9D8B030D-6E8A-4147-A177-3AD203B41FA5}">
                      <a16:colId xmlns:a16="http://schemas.microsoft.com/office/drawing/2014/main" val="4003503998"/>
                    </a:ext>
                  </a:extLst>
                </a:gridCol>
                <a:gridCol w="1677082">
                  <a:extLst>
                    <a:ext uri="{9D8B030D-6E8A-4147-A177-3AD203B41FA5}">
                      <a16:colId xmlns:a16="http://schemas.microsoft.com/office/drawing/2014/main" val="407689821"/>
                    </a:ext>
                  </a:extLst>
                </a:gridCol>
                <a:gridCol w="1677082">
                  <a:extLst>
                    <a:ext uri="{9D8B030D-6E8A-4147-A177-3AD203B41FA5}">
                      <a16:colId xmlns:a16="http://schemas.microsoft.com/office/drawing/2014/main" val="3807220730"/>
                    </a:ext>
                  </a:extLst>
                </a:gridCol>
                <a:gridCol w="1677082">
                  <a:extLst>
                    <a:ext uri="{9D8B030D-6E8A-4147-A177-3AD203B41FA5}">
                      <a16:colId xmlns:a16="http://schemas.microsoft.com/office/drawing/2014/main" val="1850887356"/>
                    </a:ext>
                  </a:extLst>
                </a:gridCol>
                <a:gridCol w="1677082">
                  <a:extLst>
                    <a:ext uri="{9D8B030D-6E8A-4147-A177-3AD203B41FA5}">
                      <a16:colId xmlns:a16="http://schemas.microsoft.com/office/drawing/2014/main" val="1336546793"/>
                    </a:ext>
                  </a:extLst>
                </a:gridCol>
              </a:tblGrid>
              <a:tr h="626348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Iteration 1</a:t>
                      </a:r>
                    </a:p>
                  </a:txBody>
                  <a:tcPr marL="130826" marR="130826" marT="65413" marB="65413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Fold 1</a:t>
                      </a:r>
                    </a:p>
                  </a:txBody>
                  <a:tcPr marL="130826" marR="130826" marT="65413" marB="65413" anchor="ctr"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Fold 2</a:t>
                      </a:r>
                    </a:p>
                  </a:txBody>
                  <a:tcPr marL="130826" marR="130826" marT="65413" marB="65413" anchor="ctr"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Fold 3</a:t>
                      </a:r>
                    </a:p>
                  </a:txBody>
                  <a:tcPr marL="130826" marR="130826" marT="65413" marB="65413" anchor="ctr"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Fold 4</a:t>
                      </a:r>
                    </a:p>
                  </a:txBody>
                  <a:tcPr marL="130826" marR="130826" marT="65413" marB="65413" anchor="ctr"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Fold 5</a:t>
                      </a:r>
                    </a:p>
                  </a:txBody>
                  <a:tcPr marL="130826" marR="130826" marT="65413" marB="65413" anchor="ctr"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12890470"/>
                  </a:ext>
                </a:extLst>
              </a:tr>
              <a:tr h="626348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sz="2000" dirty="0"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Iteration 2</a:t>
                      </a:r>
                    </a:p>
                  </a:txBody>
                  <a:tcPr marL="130826" marR="130826" marT="65413" marB="65413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sz="2000" dirty="0"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Fold 1</a:t>
                      </a:r>
                    </a:p>
                  </a:txBody>
                  <a:tcPr marL="130826" marR="130826" marT="65413" marB="65413" anchor="ctr"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sz="2000" dirty="0"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Fold 2</a:t>
                      </a:r>
                    </a:p>
                  </a:txBody>
                  <a:tcPr marL="130826" marR="130826" marT="65413" marB="65413" anchor="ctr"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sz="2000" dirty="0"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Fold 3</a:t>
                      </a:r>
                    </a:p>
                  </a:txBody>
                  <a:tcPr marL="130826" marR="130826" marT="65413" marB="65413" anchor="ctr"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sz="2000" dirty="0"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Fold 4</a:t>
                      </a:r>
                    </a:p>
                  </a:txBody>
                  <a:tcPr marL="130826" marR="130826" marT="65413" marB="65413" anchor="ctr"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sz="2000" dirty="0"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Fold 5</a:t>
                      </a:r>
                    </a:p>
                  </a:txBody>
                  <a:tcPr marL="130826" marR="130826" marT="65413" marB="65413" anchor="ctr"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44298910"/>
                  </a:ext>
                </a:extLst>
              </a:tr>
              <a:tr h="626348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Iteration 3</a:t>
                      </a:r>
                    </a:p>
                  </a:txBody>
                  <a:tcPr marL="130826" marR="130826" marT="65413" marB="65413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Fold 1</a:t>
                      </a:r>
                    </a:p>
                  </a:txBody>
                  <a:tcPr marL="130826" marR="130826" marT="65413" marB="65413" anchor="ctr"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Fold 2</a:t>
                      </a:r>
                    </a:p>
                  </a:txBody>
                  <a:tcPr marL="130826" marR="130826" marT="65413" marB="65413" anchor="ctr"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Fold 3</a:t>
                      </a:r>
                    </a:p>
                  </a:txBody>
                  <a:tcPr marL="130826" marR="130826" marT="65413" marB="65413" anchor="ctr"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Fold 4</a:t>
                      </a:r>
                    </a:p>
                  </a:txBody>
                  <a:tcPr marL="130826" marR="130826" marT="65413" marB="65413" anchor="ctr"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Fold 5</a:t>
                      </a:r>
                    </a:p>
                  </a:txBody>
                  <a:tcPr marL="130826" marR="130826" marT="65413" marB="65413" anchor="ctr"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08297330"/>
                  </a:ext>
                </a:extLst>
              </a:tr>
              <a:tr h="626348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sz="2000" dirty="0"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Iteration 4</a:t>
                      </a:r>
                    </a:p>
                  </a:txBody>
                  <a:tcPr marL="130826" marR="130826" marT="65413" marB="65413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sz="2000" dirty="0"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Fold 1</a:t>
                      </a:r>
                    </a:p>
                  </a:txBody>
                  <a:tcPr marL="130826" marR="130826" marT="65413" marB="65413" anchor="ctr"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sz="2000" dirty="0"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Fold 2</a:t>
                      </a:r>
                    </a:p>
                  </a:txBody>
                  <a:tcPr marL="130826" marR="130826" marT="65413" marB="65413" anchor="ctr"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sz="2000" dirty="0"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Fold 3</a:t>
                      </a:r>
                    </a:p>
                  </a:txBody>
                  <a:tcPr marL="130826" marR="130826" marT="65413" marB="65413" anchor="ctr"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sz="2000" dirty="0"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Fold 4</a:t>
                      </a:r>
                    </a:p>
                  </a:txBody>
                  <a:tcPr marL="130826" marR="130826" marT="65413" marB="65413" anchor="ctr"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sz="2000" dirty="0"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Fold 5</a:t>
                      </a:r>
                    </a:p>
                  </a:txBody>
                  <a:tcPr marL="130826" marR="130826" marT="65413" marB="65413" anchor="ctr"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93138139"/>
                  </a:ext>
                </a:extLst>
              </a:tr>
              <a:tr h="626348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sz="2000" dirty="0"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Iteration 5</a:t>
                      </a:r>
                    </a:p>
                  </a:txBody>
                  <a:tcPr marL="130826" marR="130826" marT="65413" marB="65413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sz="2000" dirty="0"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Fold 1</a:t>
                      </a:r>
                    </a:p>
                  </a:txBody>
                  <a:tcPr marL="130826" marR="130826" marT="65413" marB="65413" anchor="ctr"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sz="2000" dirty="0"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Fold 2</a:t>
                      </a:r>
                    </a:p>
                  </a:txBody>
                  <a:tcPr marL="130826" marR="130826" marT="65413" marB="65413" anchor="ctr"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sz="2000" dirty="0"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Fold 3</a:t>
                      </a:r>
                    </a:p>
                  </a:txBody>
                  <a:tcPr marL="130826" marR="130826" marT="65413" marB="65413" anchor="ctr"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sz="2000" dirty="0"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Fold 4</a:t>
                      </a:r>
                    </a:p>
                  </a:txBody>
                  <a:tcPr marL="130826" marR="130826" marT="65413" marB="65413" anchor="ctr"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sz="2000" dirty="0"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Fold 5</a:t>
                      </a:r>
                    </a:p>
                  </a:txBody>
                  <a:tcPr marL="130826" marR="130826" marT="65413" marB="65413" anchor="ctr"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04878659"/>
                  </a:ext>
                </a:extLst>
              </a:tr>
              <a:tr h="626348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endParaRPr lang="en-US" sz="2000" dirty="0"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 marL="130826" marR="130826" marT="65413" marB="65413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endParaRPr lang="en-US" sz="2000" dirty="0"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 marL="130826" marR="130826" marT="65413" marB="65413" anchor="ctr"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endParaRPr lang="en-US" sz="2000" dirty="0"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 marL="130826" marR="130826" marT="65413" marB="65413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endParaRPr lang="en-US" sz="2000" dirty="0"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 marL="130826" marR="130826" marT="65413" marB="65413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endParaRPr lang="en-US" sz="2000" dirty="0"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 marL="130826" marR="130826" marT="65413" marB="65413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endParaRPr lang="en-US" sz="2000" dirty="0"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 marL="130826" marR="130826" marT="65413" marB="65413"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88497291"/>
                  </a:ext>
                </a:extLst>
              </a:tr>
              <a:tr h="626348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endParaRPr lang="en-US" sz="2000" dirty="0"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 marL="130826" marR="130826" marT="65413" marB="65413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endParaRPr lang="en-US" sz="2000" dirty="0"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 marL="130826" marR="130826" marT="65413" marB="65413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sz="2000" dirty="0"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Train</a:t>
                      </a:r>
                    </a:p>
                  </a:txBody>
                  <a:tcPr marL="130826" marR="130826" marT="65413" marB="6541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sz="2000" dirty="0"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Test</a:t>
                      </a:r>
                    </a:p>
                  </a:txBody>
                  <a:tcPr marL="130826" marR="130826" marT="65413" marB="6541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endParaRPr lang="en-US" sz="2000" dirty="0"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 marL="130826" marR="130826" marT="65413" marB="6541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endParaRPr lang="en-US" sz="2000" dirty="0"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 marL="130826" marR="130826" marT="65413" marB="65413"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00296094"/>
                  </a:ext>
                </a:extLst>
              </a:tr>
            </a:tbl>
          </a:graphicData>
        </a:graphic>
      </p:graphicFrame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66438855-D3FB-4B9F-9438-6E83352DC1BF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1942978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2"/>
          <p:cNvSpPr txBox="1">
            <a:spLocks noGrp="1"/>
          </p:cNvSpPr>
          <p:nvPr>
            <p:ph type="title"/>
          </p:nvPr>
        </p:nvSpPr>
        <p:spPr>
          <a:xfrm>
            <a:off x="1018675" y="0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r>
              <a:rPr lang="en-US" dirty="0"/>
              <a:t>Confusion Matrix</a:t>
            </a:r>
          </a:p>
        </p:txBody>
      </p:sp>
      <p:sp>
        <p:nvSpPr>
          <p:cNvPr id="91" name="Google Shape;91;p2"/>
          <p:cNvSpPr txBox="1">
            <a:spLocks noGrp="1"/>
          </p:cNvSpPr>
          <p:nvPr>
            <p:ph type="body" idx="1"/>
          </p:nvPr>
        </p:nvSpPr>
        <p:spPr>
          <a:xfrm>
            <a:off x="627184" y="1325699"/>
            <a:ext cx="10433165" cy="49778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>
              <a:lnSpc>
                <a:spcPct val="150000"/>
              </a:lnSpc>
            </a:pPr>
            <a:r>
              <a:rPr lang="en-US" dirty="0"/>
              <a:t>A table that summarizes the prediction results by comparing the actual with the predicted classes.</a:t>
            </a:r>
          </a:p>
          <a:p>
            <a:pPr>
              <a:lnSpc>
                <a:spcPct val="150000"/>
              </a:lnSpc>
            </a:pPr>
            <a:r>
              <a:rPr lang="en-US" b="1" dirty="0"/>
              <a:t>Terminology</a:t>
            </a:r>
            <a:r>
              <a:rPr lang="en-US" dirty="0"/>
              <a:t>:</a:t>
            </a:r>
          </a:p>
          <a:p>
            <a:pPr lvl="1">
              <a:lnSpc>
                <a:spcPct val="150000"/>
              </a:lnSpc>
            </a:pPr>
            <a:r>
              <a:rPr lang="en-US" dirty="0"/>
              <a:t>True Positive (TP): Correctly predicted positive cases</a:t>
            </a:r>
          </a:p>
          <a:p>
            <a:pPr lvl="1">
              <a:lnSpc>
                <a:spcPct val="150000"/>
              </a:lnSpc>
            </a:pPr>
            <a:r>
              <a:rPr lang="en-US" dirty="0"/>
              <a:t>True Negative (TN): Correctly predicted negative cases</a:t>
            </a:r>
          </a:p>
          <a:p>
            <a:pPr lvl="1">
              <a:lnSpc>
                <a:spcPct val="150000"/>
              </a:lnSpc>
            </a:pPr>
            <a:r>
              <a:rPr lang="en-US" dirty="0"/>
              <a:t>False Positive (FP): Incorrectly predicted positive cases (actually negative)</a:t>
            </a:r>
          </a:p>
          <a:p>
            <a:pPr lvl="1">
              <a:lnSpc>
                <a:spcPct val="150000"/>
              </a:lnSpc>
            </a:pPr>
            <a:r>
              <a:rPr lang="en-US" dirty="0"/>
              <a:t>False Negative (FN): Incorrectly predicted negative cases (actually positive)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A63F2C24-2479-468F-B3FE-3DCC0E2E4B26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7051428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2"/>
          <p:cNvSpPr txBox="1">
            <a:spLocks noGrp="1"/>
          </p:cNvSpPr>
          <p:nvPr>
            <p:ph type="title"/>
          </p:nvPr>
        </p:nvSpPr>
        <p:spPr>
          <a:xfrm>
            <a:off x="1018675" y="0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r>
              <a:rPr lang="en-US" dirty="0"/>
              <a:t>Confusion Matrix</a:t>
            </a:r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5D59118A-98EB-47E5-B4A4-381393E6587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21144266"/>
              </p:ext>
            </p:extLst>
          </p:nvPr>
        </p:nvGraphicFramePr>
        <p:xfrm>
          <a:off x="614463" y="2075508"/>
          <a:ext cx="10963074" cy="3226392"/>
        </p:xfrm>
        <a:graphic>
          <a:graphicData uri="http://schemas.openxmlformats.org/drawingml/2006/table">
            <a:tbl>
              <a:tblPr>
                <a:tableStyleId>{F5AB1C69-6EDB-4FF4-983F-18BD219EF322}</a:tableStyleId>
              </a:tblPr>
              <a:tblGrid>
                <a:gridCol w="2567418">
                  <a:extLst>
                    <a:ext uri="{9D8B030D-6E8A-4147-A177-3AD203B41FA5}">
                      <a16:colId xmlns:a16="http://schemas.microsoft.com/office/drawing/2014/main" val="3482527085"/>
                    </a:ext>
                  </a:extLst>
                </a:gridCol>
                <a:gridCol w="699638">
                  <a:extLst>
                    <a:ext uri="{9D8B030D-6E8A-4147-A177-3AD203B41FA5}">
                      <a16:colId xmlns:a16="http://schemas.microsoft.com/office/drawing/2014/main" val="448156526"/>
                    </a:ext>
                  </a:extLst>
                </a:gridCol>
                <a:gridCol w="699638">
                  <a:extLst>
                    <a:ext uri="{9D8B030D-6E8A-4147-A177-3AD203B41FA5}">
                      <a16:colId xmlns:a16="http://schemas.microsoft.com/office/drawing/2014/main" val="401224279"/>
                    </a:ext>
                  </a:extLst>
                </a:gridCol>
                <a:gridCol w="699638">
                  <a:extLst>
                    <a:ext uri="{9D8B030D-6E8A-4147-A177-3AD203B41FA5}">
                      <a16:colId xmlns:a16="http://schemas.microsoft.com/office/drawing/2014/main" val="275363830"/>
                    </a:ext>
                  </a:extLst>
                </a:gridCol>
                <a:gridCol w="699638">
                  <a:extLst>
                    <a:ext uri="{9D8B030D-6E8A-4147-A177-3AD203B41FA5}">
                      <a16:colId xmlns:a16="http://schemas.microsoft.com/office/drawing/2014/main" val="2783242462"/>
                    </a:ext>
                  </a:extLst>
                </a:gridCol>
                <a:gridCol w="699638">
                  <a:extLst>
                    <a:ext uri="{9D8B030D-6E8A-4147-A177-3AD203B41FA5}">
                      <a16:colId xmlns:a16="http://schemas.microsoft.com/office/drawing/2014/main" val="2481494258"/>
                    </a:ext>
                  </a:extLst>
                </a:gridCol>
                <a:gridCol w="699638">
                  <a:extLst>
                    <a:ext uri="{9D8B030D-6E8A-4147-A177-3AD203B41FA5}">
                      <a16:colId xmlns:a16="http://schemas.microsoft.com/office/drawing/2014/main" val="2109817858"/>
                    </a:ext>
                  </a:extLst>
                </a:gridCol>
                <a:gridCol w="699638">
                  <a:extLst>
                    <a:ext uri="{9D8B030D-6E8A-4147-A177-3AD203B41FA5}">
                      <a16:colId xmlns:a16="http://schemas.microsoft.com/office/drawing/2014/main" val="1060763863"/>
                    </a:ext>
                  </a:extLst>
                </a:gridCol>
                <a:gridCol w="699638">
                  <a:extLst>
                    <a:ext uri="{9D8B030D-6E8A-4147-A177-3AD203B41FA5}">
                      <a16:colId xmlns:a16="http://schemas.microsoft.com/office/drawing/2014/main" val="690345184"/>
                    </a:ext>
                  </a:extLst>
                </a:gridCol>
                <a:gridCol w="699638">
                  <a:extLst>
                    <a:ext uri="{9D8B030D-6E8A-4147-A177-3AD203B41FA5}">
                      <a16:colId xmlns:a16="http://schemas.microsoft.com/office/drawing/2014/main" val="1237609102"/>
                    </a:ext>
                  </a:extLst>
                </a:gridCol>
                <a:gridCol w="699638">
                  <a:extLst>
                    <a:ext uri="{9D8B030D-6E8A-4147-A177-3AD203B41FA5}">
                      <a16:colId xmlns:a16="http://schemas.microsoft.com/office/drawing/2014/main" val="3713840313"/>
                    </a:ext>
                  </a:extLst>
                </a:gridCol>
                <a:gridCol w="699638">
                  <a:extLst>
                    <a:ext uri="{9D8B030D-6E8A-4147-A177-3AD203B41FA5}">
                      <a16:colId xmlns:a16="http://schemas.microsoft.com/office/drawing/2014/main" val="1123557026"/>
                    </a:ext>
                  </a:extLst>
                </a:gridCol>
                <a:gridCol w="699638">
                  <a:extLst>
                    <a:ext uri="{9D8B030D-6E8A-4147-A177-3AD203B41FA5}">
                      <a16:colId xmlns:a16="http://schemas.microsoft.com/office/drawing/2014/main" val="2450458664"/>
                    </a:ext>
                  </a:extLst>
                </a:gridCol>
              </a:tblGrid>
              <a:tr h="806598">
                <a:tc>
                  <a:txBody>
                    <a:bodyPr/>
                    <a:lstStyle/>
                    <a:p>
                      <a:pPr marL="0" marR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 dirty="0">
                          <a:effectLst/>
                        </a:rPr>
                        <a:t>Instances</a:t>
                      </a:r>
                      <a:endParaRPr lang="en-US" sz="24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8580" marR="6858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 dirty="0">
                          <a:effectLst/>
                        </a:rPr>
                        <a:t>1</a:t>
                      </a:r>
                      <a:endParaRPr lang="en-US" sz="24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8580" marR="6858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 dirty="0">
                          <a:effectLst/>
                        </a:rPr>
                        <a:t>2</a:t>
                      </a:r>
                      <a:endParaRPr lang="en-US" sz="24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8580" marR="6858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 dirty="0">
                          <a:effectLst/>
                        </a:rPr>
                        <a:t>3</a:t>
                      </a:r>
                      <a:endParaRPr lang="en-US" sz="24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>
                          <a:effectLst/>
                        </a:rPr>
                        <a:t>4</a:t>
                      </a:r>
                      <a:endParaRPr lang="en-US" sz="2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 dirty="0">
                          <a:effectLst/>
                        </a:rPr>
                        <a:t>5</a:t>
                      </a:r>
                      <a:endParaRPr lang="en-US" sz="24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>
                          <a:effectLst/>
                        </a:rPr>
                        <a:t>6</a:t>
                      </a:r>
                      <a:endParaRPr lang="en-US" sz="2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>
                          <a:effectLst/>
                        </a:rPr>
                        <a:t>7</a:t>
                      </a:r>
                      <a:endParaRPr lang="en-US" sz="2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>
                          <a:effectLst/>
                        </a:rPr>
                        <a:t>8</a:t>
                      </a:r>
                      <a:endParaRPr lang="en-US" sz="2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 dirty="0">
                          <a:effectLst/>
                        </a:rPr>
                        <a:t>9</a:t>
                      </a:r>
                      <a:endParaRPr lang="en-US" sz="24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>
                          <a:effectLst/>
                        </a:rPr>
                        <a:t>10</a:t>
                      </a:r>
                      <a:endParaRPr lang="en-US" sz="2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>
                          <a:effectLst/>
                        </a:rPr>
                        <a:t>11</a:t>
                      </a:r>
                      <a:endParaRPr lang="en-US" sz="2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 dirty="0">
                          <a:effectLst/>
                        </a:rPr>
                        <a:t>12</a:t>
                      </a:r>
                      <a:endParaRPr lang="en-US" sz="24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080410252"/>
                  </a:ext>
                </a:extLst>
              </a:tr>
              <a:tr h="806598">
                <a:tc>
                  <a:txBody>
                    <a:bodyPr/>
                    <a:lstStyle/>
                    <a:p>
                      <a:pPr marL="0" marR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 dirty="0">
                          <a:effectLst/>
                        </a:rPr>
                        <a:t>Actual Classification</a:t>
                      </a:r>
                      <a:endParaRPr lang="en-US" sz="24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 dirty="0">
                          <a:effectLst/>
                        </a:rPr>
                        <a:t>1</a:t>
                      </a:r>
                      <a:endParaRPr lang="en-US" sz="24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 dirty="0">
                          <a:effectLst/>
                        </a:rPr>
                        <a:t>1</a:t>
                      </a:r>
                      <a:endParaRPr lang="en-US" sz="24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 dirty="0">
                          <a:effectLst/>
                        </a:rPr>
                        <a:t>1</a:t>
                      </a:r>
                      <a:endParaRPr lang="en-US" sz="24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 dirty="0">
                          <a:effectLst/>
                        </a:rPr>
                        <a:t>1</a:t>
                      </a:r>
                      <a:endParaRPr lang="en-US" sz="24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 dirty="0">
                          <a:effectLst/>
                        </a:rPr>
                        <a:t>1</a:t>
                      </a:r>
                      <a:endParaRPr lang="en-US" sz="24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 dirty="0">
                          <a:effectLst/>
                        </a:rPr>
                        <a:t>1</a:t>
                      </a:r>
                      <a:endParaRPr lang="en-US" sz="24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 dirty="0">
                          <a:effectLst/>
                        </a:rPr>
                        <a:t>1</a:t>
                      </a:r>
                      <a:endParaRPr lang="en-US" sz="24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 dirty="0">
                          <a:effectLst/>
                        </a:rPr>
                        <a:t>1</a:t>
                      </a:r>
                      <a:endParaRPr lang="en-US" sz="24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 dirty="0">
                          <a:effectLst/>
                        </a:rPr>
                        <a:t>0</a:t>
                      </a:r>
                      <a:endParaRPr lang="en-US" sz="24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 dirty="0">
                          <a:effectLst/>
                        </a:rPr>
                        <a:t>0</a:t>
                      </a:r>
                      <a:endParaRPr lang="en-US" sz="24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 dirty="0">
                          <a:effectLst/>
                        </a:rPr>
                        <a:t>0</a:t>
                      </a:r>
                      <a:endParaRPr lang="en-US" sz="24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 dirty="0">
                          <a:effectLst/>
                        </a:rPr>
                        <a:t>0</a:t>
                      </a:r>
                      <a:endParaRPr lang="en-US" sz="24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87093723"/>
                  </a:ext>
                </a:extLst>
              </a:tr>
              <a:tr h="806598">
                <a:tc>
                  <a:txBody>
                    <a:bodyPr/>
                    <a:lstStyle/>
                    <a:p>
                      <a:pPr marL="0" marR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 dirty="0">
                          <a:effectLst/>
                        </a:rPr>
                        <a:t>Predicted Classification</a:t>
                      </a:r>
                      <a:endParaRPr lang="en-US" sz="24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 dirty="0">
                          <a:effectLst/>
                        </a:rPr>
                        <a:t>0</a:t>
                      </a:r>
                      <a:endParaRPr lang="en-US" sz="24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 dirty="0">
                          <a:effectLst/>
                        </a:rPr>
                        <a:t>0</a:t>
                      </a:r>
                      <a:endParaRPr lang="en-US" sz="24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 dirty="0">
                          <a:effectLst/>
                        </a:rPr>
                        <a:t>1</a:t>
                      </a:r>
                      <a:endParaRPr lang="en-US" sz="24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 dirty="0">
                          <a:effectLst/>
                        </a:rPr>
                        <a:t>1</a:t>
                      </a:r>
                      <a:endParaRPr lang="en-US" sz="24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 dirty="0">
                          <a:effectLst/>
                        </a:rPr>
                        <a:t>1</a:t>
                      </a:r>
                      <a:endParaRPr lang="en-US" sz="24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 dirty="0">
                          <a:effectLst/>
                        </a:rPr>
                        <a:t>1</a:t>
                      </a:r>
                      <a:endParaRPr lang="en-US" sz="24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 dirty="0">
                          <a:effectLst/>
                        </a:rPr>
                        <a:t>1</a:t>
                      </a:r>
                      <a:endParaRPr lang="en-US" sz="24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 dirty="0">
                          <a:effectLst/>
                        </a:rPr>
                        <a:t>1</a:t>
                      </a:r>
                      <a:endParaRPr lang="en-US" sz="24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 dirty="0">
                          <a:effectLst/>
                        </a:rPr>
                        <a:t>1</a:t>
                      </a:r>
                      <a:endParaRPr lang="en-US" sz="24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 dirty="0">
                          <a:effectLst/>
                        </a:rPr>
                        <a:t>0</a:t>
                      </a:r>
                      <a:endParaRPr lang="en-US" sz="24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 dirty="0">
                          <a:effectLst/>
                        </a:rPr>
                        <a:t>0</a:t>
                      </a:r>
                      <a:endParaRPr lang="en-US" sz="24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 dirty="0">
                          <a:effectLst/>
                        </a:rPr>
                        <a:t>0</a:t>
                      </a:r>
                      <a:endParaRPr lang="en-US" sz="24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67203814"/>
                  </a:ext>
                </a:extLst>
              </a:tr>
              <a:tr h="806598">
                <a:tc>
                  <a:txBody>
                    <a:bodyPr/>
                    <a:lstStyle/>
                    <a:p>
                      <a:pPr marL="0" marR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 dirty="0">
                          <a:effectLst/>
                        </a:rPr>
                        <a:t>Result</a:t>
                      </a:r>
                      <a:endParaRPr lang="en-US" sz="24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 dirty="0">
                          <a:effectLst/>
                        </a:rPr>
                        <a:t>FN</a:t>
                      </a:r>
                      <a:endParaRPr lang="en-US" sz="24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 dirty="0">
                          <a:effectLst/>
                        </a:rPr>
                        <a:t>FN</a:t>
                      </a:r>
                      <a:endParaRPr lang="en-US" sz="24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 dirty="0">
                          <a:effectLst/>
                        </a:rPr>
                        <a:t>TP</a:t>
                      </a:r>
                      <a:endParaRPr lang="en-US" sz="24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3F5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 dirty="0">
                          <a:effectLst/>
                        </a:rPr>
                        <a:t>TP</a:t>
                      </a:r>
                      <a:endParaRPr lang="en-US" sz="24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3F5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 dirty="0">
                          <a:effectLst/>
                        </a:rPr>
                        <a:t>TP</a:t>
                      </a:r>
                      <a:endParaRPr lang="en-US" sz="24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3F5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 dirty="0">
                          <a:effectLst/>
                        </a:rPr>
                        <a:t>TP</a:t>
                      </a:r>
                      <a:endParaRPr lang="en-US" sz="24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3F5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 dirty="0">
                          <a:effectLst/>
                        </a:rPr>
                        <a:t>TP</a:t>
                      </a:r>
                      <a:endParaRPr lang="en-US" sz="24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3F5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 dirty="0">
                          <a:effectLst/>
                        </a:rPr>
                        <a:t>TP</a:t>
                      </a:r>
                      <a:endParaRPr lang="en-US" sz="24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3F5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 dirty="0">
                          <a:effectLst/>
                        </a:rPr>
                        <a:t>FP</a:t>
                      </a:r>
                      <a:endParaRPr lang="en-US" sz="24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 dirty="0">
                          <a:effectLst/>
                        </a:rPr>
                        <a:t>TN</a:t>
                      </a:r>
                      <a:endParaRPr lang="en-US" sz="24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3F5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 dirty="0">
                          <a:effectLst/>
                        </a:rPr>
                        <a:t>TN</a:t>
                      </a:r>
                      <a:endParaRPr lang="en-US" sz="24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3F5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 dirty="0">
                          <a:effectLst/>
                        </a:rPr>
                        <a:t>TN</a:t>
                      </a:r>
                      <a:endParaRPr lang="en-US" sz="24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3F5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73586118"/>
                  </a:ext>
                </a:extLst>
              </a:tr>
            </a:tbl>
          </a:graphicData>
        </a:graphic>
      </p:graphicFrame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8F13BB38-9821-4070-BB8B-98108398E149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7716587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2"/>
          <p:cNvSpPr txBox="1">
            <a:spLocks noGrp="1"/>
          </p:cNvSpPr>
          <p:nvPr>
            <p:ph type="title"/>
          </p:nvPr>
        </p:nvSpPr>
        <p:spPr>
          <a:xfrm>
            <a:off x="1018675" y="0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r>
              <a:rPr lang="en-US" dirty="0"/>
              <a:t>Confusion Matrix</a:t>
            </a: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D1D35147-1E62-486B-B28F-AEBEE5548F3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583833"/>
              </p:ext>
            </p:extLst>
          </p:nvPr>
        </p:nvGraphicFramePr>
        <p:xfrm>
          <a:off x="1984248" y="1147570"/>
          <a:ext cx="8129017" cy="4933190"/>
        </p:xfrm>
        <a:graphic>
          <a:graphicData uri="http://schemas.openxmlformats.org/drawingml/2006/table">
            <a:tbl>
              <a:tblPr firstRow="1" bandRow="1">
                <a:tableStyleId>{B0C9AC0D-79A4-41F8-9187-85EBDDFB2577}</a:tableStyleId>
              </a:tblPr>
              <a:tblGrid>
                <a:gridCol w="1012105">
                  <a:extLst>
                    <a:ext uri="{9D8B030D-6E8A-4147-A177-3AD203B41FA5}">
                      <a16:colId xmlns:a16="http://schemas.microsoft.com/office/drawing/2014/main" val="2969299066"/>
                    </a:ext>
                  </a:extLst>
                </a:gridCol>
                <a:gridCol w="2372304">
                  <a:extLst>
                    <a:ext uri="{9D8B030D-6E8A-4147-A177-3AD203B41FA5}">
                      <a16:colId xmlns:a16="http://schemas.microsoft.com/office/drawing/2014/main" val="4288543182"/>
                    </a:ext>
                  </a:extLst>
                </a:gridCol>
                <a:gridCol w="2372304">
                  <a:extLst>
                    <a:ext uri="{9D8B030D-6E8A-4147-A177-3AD203B41FA5}">
                      <a16:colId xmlns:a16="http://schemas.microsoft.com/office/drawing/2014/main" val="3968689968"/>
                    </a:ext>
                  </a:extLst>
                </a:gridCol>
                <a:gridCol w="2372304">
                  <a:extLst>
                    <a:ext uri="{9D8B030D-6E8A-4147-A177-3AD203B41FA5}">
                      <a16:colId xmlns:a16="http://schemas.microsoft.com/office/drawing/2014/main" val="413507065"/>
                    </a:ext>
                  </a:extLst>
                </a:gridCol>
              </a:tblGrid>
              <a:tr h="835931">
                <a:tc>
                  <a:txBody>
                    <a:bodyPr/>
                    <a:lstStyle/>
                    <a:p>
                      <a:pPr algn="ctr"/>
                      <a:endParaRPr lang="en-US" sz="2000" dirty="0">
                        <a:latin typeface="Calibri" panose="020F0502020204030204" pitchFamily="34" charset="0"/>
                        <a:ea typeface="Verdana" panose="020B060403050404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000" dirty="0">
                        <a:latin typeface="Calibri" panose="020F0502020204030204" pitchFamily="34" charset="0"/>
                        <a:ea typeface="Verdana" panose="020B060403050404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Calibri" panose="020F0502020204030204" pitchFamily="34" charset="0"/>
                          <a:ea typeface="Verdana" panose="020B0604030504040204" pitchFamily="34" charset="0"/>
                          <a:cs typeface="Calibri" panose="020F0502020204030204" pitchFamily="34" charset="0"/>
                        </a:rPr>
                        <a:t>Predicted condition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16600559"/>
                  </a:ext>
                </a:extLst>
              </a:tr>
              <a:tr h="1365753">
                <a:tc>
                  <a:txBody>
                    <a:bodyPr/>
                    <a:lstStyle/>
                    <a:p>
                      <a:pPr algn="ctr"/>
                      <a:endParaRPr lang="en-US" sz="2000" dirty="0">
                        <a:latin typeface="Calibri" panose="020F0502020204030204" pitchFamily="34" charset="0"/>
                        <a:ea typeface="Verdana" panose="020B060403050404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Calibri" panose="020F0502020204030204" pitchFamily="34" charset="0"/>
                          <a:ea typeface="Verdana" panose="020B0604030504040204" pitchFamily="34" charset="0"/>
                          <a:cs typeface="Calibri" panose="020F0502020204030204" pitchFamily="34" charset="0"/>
                        </a:rPr>
                        <a:t>Total population</a:t>
                      </a:r>
                    </a:p>
                    <a:p>
                      <a:pPr algn="ctr"/>
                      <a:r>
                        <a:rPr lang="en-US" sz="2000" dirty="0">
                          <a:latin typeface="Calibri" panose="020F0502020204030204" pitchFamily="34" charset="0"/>
                          <a:ea typeface="Verdana" panose="020B0604030504040204" pitchFamily="34" charset="0"/>
                          <a:cs typeface="Calibri" panose="020F0502020204030204" pitchFamily="34" charset="0"/>
                        </a:rPr>
                        <a:t>P + N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>
                          <a:effectLst/>
                          <a:latin typeface="Calibri" panose="020F0502020204030204" pitchFamily="34" charset="0"/>
                          <a:ea typeface="Verdana" panose="020B0604030504040204" pitchFamily="34" charset="0"/>
                          <a:cs typeface="Calibri" panose="020F0502020204030204" pitchFamily="34" charset="0"/>
                        </a:rPr>
                        <a:t>Positive (PP)</a:t>
                      </a:r>
                      <a:endParaRPr lang="en-US" sz="2000" dirty="0">
                        <a:effectLst/>
                        <a:latin typeface="Calibri" panose="020F0502020204030204" pitchFamily="34" charset="0"/>
                        <a:ea typeface="Verdana" panose="020B060403050404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>
                          <a:effectLst/>
                          <a:latin typeface="Calibri" panose="020F0502020204030204" pitchFamily="34" charset="0"/>
                          <a:ea typeface="Verdana" panose="020B0604030504040204" pitchFamily="34" charset="0"/>
                          <a:cs typeface="Calibri" panose="020F0502020204030204" pitchFamily="34" charset="0"/>
                        </a:rPr>
                        <a:t>Negative (PN)</a:t>
                      </a:r>
                      <a:endParaRPr lang="en-US" sz="2000" dirty="0">
                        <a:effectLst/>
                        <a:latin typeface="Calibri" panose="020F0502020204030204" pitchFamily="34" charset="0"/>
                        <a:ea typeface="Verdana" panose="020B060403050404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19788032"/>
                  </a:ext>
                </a:extLst>
              </a:tr>
              <a:tr h="1365753">
                <a:tc rowSpan="2">
                  <a:txBody>
                    <a:bodyPr/>
                    <a:lstStyle/>
                    <a:p>
                      <a:pPr algn="ctr"/>
                      <a:r>
                        <a:rPr lang="en-US" sz="2000" b="1" i="0" dirty="0">
                          <a:solidFill>
                            <a:srgbClr val="202122"/>
                          </a:solidFill>
                          <a:effectLst/>
                          <a:latin typeface="Calibri" panose="020F0502020204030204" pitchFamily="34" charset="0"/>
                          <a:ea typeface="Verdana" panose="020B0604030504040204" pitchFamily="34" charset="0"/>
                          <a:cs typeface="Calibri" panose="020F0502020204030204" pitchFamily="34" charset="0"/>
                        </a:rPr>
                        <a:t>Actual condition</a:t>
                      </a:r>
                      <a:endParaRPr lang="en-US" sz="2000" dirty="0">
                        <a:latin typeface="Calibri" panose="020F0502020204030204" pitchFamily="34" charset="0"/>
                        <a:ea typeface="Verdana" panose="020B0604030504040204" pitchFamily="34" charset="0"/>
                        <a:cs typeface="Calibri" panose="020F0502020204030204" pitchFamily="34" charset="0"/>
                      </a:endParaRPr>
                    </a:p>
                  </a:txBody>
                  <a:tcPr vert="vert27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>
                          <a:effectLst/>
                          <a:latin typeface="Calibri" panose="020F0502020204030204" pitchFamily="34" charset="0"/>
                          <a:ea typeface="Verdana" panose="020B0604030504040204" pitchFamily="34" charset="0"/>
                          <a:cs typeface="Calibri" panose="020F0502020204030204" pitchFamily="34" charset="0"/>
                        </a:rPr>
                        <a:t>Positive (P)</a:t>
                      </a:r>
                      <a:endParaRPr lang="en-US" sz="2000" dirty="0">
                        <a:effectLst/>
                        <a:latin typeface="Calibri" panose="020F0502020204030204" pitchFamily="34" charset="0"/>
                        <a:ea typeface="Verdana" panose="020B060403050404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Calibri" panose="020F0502020204030204" pitchFamily="34" charset="0"/>
                          <a:ea typeface="Verdana" panose="020B0604030504040204" pitchFamily="34" charset="0"/>
                          <a:cs typeface="Calibri" panose="020F0502020204030204" pitchFamily="34" charset="0"/>
                        </a:rPr>
                        <a:t>True positive (TP)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A3F5F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Calibri" panose="020F0502020204030204" pitchFamily="34" charset="0"/>
                          <a:ea typeface="Verdana" panose="020B0604030504040204" pitchFamily="34" charset="0"/>
                          <a:cs typeface="Calibri" panose="020F0502020204030204" pitchFamily="34" charset="0"/>
                        </a:rPr>
                        <a:t>False negative (FN)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14465807"/>
                  </a:ext>
                </a:extLst>
              </a:tr>
              <a:tr h="1365753">
                <a:tc v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>
                          <a:effectLst/>
                          <a:latin typeface="Calibri" panose="020F0502020204030204" pitchFamily="34" charset="0"/>
                          <a:ea typeface="Verdana" panose="020B0604030504040204" pitchFamily="34" charset="0"/>
                          <a:cs typeface="Calibri" panose="020F0502020204030204" pitchFamily="34" charset="0"/>
                        </a:rPr>
                        <a:t>Negative (N)</a:t>
                      </a:r>
                      <a:endParaRPr lang="en-US" sz="2000" dirty="0">
                        <a:effectLst/>
                        <a:latin typeface="Calibri" panose="020F0502020204030204" pitchFamily="34" charset="0"/>
                        <a:ea typeface="Verdana" panose="020B060403050404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Calibri" panose="020F0502020204030204" pitchFamily="34" charset="0"/>
                          <a:ea typeface="Verdana" panose="020B0604030504040204" pitchFamily="34" charset="0"/>
                          <a:cs typeface="Calibri" panose="020F0502020204030204" pitchFamily="34" charset="0"/>
                        </a:rPr>
                        <a:t>False positive (FP)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Calibri" panose="020F0502020204030204" pitchFamily="34" charset="0"/>
                          <a:ea typeface="Verdana" panose="020B0604030504040204" pitchFamily="34" charset="0"/>
                          <a:cs typeface="Calibri" panose="020F0502020204030204" pitchFamily="34" charset="0"/>
                        </a:rPr>
                        <a:t>True negative (TN)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A3F5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86566806"/>
                  </a:ext>
                </a:extLst>
              </a:tr>
            </a:tbl>
          </a:graphicData>
        </a:graphic>
      </p:graphicFrame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094D2578-8A64-4455-913B-FCD8F861FEC4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5848782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2"/>
          <p:cNvSpPr txBox="1">
            <a:spLocks noGrp="1"/>
          </p:cNvSpPr>
          <p:nvPr>
            <p:ph type="title"/>
          </p:nvPr>
        </p:nvSpPr>
        <p:spPr>
          <a:xfrm>
            <a:off x="1018675" y="0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r>
              <a:rPr lang="en-US" dirty="0"/>
              <a:t>Confusion Matrix</a:t>
            </a: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D1D35147-1E62-486B-B28F-AEBEE5548F3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55123186"/>
              </p:ext>
            </p:extLst>
          </p:nvPr>
        </p:nvGraphicFramePr>
        <p:xfrm>
          <a:off x="1984248" y="1147570"/>
          <a:ext cx="8129017" cy="4933190"/>
        </p:xfrm>
        <a:graphic>
          <a:graphicData uri="http://schemas.openxmlformats.org/drawingml/2006/table">
            <a:tbl>
              <a:tblPr firstRow="1" bandRow="1">
                <a:tableStyleId>{B0C9AC0D-79A4-41F8-9187-85EBDDFB2577}</a:tableStyleId>
              </a:tblPr>
              <a:tblGrid>
                <a:gridCol w="1012105">
                  <a:extLst>
                    <a:ext uri="{9D8B030D-6E8A-4147-A177-3AD203B41FA5}">
                      <a16:colId xmlns:a16="http://schemas.microsoft.com/office/drawing/2014/main" val="2969299066"/>
                    </a:ext>
                  </a:extLst>
                </a:gridCol>
                <a:gridCol w="2372304">
                  <a:extLst>
                    <a:ext uri="{9D8B030D-6E8A-4147-A177-3AD203B41FA5}">
                      <a16:colId xmlns:a16="http://schemas.microsoft.com/office/drawing/2014/main" val="4288543182"/>
                    </a:ext>
                  </a:extLst>
                </a:gridCol>
                <a:gridCol w="2372304">
                  <a:extLst>
                    <a:ext uri="{9D8B030D-6E8A-4147-A177-3AD203B41FA5}">
                      <a16:colId xmlns:a16="http://schemas.microsoft.com/office/drawing/2014/main" val="3968689968"/>
                    </a:ext>
                  </a:extLst>
                </a:gridCol>
                <a:gridCol w="2372304">
                  <a:extLst>
                    <a:ext uri="{9D8B030D-6E8A-4147-A177-3AD203B41FA5}">
                      <a16:colId xmlns:a16="http://schemas.microsoft.com/office/drawing/2014/main" val="413507065"/>
                    </a:ext>
                  </a:extLst>
                </a:gridCol>
              </a:tblGrid>
              <a:tr h="835931">
                <a:tc>
                  <a:txBody>
                    <a:bodyPr/>
                    <a:lstStyle/>
                    <a:p>
                      <a:pPr algn="ctr"/>
                      <a:endParaRPr lang="en-US" sz="2000" dirty="0">
                        <a:latin typeface="Calibri" panose="020F0502020204030204" pitchFamily="34" charset="0"/>
                        <a:ea typeface="Verdana" panose="020B060403050404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000" dirty="0">
                        <a:latin typeface="Calibri" panose="020F0502020204030204" pitchFamily="34" charset="0"/>
                        <a:ea typeface="Verdana" panose="020B060403050404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Calibri" panose="020F0502020204030204" pitchFamily="34" charset="0"/>
                          <a:ea typeface="Verdana" panose="020B0604030504040204" pitchFamily="34" charset="0"/>
                          <a:cs typeface="Calibri" panose="020F0502020204030204" pitchFamily="34" charset="0"/>
                        </a:rPr>
                        <a:t>Predicted condition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16600559"/>
                  </a:ext>
                </a:extLst>
              </a:tr>
              <a:tr h="1365753">
                <a:tc>
                  <a:txBody>
                    <a:bodyPr/>
                    <a:lstStyle/>
                    <a:p>
                      <a:pPr algn="ctr"/>
                      <a:endParaRPr lang="en-US" sz="2000" dirty="0">
                        <a:latin typeface="Calibri" panose="020F0502020204030204" pitchFamily="34" charset="0"/>
                        <a:ea typeface="Verdana" panose="020B060403050404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Calibri" panose="020F0502020204030204" pitchFamily="34" charset="0"/>
                          <a:ea typeface="Verdana" panose="020B0604030504040204" pitchFamily="34" charset="0"/>
                          <a:cs typeface="Calibri" panose="020F0502020204030204" pitchFamily="34" charset="0"/>
                        </a:rPr>
                        <a:t>Total = 8+4 = 12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>
                          <a:effectLst/>
                          <a:latin typeface="Calibri" panose="020F0502020204030204" pitchFamily="34" charset="0"/>
                          <a:ea typeface="Verdana" panose="020B0604030504040204" pitchFamily="34" charset="0"/>
                          <a:cs typeface="Calibri" panose="020F0502020204030204" pitchFamily="34" charset="0"/>
                        </a:rPr>
                        <a:t>Fit</a:t>
                      </a:r>
                    </a:p>
                    <a:p>
                      <a:pPr algn="ctr"/>
                      <a:r>
                        <a:rPr lang="en-US" sz="2000" b="1" dirty="0">
                          <a:effectLst/>
                          <a:latin typeface="Calibri" panose="020F0502020204030204" pitchFamily="34" charset="0"/>
                          <a:ea typeface="Verdana" panose="020B0604030504040204" pitchFamily="34" charset="0"/>
                          <a:cs typeface="Calibri" panose="020F0502020204030204" pitchFamily="34" charset="0"/>
                        </a:rPr>
                        <a:t>7</a:t>
                      </a:r>
                      <a:endParaRPr lang="en-US" sz="2000" dirty="0">
                        <a:effectLst/>
                        <a:latin typeface="Calibri" panose="020F0502020204030204" pitchFamily="34" charset="0"/>
                        <a:ea typeface="Verdana" panose="020B060403050404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>
                          <a:effectLst/>
                          <a:latin typeface="Calibri" panose="020F0502020204030204" pitchFamily="34" charset="0"/>
                          <a:ea typeface="Verdana" panose="020B0604030504040204" pitchFamily="34" charset="0"/>
                          <a:cs typeface="Calibri" panose="020F0502020204030204" pitchFamily="34" charset="0"/>
                        </a:rPr>
                        <a:t>Unfit</a:t>
                      </a:r>
                    </a:p>
                    <a:p>
                      <a:pPr algn="ctr"/>
                      <a:r>
                        <a:rPr lang="en-US" sz="2000" b="1" dirty="0">
                          <a:effectLst/>
                          <a:latin typeface="Calibri" panose="020F0502020204030204" pitchFamily="34" charset="0"/>
                          <a:ea typeface="Verdana" panose="020B0604030504040204" pitchFamily="34" charset="0"/>
                          <a:cs typeface="Calibri" panose="020F0502020204030204" pitchFamily="34" charset="0"/>
                        </a:rPr>
                        <a:t>5</a:t>
                      </a:r>
                      <a:endParaRPr lang="en-US" sz="2000" dirty="0">
                        <a:effectLst/>
                        <a:latin typeface="Calibri" panose="020F0502020204030204" pitchFamily="34" charset="0"/>
                        <a:ea typeface="Verdana" panose="020B060403050404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19788032"/>
                  </a:ext>
                </a:extLst>
              </a:tr>
              <a:tr h="1365753">
                <a:tc rowSpan="2">
                  <a:txBody>
                    <a:bodyPr/>
                    <a:lstStyle/>
                    <a:p>
                      <a:pPr algn="ctr"/>
                      <a:r>
                        <a:rPr lang="en-US" sz="2000" b="1" i="0" dirty="0">
                          <a:solidFill>
                            <a:srgbClr val="202122"/>
                          </a:solidFill>
                          <a:effectLst/>
                          <a:latin typeface="Calibri" panose="020F0502020204030204" pitchFamily="34" charset="0"/>
                          <a:ea typeface="Verdana" panose="020B0604030504040204" pitchFamily="34" charset="0"/>
                          <a:cs typeface="Calibri" panose="020F0502020204030204" pitchFamily="34" charset="0"/>
                        </a:rPr>
                        <a:t>Actual condition</a:t>
                      </a:r>
                      <a:endParaRPr lang="en-US" sz="2000" dirty="0">
                        <a:latin typeface="Calibri" panose="020F0502020204030204" pitchFamily="34" charset="0"/>
                        <a:ea typeface="Verdana" panose="020B0604030504040204" pitchFamily="34" charset="0"/>
                        <a:cs typeface="Calibri" panose="020F0502020204030204" pitchFamily="34" charset="0"/>
                      </a:endParaRPr>
                    </a:p>
                  </a:txBody>
                  <a:tcPr vert="vert27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>
                          <a:effectLst/>
                          <a:latin typeface="Calibri" panose="020F0502020204030204" pitchFamily="34" charset="0"/>
                          <a:ea typeface="Verdana" panose="020B0604030504040204" pitchFamily="34" charset="0"/>
                          <a:cs typeface="Calibri" panose="020F0502020204030204" pitchFamily="34" charset="0"/>
                        </a:rPr>
                        <a:t>Fit</a:t>
                      </a:r>
                    </a:p>
                    <a:p>
                      <a:pPr algn="ctr"/>
                      <a:r>
                        <a:rPr lang="en-US" sz="2000" b="1" dirty="0">
                          <a:effectLst/>
                          <a:latin typeface="Calibri" panose="020F0502020204030204" pitchFamily="34" charset="0"/>
                          <a:ea typeface="Verdana" panose="020B0604030504040204" pitchFamily="34" charset="0"/>
                          <a:cs typeface="Calibri" panose="020F0502020204030204" pitchFamily="34" charset="0"/>
                        </a:rPr>
                        <a:t>8</a:t>
                      </a:r>
                      <a:endParaRPr lang="en-US" sz="2000" dirty="0">
                        <a:effectLst/>
                        <a:latin typeface="Calibri" panose="020F0502020204030204" pitchFamily="34" charset="0"/>
                        <a:ea typeface="Verdana" panose="020B060403050404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Calibri" panose="020F0502020204030204" pitchFamily="34" charset="0"/>
                          <a:ea typeface="Verdana" panose="020B0604030504040204" pitchFamily="34" charset="0"/>
                          <a:cs typeface="Calibri" panose="020F0502020204030204" pitchFamily="34" charset="0"/>
                        </a:rPr>
                        <a:t>6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A3F5F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Calibri" panose="020F0502020204030204" pitchFamily="34" charset="0"/>
                          <a:ea typeface="Verdana" panose="020B0604030504040204" pitchFamily="34" charset="0"/>
                          <a:cs typeface="Calibri" panose="020F0502020204030204" pitchFamily="34" charset="0"/>
                        </a:rPr>
                        <a:t>2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14465807"/>
                  </a:ext>
                </a:extLst>
              </a:tr>
              <a:tr h="1365753">
                <a:tc v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>
                          <a:effectLst/>
                          <a:latin typeface="Calibri" panose="020F0502020204030204" pitchFamily="34" charset="0"/>
                          <a:ea typeface="Verdana" panose="020B0604030504040204" pitchFamily="34" charset="0"/>
                          <a:cs typeface="Calibri" panose="020F0502020204030204" pitchFamily="34" charset="0"/>
                        </a:rPr>
                        <a:t>Unfit</a:t>
                      </a:r>
                    </a:p>
                    <a:p>
                      <a:pPr algn="ctr"/>
                      <a:r>
                        <a:rPr lang="en-US" sz="2000" b="1" dirty="0">
                          <a:effectLst/>
                          <a:latin typeface="Calibri" panose="020F0502020204030204" pitchFamily="34" charset="0"/>
                          <a:ea typeface="Verdana" panose="020B0604030504040204" pitchFamily="34" charset="0"/>
                          <a:cs typeface="Calibri" panose="020F0502020204030204" pitchFamily="34" charset="0"/>
                        </a:rPr>
                        <a:t>4</a:t>
                      </a:r>
                      <a:endParaRPr lang="en-US" sz="2000" dirty="0">
                        <a:effectLst/>
                        <a:latin typeface="Calibri" panose="020F0502020204030204" pitchFamily="34" charset="0"/>
                        <a:ea typeface="Verdana" panose="020B060403050404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Calibri" panose="020F0502020204030204" pitchFamily="34" charset="0"/>
                          <a:ea typeface="Verdana" panose="020B0604030504040204" pitchFamily="34" charset="0"/>
                          <a:cs typeface="Calibri" panose="020F0502020204030204" pitchFamily="34" charset="0"/>
                        </a:rPr>
                        <a:t>1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Calibri" panose="020F0502020204030204" pitchFamily="34" charset="0"/>
                          <a:ea typeface="Verdana" panose="020B0604030504040204" pitchFamily="34" charset="0"/>
                          <a:cs typeface="Calibri" panose="020F0502020204030204" pitchFamily="34" charset="0"/>
                        </a:rPr>
                        <a:t>3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A3F5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86566806"/>
                  </a:ext>
                </a:extLst>
              </a:tr>
            </a:tbl>
          </a:graphicData>
        </a:graphic>
      </p:graphicFrame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419E09A1-CA08-4392-8837-5166022A43EE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3489950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2"/>
          <p:cNvSpPr txBox="1">
            <a:spLocks noGrp="1"/>
          </p:cNvSpPr>
          <p:nvPr>
            <p:ph type="title"/>
          </p:nvPr>
        </p:nvSpPr>
        <p:spPr>
          <a:xfrm>
            <a:off x="1018675" y="0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r>
              <a:rPr lang="en-US" dirty="0"/>
              <a:t>Accuracy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1" name="Google Shape;91;p2"/>
              <p:cNvSpPr txBox="1">
                <a:spLocks noGrp="1"/>
              </p:cNvSpPr>
              <p:nvPr>
                <p:ph type="body" idx="1"/>
              </p:nvPr>
            </p:nvSpPr>
            <p:spPr>
              <a:xfrm>
                <a:off x="627184" y="1325699"/>
                <a:ext cx="10433165" cy="497782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45700" rIns="91425" bIns="45700" anchor="t" anchorCtr="0">
                <a:normAutofit/>
              </a:bodyPr>
              <a:lstStyle/>
              <a:p>
                <a:pPr>
                  <a:lnSpc>
                    <a:spcPct val="150000"/>
                  </a:lnSpc>
                </a:pPr>
                <a:r>
                  <a:rPr lang="en-US" dirty="0"/>
                  <a:t>Accuracy is the measure of correctness of the model. </a:t>
                </a:r>
              </a:p>
              <a:p>
                <a:pPr>
                  <a:lnSpc>
                    <a:spcPct val="150000"/>
                  </a:lnSpc>
                </a:pPr>
                <a:r>
                  <a:rPr lang="en-US" dirty="0"/>
                  <a:t>It is the ratio of correctly classified samples (both positive and negative) and the total number of samples. </a:t>
                </a:r>
              </a:p>
              <a:p>
                <a:pPr>
                  <a:lnSpc>
                    <a:spcPct val="150000"/>
                  </a:lnSpc>
                </a:pP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𝐴𝑐𝑐𝑢𝑟𝑎𝑐𝑦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𝑇𝑃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𝑇𝑁</m:t>
                        </m:r>
                      </m:num>
                      <m:den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𝑇𝑃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𝑇𝑁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𝐹𝑃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𝐹𝑁</m:t>
                        </m:r>
                      </m:den>
                    </m:f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𝑐𝑜𝑟𝑟𝑒𝑐𝑡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𝑝𝑟𝑒𝑑𝑖𝑐𝑡𝑖𝑜𝑛𝑠</m:t>
                        </m:r>
                      </m:num>
                      <m:den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𝑎𝑙𝑙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𝑝𝑟𝑒𝑑𝑖𝑐𝑡𝑖𝑜𝑛𝑠</m:t>
                        </m:r>
                      </m:den>
                    </m:f>
                  </m:oMath>
                </a14:m>
                <a:r>
                  <a:rPr lang="en-US" dirty="0"/>
                  <a:t> </a:t>
                </a:r>
              </a:p>
              <a:p>
                <a:pPr>
                  <a:lnSpc>
                    <a:spcPct val="150000"/>
                  </a:lnSpc>
                </a:pPr>
                <a:r>
                  <a:rPr lang="en-US" dirty="0"/>
                  <a:t>Accuracy is how close a given set of measurements are to their true value.</a:t>
                </a:r>
              </a:p>
            </p:txBody>
          </p:sp>
        </mc:Choice>
        <mc:Fallback xmlns="">
          <p:sp>
            <p:nvSpPr>
              <p:cNvPr id="91" name="Google Shape;91;p2"/>
              <p:cNvSpPr txBox="1"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xfrm>
                <a:off x="627184" y="1325699"/>
                <a:ext cx="10433165" cy="4977824"/>
              </a:xfrm>
              <a:prstGeom prst="rect">
                <a:avLst/>
              </a:prstGeom>
              <a:blipFill>
                <a:blip r:embed="rId3"/>
                <a:stretch>
                  <a:fillRect r="-1695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23FE6CE4-3C00-4CE5-85C2-8834641F5180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5728513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B32F06-9CBC-76B9-63F7-3658C8E933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F49A50-0876-440A-F5A4-0080D6EC5B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1325563"/>
          </a:xfrm>
        </p:spPr>
        <p:txBody>
          <a:bodyPr/>
          <a:lstStyle/>
          <a:p>
            <a:r>
              <a:rPr lang="en-US" dirty="0"/>
              <a:t>Drawbacks of Accuracy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4E80E95-E809-EF3B-967F-E192C13247C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1" y="1325563"/>
            <a:ext cx="10515599" cy="3451455"/>
          </a:xfrm>
        </p:spPr>
        <p:txBody>
          <a:bodyPr>
            <a:normAutofit fontScale="92500"/>
          </a:bodyPr>
          <a:lstStyle/>
          <a:p>
            <a:pPr algn="just">
              <a:lnSpc>
                <a:spcPct val="150000"/>
              </a:lnSpc>
            </a:pPr>
            <a:r>
              <a:rPr lang="en-US" dirty="0"/>
              <a:t>It fails when the classes are imbalanced</a:t>
            </a:r>
          </a:p>
          <a:p>
            <a:pPr algn="just">
              <a:lnSpc>
                <a:spcPct val="150000"/>
              </a:lnSpc>
            </a:pPr>
            <a:r>
              <a:rPr lang="en-US" dirty="0"/>
              <a:t>Suppose a test dataset has a 99 : 1 ratio denoting Negative : Positive classes</a:t>
            </a:r>
          </a:p>
          <a:p>
            <a:pPr algn="just">
              <a:lnSpc>
                <a:spcPct val="150000"/>
              </a:lnSpc>
            </a:pPr>
            <a:r>
              <a:rPr lang="en-US" dirty="0"/>
              <a:t>A model that can classify all the instances as negative will get an accuracy of 99%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3993B93-450E-4E2C-A19A-DA0D2238B33E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8739386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2"/>
          <p:cNvSpPr txBox="1">
            <a:spLocks noGrp="1"/>
          </p:cNvSpPr>
          <p:nvPr>
            <p:ph type="title"/>
          </p:nvPr>
        </p:nvSpPr>
        <p:spPr>
          <a:xfrm>
            <a:off x="1018675" y="0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r>
              <a:rPr lang="en-US" dirty="0"/>
              <a:t>Precision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1" name="Google Shape;91;p2"/>
              <p:cNvSpPr txBox="1">
                <a:spLocks noGrp="1"/>
              </p:cNvSpPr>
              <p:nvPr>
                <p:ph type="body" idx="1"/>
              </p:nvPr>
            </p:nvSpPr>
            <p:spPr>
              <a:xfrm>
                <a:off x="627184" y="1325699"/>
                <a:ext cx="10433165" cy="497782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45700" rIns="91425" bIns="45700" anchor="t" anchorCtr="0">
                <a:normAutofit/>
              </a:bodyPr>
              <a:lstStyle/>
              <a:p>
                <a:pPr>
                  <a:lnSpc>
                    <a:spcPct val="150000"/>
                  </a:lnSpc>
                </a:pPr>
                <a:r>
                  <a:rPr lang="en-US" dirty="0"/>
                  <a:t>Measures the correctness of the positive predictions. </a:t>
                </a:r>
              </a:p>
              <a:p>
                <a:pPr>
                  <a:lnSpc>
                    <a:spcPct val="150000"/>
                  </a:lnSpc>
                </a:pPr>
                <a:r>
                  <a:rPr lang="en-US" dirty="0"/>
                  <a:t>Also known as Positive Predictive Value (PPV)</a:t>
                </a:r>
              </a:p>
              <a:p>
                <a:pPr>
                  <a:lnSpc>
                    <a:spcPct val="150000"/>
                  </a:lnSpc>
                </a:pP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𝑃𝑟𝑒𝑐𝑖𝑠𝑖𝑜𝑛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𝑇𝑃</m:t>
                        </m:r>
                      </m:num>
                      <m:den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𝑇𝑃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𝐹𝑃</m:t>
                        </m:r>
                      </m:den>
                    </m:f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𝑐𝑜𝑟𝑟𝑒𝑐𝑡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𝑝𝑜𝑠𝑖𝑡𝑖𝑣𝑒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𝑝𝑟𝑒𝑑𝑖𝑐𝑡𝑖𝑜𝑛𝑠</m:t>
                        </m:r>
                      </m:num>
                      <m:den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𝑎𝑙𝑙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𝑝𝑜𝑠𝑖𝑡𝑖𝑣𝑒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𝑝𝑟𝑒𝑑𝑖𝑐𝑡𝑖𝑜𝑛𝑠</m:t>
                        </m:r>
                      </m:den>
                    </m:f>
                  </m:oMath>
                </a14:m>
                <a:r>
                  <a:rPr lang="en-US" dirty="0"/>
                  <a:t> </a:t>
                </a:r>
              </a:p>
              <a:p>
                <a:pPr>
                  <a:lnSpc>
                    <a:spcPct val="150000"/>
                  </a:lnSpc>
                </a:pPr>
                <a:r>
                  <a:rPr lang="en-US" dirty="0"/>
                  <a:t>Precision is how close the measurements are to each other.</a:t>
                </a:r>
              </a:p>
            </p:txBody>
          </p:sp>
        </mc:Choice>
        <mc:Fallback xmlns="">
          <p:sp>
            <p:nvSpPr>
              <p:cNvPr id="91" name="Google Shape;91;p2"/>
              <p:cNvSpPr txBox="1"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xfrm>
                <a:off x="627184" y="1325699"/>
                <a:ext cx="10433165" cy="4977824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BC464BD0-2D11-4EBD-8CF6-A1BCD8C6329E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8358985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2"/>
          <p:cNvSpPr txBox="1">
            <a:spLocks noGrp="1"/>
          </p:cNvSpPr>
          <p:nvPr>
            <p:ph type="title"/>
          </p:nvPr>
        </p:nvSpPr>
        <p:spPr>
          <a:xfrm>
            <a:off x="1018675" y="0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r>
              <a:rPr lang="en-US" dirty="0"/>
              <a:t>Sensitivity / Recall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1" name="Google Shape;91;p2"/>
              <p:cNvSpPr txBox="1">
                <a:spLocks noGrp="1"/>
              </p:cNvSpPr>
              <p:nvPr>
                <p:ph type="body" idx="1"/>
              </p:nvPr>
            </p:nvSpPr>
            <p:spPr>
              <a:xfrm>
                <a:off x="627184" y="1325699"/>
                <a:ext cx="10433165" cy="497782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45700" rIns="91425" bIns="45700" anchor="t" anchorCtr="0">
                <a:normAutofit/>
              </a:bodyPr>
              <a:lstStyle/>
              <a:p>
                <a:pPr>
                  <a:lnSpc>
                    <a:spcPct val="150000"/>
                  </a:lnSpc>
                </a:pPr>
                <a:r>
                  <a:rPr lang="en-US" dirty="0"/>
                  <a:t>It measures the proportion of true and actual positives</a:t>
                </a:r>
              </a:p>
              <a:p>
                <a:pPr>
                  <a:lnSpc>
                    <a:spcPct val="150000"/>
                  </a:lnSpc>
                </a:pPr>
                <a:r>
                  <a:rPr lang="en-US" dirty="0"/>
                  <a:t>Also known as True Positive Rate (TPR)</a:t>
                </a:r>
              </a:p>
              <a:p>
                <a:pPr>
                  <a:lnSpc>
                    <a:spcPct val="150000"/>
                  </a:lnSpc>
                </a:pP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𝑆𝑒𝑛𝑠𝑖𝑡𝑖𝑣𝑖𝑡𝑦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𝑇𝑃</m:t>
                        </m:r>
                      </m:num>
                      <m:den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𝑇𝑃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𝐹𝑁</m:t>
                        </m:r>
                      </m:den>
                    </m:f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i="1">
                            <a:latin typeface="Cambria Math" panose="02040503050406030204" pitchFamily="18" charset="0"/>
                          </a:rPr>
                          <m:t>𝑐𝑜𝑟𝑟𝑒𝑐𝑡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𝑝𝑜𝑠𝑖𝑡𝑖𝑣𝑒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𝑝𝑟𝑒𝑑𝑖𝑐𝑡𝑖𝑜𝑛𝑠</m:t>
                        </m:r>
                      </m:num>
                      <m:den>
                        <m:r>
                          <a:rPr lang="en-US" i="1">
                            <a:latin typeface="Cambria Math" panose="02040503050406030204" pitchFamily="18" charset="0"/>
                          </a:rPr>
                          <m:t>𝑎𝑙𝑙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𝑎𝑐𝑡𝑢𝑎𝑙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𝑝𝑜𝑠𝑖𝑡𝑖𝑣𝑒𝑠</m:t>
                        </m:r>
                      </m:den>
                    </m:f>
                  </m:oMath>
                </a14:m>
                <a:r>
                  <a:rPr lang="en-US" dirty="0"/>
                  <a:t> </a:t>
                </a:r>
              </a:p>
              <a:p>
                <a:pPr>
                  <a:lnSpc>
                    <a:spcPct val="150000"/>
                  </a:lnSpc>
                </a:pPr>
                <a:r>
                  <a:rPr lang="en-US" dirty="0"/>
                  <a:t>It is the probability of a positive test result, conditioned on the individual truly being positive</a:t>
                </a:r>
              </a:p>
            </p:txBody>
          </p:sp>
        </mc:Choice>
        <mc:Fallback xmlns="">
          <p:sp>
            <p:nvSpPr>
              <p:cNvPr id="91" name="Google Shape;91;p2"/>
              <p:cNvSpPr txBox="1"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xfrm>
                <a:off x="627184" y="1325699"/>
                <a:ext cx="10433165" cy="4977824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0EC85F00-F676-42FF-89E2-899A08896FDE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0189143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2"/>
          <p:cNvSpPr txBox="1">
            <a:spLocks noGrp="1"/>
          </p:cNvSpPr>
          <p:nvPr>
            <p:ph type="title"/>
          </p:nvPr>
        </p:nvSpPr>
        <p:spPr>
          <a:xfrm>
            <a:off x="1018675" y="0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r>
              <a:rPr lang="en-US" dirty="0"/>
              <a:t>Specificity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1" name="Google Shape;91;p2"/>
              <p:cNvSpPr txBox="1">
                <a:spLocks noGrp="1"/>
              </p:cNvSpPr>
              <p:nvPr>
                <p:ph type="body" idx="1"/>
              </p:nvPr>
            </p:nvSpPr>
            <p:spPr>
              <a:xfrm>
                <a:off x="627184" y="1325699"/>
                <a:ext cx="10433165" cy="497782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45700" rIns="91425" bIns="45700" anchor="t" anchorCtr="0">
                <a:normAutofit/>
              </a:bodyPr>
              <a:lstStyle/>
              <a:p>
                <a:pPr>
                  <a:lnSpc>
                    <a:spcPct val="150000"/>
                  </a:lnSpc>
                </a:pPr>
                <a:r>
                  <a:rPr lang="en-US" dirty="0"/>
                  <a:t>It measures the proportion of true and actual negatives</a:t>
                </a:r>
              </a:p>
              <a:p>
                <a:pPr>
                  <a:lnSpc>
                    <a:spcPct val="150000"/>
                  </a:lnSpc>
                </a:pPr>
                <a:r>
                  <a:rPr lang="en-US" dirty="0"/>
                  <a:t>Also known as True Negative Rate (TNR)</a:t>
                </a:r>
              </a:p>
              <a:p>
                <a:pPr>
                  <a:lnSpc>
                    <a:spcPct val="150000"/>
                  </a:lnSpc>
                </a:pP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𝑆𝑝𝑒𝑐𝑖𝑓𝑖𝑐𝑖𝑡𝑦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𝑇𝑁</m:t>
                        </m:r>
                      </m:num>
                      <m:den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𝑇𝑁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𝐹𝑃</m:t>
                        </m:r>
                      </m:den>
                    </m:f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i="1">
                            <a:latin typeface="Cambria Math" panose="02040503050406030204" pitchFamily="18" charset="0"/>
                          </a:rPr>
                          <m:t>𝑐𝑜𝑟𝑟𝑒𝑐𝑡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𝑛𝑒𝑔𝑎𝑡𝑖𝑣𝑒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𝑝𝑟𝑒𝑑𝑖𝑐𝑡𝑖𝑜𝑛𝑠</m:t>
                        </m:r>
                      </m:num>
                      <m:den>
                        <m:r>
                          <a:rPr lang="en-US" i="1">
                            <a:latin typeface="Cambria Math" panose="02040503050406030204" pitchFamily="18" charset="0"/>
                          </a:rPr>
                          <m:t>𝑎𝑙𝑙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𝑎𝑐𝑡𝑢𝑎𝑙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𝑛𝑒𝑔𝑎𝑡𝑖𝑣𝑒𝑠</m:t>
                        </m:r>
                      </m:den>
                    </m:f>
                  </m:oMath>
                </a14:m>
                <a:r>
                  <a:rPr lang="en-US" dirty="0"/>
                  <a:t> </a:t>
                </a:r>
              </a:p>
              <a:p>
                <a:pPr>
                  <a:lnSpc>
                    <a:spcPct val="150000"/>
                  </a:lnSpc>
                </a:pPr>
                <a:r>
                  <a:rPr lang="en-US" dirty="0"/>
                  <a:t>It is the probability of a negative test result, conditioned on the individual truly being negative</a:t>
                </a:r>
              </a:p>
            </p:txBody>
          </p:sp>
        </mc:Choice>
        <mc:Fallback xmlns="">
          <p:sp>
            <p:nvSpPr>
              <p:cNvPr id="91" name="Google Shape;91;p2"/>
              <p:cNvSpPr txBox="1"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xfrm>
                <a:off x="627184" y="1325699"/>
                <a:ext cx="10433165" cy="4977824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D7B04AD6-F7D1-48F9-BCE8-E6ACC2C5D7B8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1529122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B32F06-9CBC-76B9-63F7-3658C8E933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F49A50-0876-440A-F5A4-0080D6EC5B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1325563"/>
          </a:xfrm>
        </p:spPr>
        <p:txBody>
          <a:bodyPr/>
          <a:lstStyle/>
          <a:p>
            <a:r>
              <a:rPr lang="en-US" dirty="0"/>
              <a:t>Precision-Recall Tradeoff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4E80E95-E809-EF3B-967F-E192C13247C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1" y="1414584"/>
            <a:ext cx="10515599" cy="3451455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en-US" dirty="0"/>
              <a:t>Improving precision decreases recall, and vice versa.</a:t>
            </a:r>
          </a:p>
          <a:p>
            <a:pPr algn="just">
              <a:lnSpc>
                <a:spcPct val="150000"/>
              </a:lnSpc>
            </a:pPr>
            <a:r>
              <a:rPr lang="en-US" dirty="0"/>
              <a:t>A model trying to increase precision reduces the occurrence of false positives and the opposite for false negatives</a:t>
            </a:r>
          </a:p>
          <a:p>
            <a:pPr algn="just">
              <a:lnSpc>
                <a:spcPct val="150000"/>
              </a:lnSpc>
            </a:pPr>
            <a:r>
              <a:rPr lang="en-US" dirty="0"/>
              <a:t>A harmonic mean of these gives us a better insight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56E1A4A-7A91-4635-A70D-70812E850F7A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465328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2"/>
          <p:cNvSpPr txBox="1">
            <a:spLocks noGrp="1"/>
          </p:cNvSpPr>
          <p:nvPr>
            <p:ph type="title"/>
          </p:nvPr>
        </p:nvSpPr>
        <p:spPr>
          <a:xfrm>
            <a:off x="1018675" y="0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r>
              <a:rPr lang="en-US" dirty="0"/>
              <a:t>F-measure / F-score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1" name="Google Shape;91;p2"/>
              <p:cNvSpPr txBox="1">
                <a:spLocks noGrp="1"/>
              </p:cNvSpPr>
              <p:nvPr>
                <p:ph type="body" idx="1"/>
              </p:nvPr>
            </p:nvSpPr>
            <p:spPr>
              <a:xfrm>
                <a:off x="627184" y="1325699"/>
                <a:ext cx="10433165" cy="497782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45700" rIns="91425" bIns="45700" anchor="t" anchorCtr="0">
                <a:normAutofit/>
              </a:bodyPr>
              <a:lstStyle/>
              <a:p>
                <a:pPr>
                  <a:lnSpc>
                    <a:spcPct val="150000"/>
                  </a:lnSpc>
                </a:pPr>
                <a:r>
                  <a:rPr lang="en-US" dirty="0"/>
                  <a:t>F-measure is a measure of predictive performance</a:t>
                </a:r>
              </a:p>
              <a:p>
                <a:pPr>
                  <a:lnSpc>
                    <a:spcPct val="150000"/>
                  </a:lnSpc>
                </a:pPr>
                <a:r>
                  <a:rPr lang="en-US" dirty="0"/>
                  <a:t>F</a:t>
                </a:r>
                <a:r>
                  <a:rPr lang="en-US" baseline="-25000" dirty="0"/>
                  <a:t>1</a:t>
                </a:r>
                <a:r>
                  <a:rPr lang="en-US" dirty="0"/>
                  <a:t> – score is the harmonic mean of precision and recall</a:t>
                </a:r>
              </a:p>
              <a:p>
                <a:pPr lvl="1">
                  <a:lnSpc>
                    <a:spcPct val="150000"/>
                  </a:lnSpc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𝐹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𝑝𝑟𝑒𝑐𝑖𝑠𝑖𝑜</m:t>
                        </m:r>
                        <m:sSup>
                          <m:sSup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  <m:sup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−1</m:t>
                            </m:r>
                          </m:sup>
                        </m:s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 + 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𝑟𝑒𝑐𝑎𝑙</m:t>
                        </m:r>
                        <m:sSup>
                          <m:sSup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𝑙</m:t>
                            </m:r>
                          </m:e>
                          <m:sup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−1</m:t>
                            </m:r>
                          </m:sup>
                        </m:sSup>
                      </m:den>
                    </m:f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2 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× 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𝑝𝑟𝑒𝑐𝑖𝑠𝑖𝑜𝑛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 × 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𝑟𝑒𝑐𝑎𝑙𝑙</m:t>
                        </m:r>
                      </m:num>
                      <m:den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𝑝𝑟𝑒𝑐𝑖𝑠𝑖𝑜𝑛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 + 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𝑟𝑒𝑐𝑎𝑙𝑙</m:t>
                        </m:r>
                      </m:den>
                    </m:f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91" name="Google Shape;91;p2"/>
              <p:cNvSpPr txBox="1"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xfrm>
                <a:off x="627184" y="1325699"/>
                <a:ext cx="10433165" cy="4977824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8C6B7712-6413-45F6-BBBC-CD2C2CB6DE94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1976699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2"/>
          <p:cNvSpPr txBox="1">
            <a:spLocks noGrp="1"/>
          </p:cNvSpPr>
          <p:nvPr>
            <p:ph type="title"/>
          </p:nvPr>
        </p:nvSpPr>
        <p:spPr>
          <a:xfrm>
            <a:off x="1018675" y="0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r>
              <a:rPr lang="en-US" dirty="0"/>
              <a:t>F-measure / F-score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1" name="Google Shape;91;p2"/>
              <p:cNvSpPr txBox="1">
                <a:spLocks noGrp="1"/>
              </p:cNvSpPr>
              <p:nvPr>
                <p:ph type="body" idx="1"/>
              </p:nvPr>
            </p:nvSpPr>
            <p:spPr>
              <a:xfrm>
                <a:off x="627184" y="1325699"/>
                <a:ext cx="10433165" cy="497782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45700" rIns="91425" bIns="45700" anchor="t" anchorCtr="0">
                <a:normAutofit/>
              </a:bodyPr>
              <a:lstStyle/>
              <a:p>
                <a:pPr>
                  <a:lnSpc>
                    <a:spcPct val="150000"/>
                  </a:lnSpc>
                </a:pPr>
                <a:r>
                  <a:rPr lang="en-US" dirty="0"/>
                  <a:t>F</a:t>
                </a:r>
                <a:r>
                  <a:rPr lang="el-GR" baseline="-25000" dirty="0"/>
                  <a:t>β</a:t>
                </a:r>
                <a:r>
                  <a:rPr lang="el-GR" dirty="0"/>
                  <a:t> </a:t>
                </a:r>
                <a:r>
                  <a:rPr lang="en-US" dirty="0"/>
                  <a:t>– score: recall is considered β times as important as precision</a:t>
                </a:r>
              </a:p>
              <a:p>
                <a:pPr lvl="1">
                  <a:lnSpc>
                    <a:spcPct val="150000"/>
                  </a:lnSpc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𝐹</m:t>
                        </m:r>
                      </m:e>
                      <m:sub>
                        <m:r>
                          <a:rPr lang="en-US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𝛽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d>
                          <m:d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1 + </m:t>
                            </m:r>
                            <m:sSup>
                              <m:sSup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𝛽</m:t>
                                </m:r>
                              </m:e>
                              <m:sup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e>
                        </m:d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 </m:t>
                        </m:r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×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 </m:t>
                        </m:r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𝑝𝑟𝑒𝑐𝑖𝑠𝑖𝑜𝑛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 </m:t>
                        </m:r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×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 </m:t>
                        </m:r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𝑟𝑒𝑐𝑎𝑙𝑙</m:t>
                        </m:r>
                      </m:num>
                      <m:den>
                        <m:sSup>
                          <m:sSupPr>
                            <m:ctrlP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en-US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𝛽</m:t>
                            </m:r>
                          </m:e>
                          <m:sup>
                            <m: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 </m:t>
                        </m:r>
                        <m:r>
                          <a:rPr lang="en-US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×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 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𝑝𝑟𝑒𝑐𝑖𝑠𝑖𝑜𝑛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) 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𝑟𝑒𝑐𝑎𝑙𝑙</m:t>
                        </m:r>
                      </m:den>
                    </m:f>
                  </m:oMath>
                </a14:m>
                <a:endParaRPr lang="en-US" dirty="0"/>
              </a:p>
              <a:p>
                <a:pPr lvl="1">
                  <a:lnSpc>
                    <a:spcPct val="150000"/>
                  </a:lnSpc>
                </a:pPr>
                <a:r>
                  <a:rPr lang="en-US" dirty="0"/>
                  <a:t>If β = 1, the F</a:t>
                </a:r>
                <a:r>
                  <a:rPr lang="el-GR" baseline="-25000" dirty="0"/>
                  <a:t>β</a:t>
                </a:r>
                <a:r>
                  <a:rPr lang="en-US" dirty="0"/>
                  <a:t> score is the F</a:t>
                </a:r>
                <a:r>
                  <a:rPr lang="en-US" baseline="-25000" dirty="0"/>
                  <a:t>1</a:t>
                </a:r>
                <a:r>
                  <a:rPr lang="en-US" dirty="0"/>
                  <a:t> score, which gives equal weight to precision and recall</a:t>
                </a:r>
              </a:p>
              <a:p>
                <a:pPr lvl="1">
                  <a:lnSpc>
                    <a:spcPct val="150000"/>
                  </a:lnSpc>
                </a:pPr>
                <a:r>
                  <a:rPr lang="en-US" dirty="0"/>
                  <a:t>If β &gt; 1, the formula penalizes precision more (prioritizes recall)</a:t>
                </a:r>
              </a:p>
              <a:p>
                <a:pPr lvl="1">
                  <a:lnSpc>
                    <a:spcPct val="150000"/>
                  </a:lnSpc>
                </a:pPr>
                <a:r>
                  <a:rPr lang="en-US" dirty="0"/>
                  <a:t>If β &lt; 1, the formula penalizes recall more (prioritizes precision)</a:t>
                </a:r>
              </a:p>
            </p:txBody>
          </p:sp>
        </mc:Choice>
        <mc:Fallback xmlns="">
          <p:sp>
            <p:nvSpPr>
              <p:cNvPr id="91" name="Google Shape;91;p2"/>
              <p:cNvSpPr txBox="1"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xfrm>
                <a:off x="627184" y="1325699"/>
                <a:ext cx="10433165" cy="4977824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E5B8AE4D-3BC0-48A4-AAF8-921D8C0AA7E8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6105276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2"/>
          <p:cNvSpPr txBox="1">
            <a:spLocks noGrp="1"/>
          </p:cNvSpPr>
          <p:nvPr>
            <p:ph type="title"/>
          </p:nvPr>
        </p:nvSpPr>
        <p:spPr>
          <a:xfrm>
            <a:off x="1018675" y="0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r>
              <a:rPr lang="en-US" dirty="0"/>
              <a:t>Confusion matrices with more categories</a:t>
            </a:r>
          </a:p>
        </p:txBody>
      </p:sp>
      <p:sp>
        <p:nvSpPr>
          <p:cNvPr id="91" name="Google Shape;91;p2"/>
          <p:cNvSpPr txBox="1">
            <a:spLocks noGrp="1"/>
          </p:cNvSpPr>
          <p:nvPr>
            <p:ph type="body" idx="1"/>
          </p:nvPr>
        </p:nvSpPr>
        <p:spPr>
          <a:xfrm>
            <a:off x="627184" y="932688"/>
            <a:ext cx="10433165" cy="53708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>
              <a:lnSpc>
                <a:spcPct val="150000"/>
              </a:lnSpc>
            </a:pPr>
            <a:r>
              <a:rPr lang="en-US" dirty="0"/>
              <a:t>Confusion matrix can be used in multi-class classifiers</a:t>
            </a:r>
          </a:p>
          <a:p>
            <a:pPr>
              <a:lnSpc>
                <a:spcPct val="150000"/>
              </a:lnSpc>
            </a:pPr>
            <a:endParaRPr lang="en-US" dirty="0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53562A67-D560-4A0F-90B7-BC8053DFC78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62783158"/>
              </p:ext>
            </p:extLst>
          </p:nvPr>
        </p:nvGraphicFramePr>
        <p:xfrm>
          <a:off x="3156759" y="2217094"/>
          <a:ext cx="5374013" cy="4086429"/>
        </p:xfrm>
        <a:graphic>
          <a:graphicData uri="http://schemas.openxmlformats.org/drawingml/2006/table">
            <a:tbl>
              <a:tblPr firstRow="1" bandRow="1">
                <a:tableStyleId>{B0C9AC0D-79A4-41F8-9187-85EBDDFB2577}</a:tableStyleId>
              </a:tblPr>
              <a:tblGrid>
                <a:gridCol w="517941">
                  <a:extLst>
                    <a:ext uri="{9D8B030D-6E8A-4147-A177-3AD203B41FA5}">
                      <a16:colId xmlns:a16="http://schemas.microsoft.com/office/drawing/2014/main" val="2969299066"/>
                    </a:ext>
                  </a:extLst>
                </a:gridCol>
                <a:gridCol w="1214018">
                  <a:extLst>
                    <a:ext uri="{9D8B030D-6E8A-4147-A177-3AD203B41FA5}">
                      <a16:colId xmlns:a16="http://schemas.microsoft.com/office/drawing/2014/main" val="4288543182"/>
                    </a:ext>
                  </a:extLst>
                </a:gridCol>
                <a:gridCol w="1214018">
                  <a:extLst>
                    <a:ext uri="{9D8B030D-6E8A-4147-A177-3AD203B41FA5}">
                      <a16:colId xmlns:a16="http://schemas.microsoft.com/office/drawing/2014/main" val="3968689968"/>
                    </a:ext>
                  </a:extLst>
                </a:gridCol>
                <a:gridCol w="1214018">
                  <a:extLst>
                    <a:ext uri="{9D8B030D-6E8A-4147-A177-3AD203B41FA5}">
                      <a16:colId xmlns:a16="http://schemas.microsoft.com/office/drawing/2014/main" val="413507065"/>
                    </a:ext>
                  </a:extLst>
                </a:gridCol>
                <a:gridCol w="1214018">
                  <a:extLst>
                    <a:ext uri="{9D8B030D-6E8A-4147-A177-3AD203B41FA5}">
                      <a16:colId xmlns:a16="http://schemas.microsoft.com/office/drawing/2014/main" val="1061436363"/>
                    </a:ext>
                  </a:extLst>
                </a:gridCol>
              </a:tblGrid>
              <a:tr h="542309">
                <a:tc>
                  <a:txBody>
                    <a:bodyPr/>
                    <a:lstStyle/>
                    <a:p>
                      <a:pPr algn="ctr"/>
                      <a:endParaRPr lang="en-US" sz="2000" dirty="0">
                        <a:latin typeface="Calibri" panose="020F0502020204030204" pitchFamily="34" charset="0"/>
                        <a:ea typeface="Verdana" panose="020B060403050404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000" dirty="0">
                        <a:latin typeface="Calibri" panose="020F0502020204030204" pitchFamily="34" charset="0"/>
                        <a:ea typeface="Verdana" panose="020B060403050404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gridSpan="3"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Calibri" panose="020F0502020204030204" pitchFamily="34" charset="0"/>
                          <a:ea typeface="Verdana" panose="020B0604030504040204" pitchFamily="34" charset="0"/>
                          <a:cs typeface="Calibri" panose="020F0502020204030204" pitchFamily="34" charset="0"/>
                        </a:rPr>
                        <a:t>Predicted condition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en-US" sz="2000" dirty="0">
                        <a:latin typeface="Calibri" panose="020F0502020204030204" pitchFamily="34" charset="0"/>
                        <a:ea typeface="Verdana" panose="020B060403050404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16600559"/>
                  </a:ext>
                </a:extLst>
              </a:tr>
              <a:tr h="886030">
                <a:tc>
                  <a:txBody>
                    <a:bodyPr/>
                    <a:lstStyle/>
                    <a:p>
                      <a:pPr algn="ctr"/>
                      <a:endParaRPr lang="en-US" sz="2000" dirty="0">
                        <a:latin typeface="Calibri" panose="020F0502020204030204" pitchFamily="34" charset="0"/>
                        <a:ea typeface="Verdana" panose="020B060403050404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Calibri" panose="020F0502020204030204" pitchFamily="34" charset="0"/>
                          <a:ea typeface="Verdana" panose="020B0604030504040204" pitchFamily="34" charset="0"/>
                          <a:cs typeface="Calibri" panose="020F0502020204030204" pitchFamily="34" charset="0"/>
                        </a:rPr>
                        <a:t>Total = 8+4 = 16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>
                          <a:effectLst/>
                          <a:latin typeface="Calibri" panose="020F0502020204030204" pitchFamily="34" charset="0"/>
                          <a:ea typeface="Verdana" panose="020B0604030504040204" pitchFamily="34" charset="0"/>
                          <a:cs typeface="Calibri" panose="020F0502020204030204" pitchFamily="34" charset="0"/>
                        </a:rPr>
                        <a:t>Fit</a:t>
                      </a:r>
                    </a:p>
                    <a:p>
                      <a:pPr algn="ctr"/>
                      <a:r>
                        <a:rPr lang="en-US" sz="2000" b="1" dirty="0">
                          <a:effectLst/>
                          <a:latin typeface="Calibri" panose="020F0502020204030204" pitchFamily="34" charset="0"/>
                          <a:ea typeface="Verdana" panose="020B0604030504040204" pitchFamily="34" charset="0"/>
                          <a:cs typeface="Calibri" panose="020F0502020204030204" pitchFamily="34" charset="0"/>
                        </a:rPr>
                        <a:t>7</a:t>
                      </a:r>
                      <a:endParaRPr lang="en-US" sz="2000" dirty="0">
                        <a:effectLst/>
                        <a:latin typeface="Calibri" panose="020F0502020204030204" pitchFamily="34" charset="0"/>
                        <a:ea typeface="Verdana" panose="020B060403050404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>
                          <a:effectLst/>
                          <a:latin typeface="Calibri" panose="020F0502020204030204" pitchFamily="34" charset="0"/>
                          <a:ea typeface="Verdana" panose="020B0604030504040204" pitchFamily="34" charset="0"/>
                          <a:cs typeface="Calibri" panose="020F0502020204030204" pitchFamily="34" charset="0"/>
                        </a:rPr>
                        <a:t>Unfit</a:t>
                      </a:r>
                    </a:p>
                    <a:p>
                      <a:pPr algn="ctr"/>
                      <a:r>
                        <a:rPr lang="en-US" sz="2000" b="1" dirty="0">
                          <a:effectLst/>
                          <a:latin typeface="Calibri" panose="020F0502020204030204" pitchFamily="34" charset="0"/>
                          <a:ea typeface="Verdana" panose="020B0604030504040204" pitchFamily="34" charset="0"/>
                          <a:cs typeface="Calibri" panose="020F0502020204030204" pitchFamily="34" charset="0"/>
                        </a:rPr>
                        <a:t>6</a:t>
                      </a:r>
                      <a:endParaRPr lang="en-US" sz="2000" dirty="0">
                        <a:effectLst/>
                        <a:latin typeface="Calibri" panose="020F0502020204030204" pitchFamily="34" charset="0"/>
                        <a:ea typeface="Verdana" panose="020B060403050404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>
                          <a:effectLst/>
                          <a:latin typeface="Calibri" panose="020F0502020204030204" pitchFamily="34" charset="0"/>
                          <a:ea typeface="Verdana" panose="020B0604030504040204" pitchFamily="34" charset="0"/>
                          <a:cs typeface="Calibri" panose="020F0502020204030204" pitchFamily="34" charset="0"/>
                        </a:rPr>
                        <a:t>At Risk</a:t>
                      </a:r>
                    </a:p>
                    <a:p>
                      <a:pPr algn="ctr"/>
                      <a:r>
                        <a:rPr lang="en-US" sz="2000" b="1" dirty="0">
                          <a:effectLst/>
                          <a:latin typeface="Calibri" panose="020F0502020204030204" pitchFamily="34" charset="0"/>
                          <a:ea typeface="Verdana" panose="020B0604030504040204" pitchFamily="34" charset="0"/>
                          <a:cs typeface="Calibri" panose="020F0502020204030204" pitchFamily="34" charset="0"/>
                        </a:rPr>
                        <a:t>3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19788032"/>
                  </a:ext>
                </a:extLst>
              </a:tr>
              <a:tr h="886030">
                <a:tc rowSpan="3">
                  <a:txBody>
                    <a:bodyPr/>
                    <a:lstStyle/>
                    <a:p>
                      <a:pPr algn="ctr"/>
                      <a:r>
                        <a:rPr lang="en-US" sz="2000" b="1" i="0" dirty="0">
                          <a:solidFill>
                            <a:srgbClr val="202122"/>
                          </a:solidFill>
                          <a:effectLst/>
                          <a:latin typeface="Calibri" panose="020F0502020204030204" pitchFamily="34" charset="0"/>
                          <a:ea typeface="Verdana" panose="020B0604030504040204" pitchFamily="34" charset="0"/>
                          <a:cs typeface="Calibri" panose="020F0502020204030204" pitchFamily="34" charset="0"/>
                        </a:rPr>
                        <a:t>Actual condition</a:t>
                      </a:r>
                      <a:endParaRPr lang="en-US" sz="2000" dirty="0">
                        <a:latin typeface="Calibri" panose="020F0502020204030204" pitchFamily="34" charset="0"/>
                        <a:ea typeface="Verdana" panose="020B0604030504040204" pitchFamily="34" charset="0"/>
                        <a:cs typeface="Calibri" panose="020F0502020204030204" pitchFamily="34" charset="0"/>
                      </a:endParaRPr>
                    </a:p>
                  </a:txBody>
                  <a:tcPr vert="vert27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>
                          <a:effectLst/>
                          <a:latin typeface="Calibri" panose="020F0502020204030204" pitchFamily="34" charset="0"/>
                          <a:ea typeface="Verdana" panose="020B0604030504040204" pitchFamily="34" charset="0"/>
                          <a:cs typeface="Calibri" panose="020F0502020204030204" pitchFamily="34" charset="0"/>
                        </a:rPr>
                        <a:t>Fit</a:t>
                      </a:r>
                    </a:p>
                    <a:p>
                      <a:pPr algn="ctr"/>
                      <a:r>
                        <a:rPr lang="en-US" sz="2000" b="1" dirty="0">
                          <a:effectLst/>
                          <a:latin typeface="Calibri" panose="020F0502020204030204" pitchFamily="34" charset="0"/>
                          <a:ea typeface="Verdana" panose="020B0604030504040204" pitchFamily="34" charset="0"/>
                          <a:cs typeface="Calibri" panose="020F0502020204030204" pitchFamily="34" charset="0"/>
                        </a:rPr>
                        <a:t>8</a:t>
                      </a:r>
                      <a:endParaRPr lang="en-US" sz="2000" dirty="0">
                        <a:effectLst/>
                        <a:latin typeface="Calibri" panose="020F0502020204030204" pitchFamily="34" charset="0"/>
                        <a:ea typeface="Verdana" panose="020B060403050404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Calibri" panose="020F0502020204030204" pitchFamily="34" charset="0"/>
                          <a:ea typeface="Verdana" panose="020B0604030504040204" pitchFamily="34" charset="0"/>
                          <a:cs typeface="Calibri" panose="020F0502020204030204" pitchFamily="34" charset="0"/>
                        </a:rPr>
                        <a:t>6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A3F5F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Calibri" panose="020F0502020204030204" pitchFamily="34" charset="0"/>
                          <a:ea typeface="Verdana" panose="020B0604030504040204" pitchFamily="34" charset="0"/>
                          <a:cs typeface="Calibri" panose="020F0502020204030204" pitchFamily="34" charset="0"/>
                        </a:rPr>
                        <a:t>2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Calibri" panose="020F0502020204030204" pitchFamily="34" charset="0"/>
                          <a:ea typeface="Verdana" panose="020B0604030504040204" pitchFamily="34" charset="0"/>
                          <a:cs typeface="Calibri" panose="020F0502020204030204" pitchFamily="34" charset="0"/>
                        </a:rPr>
                        <a:t>0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14465807"/>
                  </a:ext>
                </a:extLst>
              </a:tr>
              <a:tr h="886030">
                <a:tc v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>
                          <a:effectLst/>
                          <a:latin typeface="Calibri" panose="020F0502020204030204" pitchFamily="34" charset="0"/>
                          <a:ea typeface="Verdana" panose="020B0604030504040204" pitchFamily="34" charset="0"/>
                          <a:cs typeface="Calibri" panose="020F0502020204030204" pitchFamily="34" charset="0"/>
                        </a:rPr>
                        <a:t>Unfit</a:t>
                      </a:r>
                    </a:p>
                    <a:p>
                      <a:pPr algn="ctr"/>
                      <a:r>
                        <a:rPr lang="en-US" sz="2000" b="1" dirty="0">
                          <a:effectLst/>
                          <a:latin typeface="Calibri" panose="020F0502020204030204" pitchFamily="34" charset="0"/>
                          <a:ea typeface="Verdana" panose="020B0604030504040204" pitchFamily="34" charset="0"/>
                          <a:cs typeface="Calibri" panose="020F0502020204030204" pitchFamily="34" charset="0"/>
                        </a:rPr>
                        <a:t>4</a:t>
                      </a:r>
                      <a:endParaRPr lang="en-US" sz="2000" dirty="0">
                        <a:effectLst/>
                        <a:latin typeface="Calibri" panose="020F0502020204030204" pitchFamily="34" charset="0"/>
                        <a:ea typeface="Verdana" panose="020B060403050404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Calibri" panose="020F0502020204030204" pitchFamily="34" charset="0"/>
                          <a:ea typeface="Verdana" panose="020B0604030504040204" pitchFamily="34" charset="0"/>
                          <a:cs typeface="Calibri" panose="020F0502020204030204" pitchFamily="34" charset="0"/>
                        </a:rPr>
                        <a:t>1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Calibri" panose="020F0502020204030204" pitchFamily="34" charset="0"/>
                          <a:ea typeface="Verdana" panose="020B0604030504040204" pitchFamily="34" charset="0"/>
                          <a:cs typeface="Calibri" panose="020F0502020204030204" pitchFamily="34" charset="0"/>
                        </a:rPr>
                        <a:t>2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A3F5F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Calibri" panose="020F0502020204030204" pitchFamily="34" charset="0"/>
                          <a:ea typeface="Verdana" panose="020B0604030504040204" pitchFamily="34" charset="0"/>
                          <a:cs typeface="Calibri" panose="020F0502020204030204" pitchFamily="34" charset="0"/>
                        </a:rPr>
                        <a:t>1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86566806"/>
                  </a:ext>
                </a:extLst>
              </a:tr>
              <a:tr h="886030">
                <a:tc vMerge="1">
                  <a:txBody>
                    <a:bodyPr/>
                    <a:lstStyle/>
                    <a:p>
                      <a:pPr algn="ctr"/>
                      <a:endParaRPr lang="en-US" sz="2000" dirty="0">
                        <a:latin typeface="Calibri" panose="020F0502020204030204" pitchFamily="34" charset="0"/>
                        <a:ea typeface="Verdana" panose="020B0604030504040204" pitchFamily="34" charset="0"/>
                        <a:cs typeface="Calibri" panose="020F0502020204030204" pitchFamily="34" charset="0"/>
                      </a:endParaRPr>
                    </a:p>
                  </a:txBody>
                  <a:tcPr vert="vert27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>
                          <a:effectLst/>
                          <a:latin typeface="Calibri" panose="020F0502020204030204" pitchFamily="34" charset="0"/>
                          <a:ea typeface="Verdana" panose="020B0604030504040204" pitchFamily="34" charset="0"/>
                          <a:cs typeface="Calibri" panose="020F0502020204030204" pitchFamily="34" charset="0"/>
                        </a:rPr>
                        <a:t>At Risk</a:t>
                      </a:r>
                    </a:p>
                    <a:p>
                      <a:pPr algn="ctr"/>
                      <a:r>
                        <a:rPr lang="en-US" sz="2000" b="1" dirty="0">
                          <a:effectLst/>
                          <a:latin typeface="Calibri" panose="020F0502020204030204" pitchFamily="34" charset="0"/>
                          <a:ea typeface="Verdana" panose="020B0604030504040204" pitchFamily="34" charset="0"/>
                          <a:cs typeface="Calibri" panose="020F0502020204030204" pitchFamily="34" charset="0"/>
                        </a:rPr>
                        <a:t>4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Calibri" panose="020F0502020204030204" pitchFamily="34" charset="0"/>
                          <a:ea typeface="Verdana" panose="020B0604030504040204" pitchFamily="34" charset="0"/>
                          <a:cs typeface="Calibri" panose="020F0502020204030204" pitchFamily="34" charset="0"/>
                        </a:rPr>
                        <a:t>0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Calibri" panose="020F0502020204030204" pitchFamily="34" charset="0"/>
                          <a:ea typeface="Verdana" panose="020B0604030504040204" pitchFamily="34" charset="0"/>
                          <a:cs typeface="Calibri" panose="020F0502020204030204" pitchFamily="34" charset="0"/>
                        </a:rPr>
                        <a:t>2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Calibri" panose="020F0502020204030204" pitchFamily="34" charset="0"/>
                          <a:ea typeface="Verdana" panose="020B0604030504040204" pitchFamily="34" charset="0"/>
                          <a:cs typeface="Calibri" panose="020F0502020204030204" pitchFamily="34" charset="0"/>
                        </a:rPr>
                        <a:t>2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A3F5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50610380"/>
                  </a:ext>
                </a:extLst>
              </a:tr>
            </a:tbl>
          </a:graphicData>
        </a:graphic>
      </p:graphicFrame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7D4BD17B-78CC-42A4-99C9-A18F91FB09DA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3438156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p11"/>
          <p:cNvSpPr/>
          <p:nvPr/>
        </p:nvSpPr>
        <p:spPr>
          <a:xfrm>
            <a:off x="4428591" y="2967335"/>
            <a:ext cx="3334824" cy="9233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400"/>
              <a:buFont typeface="Arial"/>
              <a:buNone/>
            </a:pPr>
            <a:r>
              <a:rPr lang="en-US" sz="5400" b="0" i="0" u="none" strike="noStrike" cap="none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Questions?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7DFA3EEE-5750-48DA-97BB-E9377514DEB2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19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207</TotalTime>
  <Words>812</Words>
  <Application>Microsoft Office PowerPoint</Application>
  <PresentationFormat>Widescreen</PresentationFormat>
  <Paragraphs>227</Paragraphs>
  <Slides>19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4" baseType="lpstr">
      <vt:lpstr>Arial</vt:lpstr>
      <vt:lpstr>Calibri</vt:lpstr>
      <vt:lpstr>Cambria Math</vt:lpstr>
      <vt:lpstr>Verdana</vt:lpstr>
      <vt:lpstr>Office Theme</vt:lpstr>
      <vt:lpstr>Assessing Model Performance</vt:lpstr>
      <vt:lpstr>Model Performance </vt:lpstr>
      <vt:lpstr>Holdout Validation</vt:lpstr>
      <vt:lpstr>K-Fold Cross-Validation</vt:lpstr>
      <vt:lpstr>5-Fold Cross-Validation</vt:lpstr>
      <vt:lpstr>Confusion Matrix</vt:lpstr>
      <vt:lpstr>Confusion Matrix</vt:lpstr>
      <vt:lpstr>Confusion Matrix</vt:lpstr>
      <vt:lpstr>Confusion Matrix</vt:lpstr>
      <vt:lpstr>Accuracy</vt:lpstr>
      <vt:lpstr>Drawbacks of Accuracy</vt:lpstr>
      <vt:lpstr>Precision</vt:lpstr>
      <vt:lpstr>Sensitivity / Recall</vt:lpstr>
      <vt:lpstr>Specificity</vt:lpstr>
      <vt:lpstr>Precision-Recall Tradeoff</vt:lpstr>
      <vt:lpstr>F-measure / F-score</vt:lpstr>
      <vt:lpstr>F-measure / F-score</vt:lpstr>
      <vt:lpstr>Confusion matrices with more categories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Supervised Learning</dc:title>
  <dc:creator>Shahidul islam</dc:creator>
  <cp:lastModifiedBy>Ahmedul Kabir</cp:lastModifiedBy>
  <cp:revision>195</cp:revision>
  <dcterms:created xsi:type="dcterms:W3CDTF">2024-01-16T03:17:01Z</dcterms:created>
  <dcterms:modified xsi:type="dcterms:W3CDTF">2026-03-02T15:02:04Z</dcterms:modified>
</cp:coreProperties>
</file>