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4" r:id="rId4"/>
    <p:sldId id="275" r:id="rId5"/>
    <p:sldId id="264" r:id="rId6"/>
    <p:sldId id="265" r:id="rId7"/>
    <p:sldId id="266" r:id="rId8"/>
    <p:sldId id="267" r:id="rId9"/>
    <p:sldId id="268" r:id="rId10"/>
    <p:sldId id="276" r:id="rId11"/>
    <p:sldId id="277" r:id="rId12"/>
    <p:sldId id="278" r:id="rId13"/>
    <p:sldId id="279" r:id="rId14"/>
    <p:sldId id="280" r:id="rId15"/>
    <p:sldId id="273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gw8TiAGEHEWRBJmlhZ8LyGFz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C9AC0D-79A4-41F8-9187-85EBDDFB2577}">
  <a:tblStyle styleId="{B0C9AC0D-79A4-41F8-9187-85EBDDFB25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BEB0D0C-43E2-426A-8440-724715A16C0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94" autoAdjust="0"/>
  </p:normalViewPr>
  <p:slideViewPr>
    <p:cSldViewPr snapToGrid="0">
      <p:cViewPr varScale="1">
        <p:scale>
          <a:sx n="56" d="100"/>
          <a:sy n="56" d="100"/>
        </p:scale>
        <p:origin x="1194" y="7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4116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0604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Binary step function</a:t>
            </a:r>
          </a:p>
          <a:p>
            <a:pPr marL="158750" indent="0">
              <a:buNone/>
            </a:pPr>
            <a:r>
              <a:rPr lang="en-US" dirty="0"/>
              <a:t>def </a:t>
            </a:r>
            <a:r>
              <a:rPr lang="en-US" dirty="0" err="1"/>
              <a:t>binary_step</a:t>
            </a:r>
            <a:r>
              <a:rPr lang="en-US" dirty="0"/>
              <a:t>(z):</a:t>
            </a:r>
          </a:p>
          <a:p>
            <a:pPr marL="158750" indent="0">
              <a:buNone/>
            </a:pPr>
            <a:r>
              <a:rPr lang="en-US" dirty="0"/>
              <a:t>    return 1 if z &gt;= 0 else 0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Generate data</a:t>
            </a:r>
          </a:p>
          <a:p>
            <a:pPr marL="158750" indent="0">
              <a:buNone/>
            </a:pPr>
            <a:r>
              <a:rPr lang="en-US" dirty="0"/>
              <a:t>z = </a:t>
            </a:r>
            <a:r>
              <a:rPr lang="en-US" dirty="0" err="1"/>
              <a:t>np.linspace</a:t>
            </a:r>
            <a:r>
              <a:rPr lang="en-US" dirty="0"/>
              <a:t>(-2, 2, 400)</a:t>
            </a:r>
          </a:p>
          <a:p>
            <a:pPr marL="158750" indent="0">
              <a:buNone/>
            </a:pPr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 err="1"/>
              <a:t>binary_step</a:t>
            </a:r>
            <a:r>
              <a:rPr lang="en-US" dirty="0"/>
              <a:t>(</a:t>
            </a:r>
            <a:r>
              <a:rPr lang="en-US" dirty="0" err="1"/>
              <a:t>zi</a:t>
            </a:r>
            <a:r>
              <a:rPr lang="en-US" dirty="0"/>
              <a:t>) for </a:t>
            </a:r>
            <a:r>
              <a:rPr lang="en-US" dirty="0" err="1"/>
              <a:t>zi</a:t>
            </a:r>
            <a:r>
              <a:rPr lang="en-US" dirty="0"/>
              <a:t> in z])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Plot</a:t>
            </a:r>
          </a:p>
          <a:p>
            <a:pPr marL="15875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=(7, 4))</a:t>
            </a:r>
          </a:p>
          <a:p>
            <a:pPr marL="158750" indent="0">
              <a:buNone/>
            </a:pPr>
            <a:r>
              <a:rPr lang="en-US" dirty="0" err="1"/>
              <a:t>plt.plot</a:t>
            </a:r>
            <a:r>
              <a:rPr lang="en-US" dirty="0"/>
              <a:t>(z, y, 'r-', linewidth=3, label='Step Function')</a:t>
            </a:r>
          </a:p>
          <a:p>
            <a:pPr marL="158750" indent="0">
              <a:buNone/>
            </a:pPr>
            <a:r>
              <a:rPr lang="en-US" dirty="0" err="1"/>
              <a:t>plt.title</a:t>
            </a:r>
            <a:r>
              <a:rPr lang="en-US" dirty="0"/>
              <a:t>('Binary Step Activation Function', </a:t>
            </a:r>
            <a:r>
              <a:rPr lang="en-US" dirty="0" err="1"/>
              <a:t>fontsize</a:t>
            </a:r>
            <a:r>
              <a:rPr lang="en-US" dirty="0"/>
              <a:t>=14)</a:t>
            </a:r>
          </a:p>
          <a:p>
            <a:pPr marL="158750" indent="0">
              <a:buNone/>
            </a:pPr>
            <a:r>
              <a:rPr lang="en-US" dirty="0" err="1"/>
              <a:t>plt.xlabel</a:t>
            </a:r>
            <a:r>
              <a:rPr lang="en-US" dirty="0"/>
              <a:t>('Input (z)',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plt.ylabel</a:t>
            </a:r>
            <a:r>
              <a:rPr lang="en-US" dirty="0"/>
              <a:t>('Output (y)',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plt.grid</a:t>
            </a:r>
            <a:r>
              <a:rPr lang="en-US" dirty="0"/>
              <a:t>(True, </a:t>
            </a:r>
            <a:r>
              <a:rPr lang="en-US" dirty="0" err="1"/>
              <a:t>linestyle</a:t>
            </a:r>
            <a:r>
              <a:rPr lang="en-US" dirty="0"/>
              <a:t>='--', alpha=0.6)</a:t>
            </a:r>
          </a:p>
          <a:p>
            <a:pPr marL="158750" indent="0">
              <a:buNone/>
            </a:pPr>
            <a:r>
              <a:rPr lang="en-US" dirty="0" err="1"/>
              <a:t>plt.axhline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r>
              <a:rPr lang="en-US" dirty="0" err="1"/>
              <a:t>plt.axvline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r>
              <a:rPr lang="en-US" dirty="0" err="1"/>
              <a:t>plt.legend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plt.yticks</a:t>
            </a:r>
            <a:r>
              <a:rPr lang="en-US" dirty="0"/>
              <a:t>([0, 1])</a:t>
            </a:r>
          </a:p>
          <a:p>
            <a:pPr marL="158750" indent="0">
              <a:buNone/>
            </a:pPr>
            <a:r>
              <a:rPr lang="en-US" dirty="0" err="1"/>
              <a:t>plt.tight_layout</a:t>
            </a:r>
            <a:r>
              <a:rPr lang="en-US" dirty="0"/>
              <a:t>()</a:t>
            </a:r>
          </a:p>
          <a:p>
            <a:pPr marL="15875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3817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Sigmoid function</a:t>
            </a:r>
          </a:p>
          <a:p>
            <a:pPr marL="158750" indent="0">
              <a:buNone/>
            </a:pPr>
            <a:r>
              <a:rPr lang="en-US" dirty="0"/>
              <a:t>def sigmoid(z):</a:t>
            </a:r>
          </a:p>
          <a:p>
            <a:pPr marL="158750" indent="0">
              <a:buNone/>
            </a:pPr>
            <a:r>
              <a:rPr lang="en-US" dirty="0"/>
              <a:t>    return 1 / (1 + </a:t>
            </a:r>
            <a:r>
              <a:rPr lang="en-US" dirty="0" err="1"/>
              <a:t>np.exp</a:t>
            </a:r>
            <a:r>
              <a:rPr lang="en-US" dirty="0"/>
              <a:t>(-z))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Generate data</a:t>
            </a:r>
          </a:p>
          <a:p>
            <a:pPr marL="158750" indent="0">
              <a:buNone/>
            </a:pPr>
            <a:r>
              <a:rPr lang="en-US" dirty="0"/>
              <a:t>z = </a:t>
            </a:r>
            <a:r>
              <a:rPr lang="en-US" dirty="0" err="1"/>
              <a:t>np.linspace</a:t>
            </a:r>
            <a:r>
              <a:rPr lang="en-US" dirty="0"/>
              <a:t>(-5, 5, 400)</a:t>
            </a:r>
          </a:p>
          <a:p>
            <a:pPr marL="158750" indent="0">
              <a:buNone/>
            </a:pPr>
            <a:r>
              <a:rPr lang="en-US" dirty="0"/>
              <a:t>y = sigmoid(z)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Plot</a:t>
            </a:r>
          </a:p>
          <a:p>
            <a:pPr marL="15875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=(7, 4))</a:t>
            </a:r>
          </a:p>
          <a:p>
            <a:pPr marL="158750" indent="0">
              <a:buNone/>
            </a:pPr>
            <a:r>
              <a:rPr lang="en-US" dirty="0" err="1"/>
              <a:t>plt.plot</a:t>
            </a:r>
            <a:r>
              <a:rPr lang="en-US" dirty="0"/>
              <a:t>(z, y, 'b-', linewidth=3, label='Sigmoid Function')</a:t>
            </a:r>
          </a:p>
          <a:p>
            <a:pPr marL="158750" indent="0">
              <a:buNone/>
            </a:pPr>
            <a:r>
              <a:rPr lang="en-US" dirty="0" err="1"/>
              <a:t>plt.title</a:t>
            </a:r>
            <a:r>
              <a:rPr lang="en-US" dirty="0"/>
              <a:t>('Sigmoid Activation Function', </a:t>
            </a:r>
            <a:r>
              <a:rPr lang="en-US" dirty="0" err="1"/>
              <a:t>fontsize</a:t>
            </a:r>
            <a:r>
              <a:rPr lang="en-US" dirty="0"/>
              <a:t>=14)</a:t>
            </a:r>
          </a:p>
          <a:p>
            <a:pPr marL="158750" indent="0">
              <a:buNone/>
            </a:pPr>
            <a:r>
              <a:rPr lang="en-US" dirty="0" err="1"/>
              <a:t>plt.xlabel</a:t>
            </a:r>
            <a:r>
              <a:rPr lang="en-US" dirty="0"/>
              <a:t>('Input (z)',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plt.ylabel</a:t>
            </a:r>
            <a:r>
              <a:rPr lang="en-US" dirty="0"/>
              <a:t>('Output (y)',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plt.grid</a:t>
            </a:r>
            <a:r>
              <a:rPr lang="en-US" dirty="0"/>
              <a:t>(True, </a:t>
            </a:r>
            <a:r>
              <a:rPr lang="en-US" dirty="0" err="1"/>
              <a:t>linestyle</a:t>
            </a:r>
            <a:r>
              <a:rPr lang="en-US" dirty="0"/>
              <a:t>='--', alpha=0.6)</a:t>
            </a:r>
          </a:p>
          <a:p>
            <a:pPr marL="158750" indent="0">
              <a:buNone/>
            </a:pPr>
            <a:r>
              <a:rPr lang="en-US" dirty="0" err="1"/>
              <a:t>plt.axhline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r>
              <a:rPr lang="en-US" dirty="0" err="1"/>
              <a:t>plt.axvline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Add special annotations</a:t>
            </a:r>
          </a:p>
          <a:p>
            <a:pPr marL="158750" indent="0">
              <a:buNone/>
            </a:pPr>
            <a:r>
              <a:rPr lang="en-US" dirty="0" err="1"/>
              <a:t>plt.axhline</a:t>
            </a:r>
            <a:r>
              <a:rPr lang="en-US" dirty="0"/>
              <a:t>(y=0.5, color='gray', </a:t>
            </a:r>
            <a:r>
              <a:rPr lang="en-US" dirty="0" err="1"/>
              <a:t>linestyle</a:t>
            </a:r>
            <a:r>
              <a:rPr lang="en-US" dirty="0"/>
              <a:t>=':', alpha=0.5)</a:t>
            </a:r>
          </a:p>
          <a:p>
            <a:pPr marL="158750" indent="0">
              <a:buNone/>
            </a:pPr>
            <a:r>
              <a:rPr lang="en-US" dirty="0" err="1"/>
              <a:t>plt.text</a:t>
            </a:r>
            <a:r>
              <a:rPr lang="en-US" dirty="0"/>
              <a:t>(0.1, 0.52, 'Decision Threshold (y=0.5)', color='gray')</a:t>
            </a:r>
          </a:p>
          <a:p>
            <a:pPr marL="158750" indent="0">
              <a:buNone/>
            </a:pPr>
            <a:r>
              <a:rPr lang="en-US" dirty="0" err="1"/>
              <a:t>plt.scatter</a:t>
            </a:r>
            <a:r>
              <a:rPr lang="en-US" dirty="0"/>
              <a:t>(0, 0.5, color='blue', </a:t>
            </a:r>
            <a:r>
              <a:rPr lang="en-US" dirty="0" err="1"/>
              <a:t>zorder</a:t>
            </a:r>
            <a:r>
              <a:rPr lang="en-US" dirty="0"/>
              <a:t>=5)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 err="1"/>
              <a:t>plt.legend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plt.yticks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(0, 1.1, 0.1))</a:t>
            </a:r>
          </a:p>
          <a:p>
            <a:pPr marL="158750" indent="0">
              <a:buNone/>
            </a:pPr>
            <a:r>
              <a:rPr lang="en-US" dirty="0" err="1"/>
              <a:t>plt.tight_layout</a:t>
            </a:r>
            <a:r>
              <a:rPr lang="en-US" dirty="0"/>
              <a:t>()</a:t>
            </a:r>
          </a:p>
          <a:p>
            <a:pPr marL="15875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69775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Tanh function</a:t>
            </a:r>
          </a:p>
          <a:p>
            <a:pPr marL="158750" indent="0">
              <a:buNone/>
            </a:pPr>
            <a:r>
              <a:rPr lang="en-US" dirty="0"/>
              <a:t>def tanh(z):</a:t>
            </a:r>
          </a:p>
          <a:p>
            <a:pPr marL="158750" indent="0">
              <a:buNone/>
            </a:pPr>
            <a:r>
              <a:rPr lang="en-US" dirty="0"/>
              <a:t>    return </a:t>
            </a:r>
            <a:r>
              <a:rPr lang="en-US" dirty="0" err="1"/>
              <a:t>np.tanh</a:t>
            </a:r>
            <a:r>
              <a:rPr lang="en-US" dirty="0"/>
              <a:t>(z)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Generate data</a:t>
            </a:r>
          </a:p>
          <a:p>
            <a:pPr marL="158750" indent="0">
              <a:buNone/>
            </a:pPr>
            <a:r>
              <a:rPr lang="en-US" dirty="0"/>
              <a:t>z = </a:t>
            </a:r>
            <a:r>
              <a:rPr lang="en-US" dirty="0" err="1"/>
              <a:t>np.linspace</a:t>
            </a:r>
            <a:r>
              <a:rPr lang="en-US" dirty="0"/>
              <a:t>(-3, 3, 400)</a:t>
            </a:r>
          </a:p>
          <a:p>
            <a:pPr marL="158750" indent="0">
              <a:buNone/>
            </a:pPr>
            <a:r>
              <a:rPr lang="en-US" dirty="0"/>
              <a:t>y = tanh(z)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Plot</a:t>
            </a:r>
          </a:p>
          <a:p>
            <a:pPr marL="15875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=(7, 4))</a:t>
            </a:r>
          </a:p>
          <a:p>
            <a:pPr marL="158750" indent="0">
              <a:buNone/>
            </a:pPr>
            <a:r>
              <a:rPr lang="en-US" dirty="0" err="1"/>
              <a:t>plt.plot</a:t>
            </a:r>
            <a:r>
              <a:rPr lang="en-US" dirty="0"/>
              <a:t>(z, y, 'g-', linewidth=3, label='Tanh Function')</a:t>
            </a:r>
          </a:p>
          <a:p>
            <a:pPr marL="158750" indent="0">
              <a:buNone/>
            </a:pPr>
            <a:r>
              <a:rPr lang="en-US" dirty="0" err="1"/>
              <a:t>plt.title</a:t>
            </a:r>
            <a:r>
              <a:rPr lang="en-US" dirty="0"/>
              <a:t>('Tanh Activation Function', </a:t>
            </a:r>
            <a:r>
              <a:rPr lang="en-US" dirty="0" err="1"/>
              <a:t>fontsize</a:t>
            </a:r>
            <a:r>
              <a:rPr lang="en-US" dirty="0"/>
              <a:t>=14)</a:t>
            </a:r>
          </a:p>
          <a:p>
            <a:pPr marL="158750" indent="0">
              <a:buNone/>
            </a:pPr>
            <a:r>
              <a:rPr lang="en-US" dirty="0" err="1"/>
              <a:t>plt.xlabel</a:t>
            </a:r>
            <a:r>
              <a:rPr lang="en-US" dirty="0"/>
              <a:t>('Input (z)',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plt.ylabel</a:t>
            </a:r>
            <a:r>
              <a:rPr lang="en-US" dirty="0"/>
              <a:t>('Output (y)',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plt.grid</a:t>
            </a:r>
            <a:r>
              <a:rPr lang="en-US" dirty="0"/>
              <a:t>(True, </a:t>
            </a:r>
            <a:r>
              <a:rPr lang="en-US" dirty="0" err="1"/>
              <a:t>linestyle</a:t>
            </a:r>
            <a:r>
              <a:rPr lang="en-US" dirty="0"/>
              <a:t>='--', alpha=0.6)</a:t>
            </a:r>
          </a:p>
          <a:p>
            <a:pPr marL="158750" indent="0">
              <a:buNone/>
            </a:pPr>
            <a:r>
              <a:rPr lang="en-US" dirty="0" err="1"/>
              <a:t>plt.axhline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r>
              <a:rPr lang="en-US" dirty="0" err="1"/>
              <a:t>plt.axvline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Add special annotations</a:t>
            </a:r>
          </a:p>
          <a:p>
            <a:pPr marL="158750" indent="0">
              <a:buNone/>
            </a:pPr>
            <a:r>
              <a:rPr lang="en-US" dirty="0" err="1"/>
              <a:t>plt.axhline</a:t>
            </a:r>
            <a:r>
              <a:rPr lang="en-US" dirty="0"/>
              <a:t>(y=0, color='gray', </a:t>
            </a:r>
            <a:r>
              <a:rPr lang="en-US" dirty="0" err="1"/>
              <a:t>linestyle</a:t>
            </a:r>
            <a:r>
              <a:rPr lang="en-US" dirty="0"/>
              <a:t>=':', alpha=0.5)</a:t>
            </a:r>
          </a:p>
          <a:p>
            <a:pPr marL="158750" indent="0">
              <a:buNone/>
            </a:pPr>
            <a:r>
              <a:rPr lang="en-US" dirty="0" err="1"/>
              <a:t>plt.text</a:t>
            </a:r>
            <a:r>
              <a:rPr lang="en-US" dirty="0"/>
              <a:t>(0.5, 0.05, 'Zero-Centered Output', color='gray')</a:t>
            </a:r>
          </a:p>
          <a:p>
            <a:pPr marL="158750" indent="0">
              <a:buNone/>
            </a:pPr>
            <a:r>
              <a:rPr lang="en-US" dirty="0" err="1"/>
              <a:t>plt.scatter</a:t>
            </a:r>
            <a:r>
              <a:rPr lang="en-US" dirty="0"/>
              <a:t>(0, 0, color='green', </a:t>
            </a:r>
            <a:r>
              <a:rPr lang="en-US" dirty="0" err="1"/>
              <a:t>zorder</a:t>
            </a:r>
            <a:r>
              <a:rPr lang="en-US" dirty="0"/>
              <a:t>=5)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 err="1"/>
              <a:t>plt.legend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plt.yticks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(-1, 1.25, 0.25))</a:t>
            </a:r>
          </a:p>
          <a:p>
            <a:pPr marL="158750" indent="0">
              <a:buNone/>
            </a:pPr>
            <a:r>
              <a:rPr lang="en-US" dirty="0" err="1"/>
              <a:t>plt.tight_layout</a:t>
            </a:r>
            <a:r>
              <a:rPr lang="en-US" dirty="0"/>
              <a:t>()</a:t>
            </a:r>
          </a:p>
          <a:p>
            <a:pPr marL="15875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05676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</a:t>
            </a:r>
            <a:r>
              <a:rPr lang="en-US" dirty="0" err="1"/>
              <a:t>ReLU</a:t>
            </a:r>
            <a:r>
              <a:rPr lang="en-US" dirty="0"/>
              <a:t> function</a:t>
            </a:r>
          </a:p>
          <a:p>
            <a:pPr marL="158750" indent="0">
              <a:buNone/>
            </a:pPr>
            <a:r>
              <a:rPr lang="en-US" dirty="0"/>
              <a:t>def </a:t>
            </a:r>
            <a:r>
              <a:rPr lang="en-US" dirty="0" err="1"/>
              <a:t>relu</a:t>
            </a:r>
            <a:r>
              <a:rPr lang="en-US" dirty="0"/>
              <a:t>(z):</a:t>
            </a:r>
          </a:p>
          <a:p>
            <a:pPr marL="158750" indent="0">
              <a:buNone/>
            </a:pPr>
            <a:r>
              <a:rPr lang="en-US" dirty="0"/>
              <a:t>    return </a:t>
            </a:r>
            <a:r>
              <a:rPr lang="en-US" dirty="0" err="1"/>
              <a:t>np.maximum</a:t>
            </a:r>
            <a:r>
              <a:rPr lang="en-US" dirty="0"/>
              <a:t>(0, z)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Generate data</a:t>
            </a:r>
          </a:p>
          <a:p>
            <a:pPr marL="158750" indent="0">
              <a:buNone/>
            </a:pPr>
            <a:r>
              <a:rPr lang="en-US" dirty="0"/>
              <a:t>z = </a:t>
            </a:r>
            <a:r>
              <a:rPr lang="en-US" dirty="0" err="1"/>
              <a:t>np.linspace</a:t>
            </a:r>
            <a:r>
              <a:rPr lang="en-US" dirty="0"/>
              <a:t>(-2, 2, 400)</a:t>
            </a:r>
          </a:p>
          <a:p>
            <a:pPr marL="158750" indent="0">
              <a:buNone/>
            </a:pPr>
            <a:r>
              <a:rPr lang="en-US" dirty="0"/>
              <a:t>y = </a:t>
            </a:r>
            <a:r>
              <a:rPr lang="en-US" dirty="0" err="1"/>
              <a:t>relu</a:t>
            </a:r>
            <a:r>
              <a:rPr lang="en-US" dirty="0"/>
              <a:t>(z)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Plot</a:t>
            </a:r>
          </a:p>
          <a:p>
            <a:pPr marL="15875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=(7, 4))</a:t>
            </a:r>
          </a:p>
          <a:p>
            <a:pPr marL="158750" indent="0">
              <a:buNone/>
            </a:pPr>
            <a:r>
              <a:rPr lang="en-US" dirty="0" err="1"/>
              <a:t>plt.plot</a:t>
            </a:r>
            <a:r>
              <a:rPr lang="en-US" dirty="0"/>
              <a:t>(z, y, 'm-', linewidth=3, label='</a:t>
            </a:r>
            <a:r>
              <a:rPr lang="en-US" dirty="0" err="1"/>
              <a:t>ReLU</a:t>
            </a:r>
            <a:r>
              <a:rPr lang="en-US" dirty="0"/>
              <a:t> Function')  # magenta color</a:t>
            </a:r>
          </a:p>
          <a:p>
            <a:pPr marL="158750" indent="0">
              <a:buNone/>
            </a:pPr>
            <a:r>
              <a:rPr lang="en-US" dirty="0" err="1"/>
              <a:t>plt.title</a:t>
            </a:r>
            <a:r>
              <a:rPr lang="en-US" dirty="0"/>
              <a:t>('</a:t>
            </a:r>
            <a:r>
              <a:rPr lang="en-US" dirty="0" err="1"/>
              <a:t>ReLU</a:t>
            </a:r>
            <a:r>
              <a:rPr lang="en-US" dirty="0"/>
              <a:t> Activation Function', </a:t>
            </a:r>
            <a:r>
              <a:rPr lang="en-US" dirty="0" err="1"/>
              <a:t>fontsize</a:t>
            </a:r>
            <a:r>
              <a:rPr lang="en-US" dirty="0"/>
              <a:t>=14)</a:t>
            </a:r>
          </a:p>
          <a:p>
            <a:pPr marL="158750" indent="0">
              <a:buNone/>
            </a:pPr>
            <a:r>
              <a:rPr lang="en-US" dirty="0" err="1"/>
              <a:t>plt.xlabel</a:t>
            </a:r>
            <a:r>
              <a:rPr lang="en-US" dirty="0"/>
              <a:t>('Input (z)',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plt.ylabel</a:t>
            </a:r>
            <a:r>
              <a:rPr lang="en-US" dirty="0"/>
              <a:t>('Output (y)', 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plt.grid</a:t>
            </a:r>
            <a:r>
              <a:rPr lang="en-US" dirty="0"/>
              <a:t>(True, </a:t>
            </a:r>
            <a:r>
              <a:rPr lang="en-US" dirty="0" err="1"/>
              <a:t>linestyle</a:t>
            </a:r>
            <a:r>
              <a:rPr lang="en-US" dirty="0"/>
              <a:t>='--', alpha=0.6)</a:t>
            </a:r>
          </a:p>
          <a:p>
            <a:pPr marL="158750" indent="0">
              <a:buNone/>
            </a:pPr>
            <a:r>
              <a:rPr lang="en-US" dirty="0" err="1"/>
              <a:t>plt.axhline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r>
              <a:rPr lang="en-US" dirty="0" err="1"/>
              <a:t>plt.axvline</a:t>
            </a:r>
            <a:r>
              <a:rPr lang="en-US" dirty="0"/>
              <a:t>(0, color='black', linewidth=0.5)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Add special annotations</a:t>
            </a:r>
          </a:p>
          <a:p>
            <a:pPr marL="158750" indent="0">
              <a:buNone/>
            </a:pPr>
            <a:r>
              <a:rPr lang="en-US" dirty="0" err="1"/>
              <a:t>plt.annotate</a:t>
            </a:r>
            <a:r>
              <a:rPr lang="en-US" dirty="0"/>
              <a:t>('Linear Region (z ≥ 0)', </a:t>
            </a:r>
          </a:p>
          <a:p>
            <a:pPr marL="158750" indent="0">
              <a:buNone/>
            </a:pPr>
            <a:r>
              <a:rPr lang="en-US" dirty="0"/>
              <a:t>             </a:t>
            </a:r>
            <a:r>
              <a:rPr lang="en-US" dirty="0" err="1"/>
              <a:t>xy</a:t>
            </a:r>
            <a:r>
              <a:rPr lang="en-US" dirty="0"/>
              <a:t>=(1, 1), </a:t>
            </a:r>
            <a:r>
              <a:rPr lang="en-US" dirty="0" err="1"/>
              <a:t>xytext</a:t>
            </a:r>
            <a:r>
              <a:rPr lang="en-US" dirty="0"/>
              <a:t>=(1.2, 0.5),</a:t>
            </a:r>
          </a:p>
          <a:p>
            <a:pPr marL="158750" indent="0">
              <a:buNone/>
            </a:pPr>
            <a:r>
              <a:rPr lang="en-US" dirty="0"/>
              <a:t>             </a:t>
            </a:r>
            <a:r>
              <a:rPr lang="en-US" dirty="0" err="1"/>
              <a:t>arrowprops</a:t>
            </a:r>
            <a:r>
              <a:rPr lang="en-US" dirty="0"/>
              <a:t>=</a:t>
            </a:r>
            <a:r>
              <a:rPr lang="en-US" dirty="0" err="1"/>
              <a:t>dict</a:t>
            </a:r>
            <a:r>
              <a:rPr lang="en-US" dirty="0"/>
              <a:t>(</a:t>
            </a:r>
            <a:r>
              <a:rPr lang="en-US" dirty="0" err="1"/>
              <a:t>facecolor</a:t>
            </a:r>
            <a:r>
              <a:rPr lang="en-US" dirty="0"/>
              <a:t>='black', shrink=0.05))</a:t>
            </a:r>
          </a:p>
          <a:p>
            <a:pPr marL="158750" indent="0">
              <a:buNone/>
            </a:pPr>
            <a:r>
              <a:rPr lang="en-US" dirty="0" err="1"/>
              <a:t>plt.scatter</a:t>
            </a:r>
            <a:r>
              <a:rPr lang="en-US" dirty="0"/>
              <a:t>(0, 0, color='magenta', </a:t>
            </a:r>
            <a:r>
              <a:rPr lang="en-US" dirty="0" err="1"/>
              <a:t>zorder</a:t>
            </a:r>
            <a:r>
              <a:rPr lang="en-US" dirty="0"/>
              <a:t>=5)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 err="1"/>
              <a:t>plt.legend</a:t>
            </a:r>
            <a:r>
              <a:rPr lang="en-US" dirty="0"/>
              <a:t>(</a:t>
            </a:r>
            <a:r>
              <a:rPr lang="en-US" dirty="0" err="1"/>
              <a:t>fontsize</a:t>
            </a:r>
            <a:r>
              <a:rPr lang="en-US" dirty="0"/>
              <a:t>=12)</a:t>
            </a:r>
          </a:p>
          <a:p>
            <a:pPr marL="158750" indent="0">
              <a:buNone/>
            </a:pPr>
            <a:r>
              <a:rPr lang="en-US" dirty="0" err="1"/>
              <a:t>plt.yticks</a:t>
            </a:r>
            <a:r>
              <a:rPr lang="en-US" dirty="0"/>
              <a:t>(</a:t>
            </a:r>
            <a:r>
              <a:rPr lang="en-US" dirty="0" err="1"/>
              <a:t>np.arange</a:t>
            </a:r>
            <a:r>
              <a:rPr lang="en-US" dirty="0"/>
              <a:t>(0, 2.5, 0.5))</a:t>
            </a:r>
          </a:p>
          <a:p>
            <a:pPr marL="158750" indent="0">
              <a:buNone/>
            </a:pPr>
            <a:r>
              <a:rPr lang="en-US" dirty="0" err="1"/>
              <a:t>plt.tight_layout</a:t>
            </a:r>
            <a:r>
              <a:rPr lang="en-US" dirty="0"/>
              <a:t>()</a:t>
            </a:r>
          </a:p>
          <a:p>
            <a:pPr marL="15875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70057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15875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def softmax(x):</a:t>
            </a:r>
          </a:p>
          <a:p>
            <a:pPr marL="158750" indent="0">
              <a:buNone/>
            </a:pPr>
            <a:r>
              <a:rPr lang="en-US" dirty="0"/>
              <a:t>    </a:t>
            </a:r>
            <a:r>
              <a:rPr lang="en-US" dirty="0" err="1"/>
              <a:t>e_x</a:t>
            </a:r>
            <a:r>
              <a:rPr lang="en-US" dirty="0"/>
              <a:t> = </a:t>
            </a:r>
            <a:r>
              <a:rPr lang="en-US" dirty="0" err="1"/>
              <a:t>np.exp</a:t>
            </a:r>
            <a:r>
              <a:rPr lang="en-US" dirty="0"/>
              <a:t>(x - </a:t>
            </a:r>
            <a:r>
              <a:rPr lang="en-US" dirty="0" err="1"/>
              <a:t>np.max</a:t>
            </a:r>
            <a:r>
              <a:rPr lang="en-US" dirty="0"/>
              <a:t>(x))  # stability improvement</a:t>
            </a:r>
          </a:p>
          <a:p>
            <a:pPr marL="158750" indent="0">
              <a:buNone/>
            </a:pPr>
            <a:r>
              <a:rPr lang="en-US" dirty="0"/>
              <a:t>    return </a:t>
            </a:r>
            <a:r>
              <a:rPr lang="en-US" dirty="0" err="1"/>
              <a:t>e_x</a:t>
            </a:r>
            <a:r>
              <a:rPr lang="en-US" dirty="0"/>
              <a:t> / </a:t>
            </a:r>
            <a:r>
              <a:rPr lang="en-US" dirty="0" err="1"/>
              <a:t>e_x.sum</a:t>
            </a:r>
            <a:r>
              <a:rPr lang="en-US" dirty="0"/>
              <a:t>(axis=0)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Generate a range of inputs (logits)</a:t>
            </a:r>
          </a:p>
          <a:p>
            <a:pPr marL="158750" indent="0">
              <a:buNone/>
            </a:pPr>
            <a:r>
              <a:rPr lang="en-US" dirty="0"/>
              <a:t>x = </a:t>
            </a:r>
            <a:r>
              <a:rPr lang="en-US" dirty="0" err="1"/>
              <a:t>np.linspace</a:t>
            </a:r>
            <a:r>
              <a:rPr lang="en-US" dirty="0"/>
              <a:t>(-5, 5, 100)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Create a 3-class system with different biases</a:t>
            </a:r>
          </a:p>
          <a:p>
            <a:pPr marL="158750" indent="0">
              <a:buNone/>
            </a:pPr>
            <a:r>
              <a:rPr lang="en-US" dirty="0"/>
              <a:t>logits = </a:t>
            </a:r>
            <a:r>
              <a:rPr lang="en-US" dirty="0" err="1"/>
              <a:t>np.vstack</a:t>
            </a:r>
            <a:r>
              <a:rPr lang="en-US" dirty="0"/>
              <a:t>([x, x + 2, x - 2])  # shape (3, 100)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Apply softmax to each column (i.e., across classes)</a:t>
            </a:r>
          </a:p>
          <a:p>
            <a:pPr marL="158750" indent="0">
              <a:buNone/>
            </a:pPr>
            <a:r>
              <a:rPr lang="en-US" dirty="0" err="1"/>
              <a:t>softmax_output</a:t>
            </a:r>
            <a:r>
              <a:rPr lang="en-US" dirty="0"/>
              <a:t> = </a:t>
            </a:r>
            <a:r>
              <a:rPr lang="en-US" dirty="0" err="1"/>
              <a:t>np.apply_along_axis</a:t>
            </a:r>
            <a:r>
              <a:rPr lang="en-US" dirty="0"/>
              <a:t>(softmax, 0, logits)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# Plot the results</a:t>
            </a:r>
          </a:p>
          <a:p>
            <a:pPr marL="158750" indent="0">
              <a:buNone/>
            </a:pPr>
            <a:r>
              <a:rPr lang="en-US" dirty="0" err="1"/>
              <a:t>plt.figure</a:t>
            </a:r>
            <a:r>
              <a:rPr lang="en-US" dirty="0"/>
              <a:t>(</a:t>
            </a:r>
            <a:r>
              <a:rPr lang="en-US" dirty="0" err="1"/>
              <a:t>figsize</a:t>
            </a:r>
            <a:r>
              <a:rPr lang="en-US" dirty="0"/>
              <a:t>=(10, 6))</a:t>
            </a:r>
          </a:p>
          <a:p>
            <a:pPr marL="15875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softmax_output.shape</a:t>
            </a:r>
            <a:r>
              <a:rPr lang="en-US" dirty="0"/>
              <a:t>[0]):</a:t>
            </a:r>
          </a:p>
          <a:p>
            <a:pPr marL="158750" indent="0">
              <a:buNone/>
            </a:pPr>
            <a:r>
              <a:rPr lang="en-US" dirty="0"/>
              <a:t>    </a:t>
            </a:r>
            <a:r>
              <a:rPr lang="en-US" dirty="0" err="1"/>
              <a:t>plt.plot</a:t>
            </a:r>
            <a:r>
              <a:rPr lang="en-US" dirty="0"/>
              <a:t>(x, </a:t>
            </a:r>
            <a:r>
              <a:rPr lang="en-US" dirty="0" err="1"/>
              <a:t>softmax_output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], label=</a:t>
            </a:r>
            <a:r>
              <a:rPr lang="en-US" dirty="0" err="1"/>
              <a:t>f'Class</a:t>
            </a:r>
            <a:r>
              <a:rPr lang="en-US" dirty="0"/>
              <a:t> {i+1}')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 err="1"/>
              <a:t>plt.title</a:t>
            </a:r>
            <a:r>
              <a:rPr lang="en-US" dirty="0"/>
              <a:t>('Softmax Activation Function Visualization')</a:t>
            </a:r>
          </a:p>
          <a:p>
            <a:pPr marL="158750" indent="0">
              <a:buNone/>
            </a:pPr>
            <a:r>
              <a:rPr lang="en-US" dirty="0" err="1"/>
              <a:t>plt.xlabel</a:t>
            </a:r>
            <a:r>
              <a:rPr lang="en-US" dirty="0"/>
              <a:t>('Input Logits')</a:t>
            </a:r>
          </a:p>
          <a:p>
            <a:pPr marL="158750" indent="0">
              <a:buNone/>
            </a:pPr>
            <a:r>
              <a:rPr lang="en-US" dirty="0" err="1"/>
              <a:t>plt.ylabel</a:t>
            </a:r>
            <a:r>
              <a:rPr lang="en-US" dirty="0"/>
              <a:t>('Softmax Probability')</a:t>
            </a:r>
          </a:p>
          <a:p>
            <a:pPr marL="158750" indent="0">
              <a:buNone/>
            </a:pPr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pPr marL="158750" indent="0">
              <a:buNone/>
            </a:pPr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pPr marL="15875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13981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7325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77936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2362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878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59769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233487" y="1122363"/>
            <a:ext cx="9725025" cy="133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Artificial Neural Network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3999" y="48708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Dept. of CSE, University of Asia Pacific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altLang="en-US" dirty="0"/>
              <a:t>Artificial Neural Network (ANN)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6058449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dirty="0"/>
              <a:t>Inspired by Biological Neurons – Mimics the human brain’s interconnected neurons to process complex data.</a:t>
            </a: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2" descr="https://mriquestions.com/uploads/3/4/5/7/34572113/perceptron-with-neuron_1.png">
            <a:extLst>
              <a:ext uri="{FF2B5EF4-FFF2-40B4-BE49-F238E27FC236}">
                <a16:creationId xmlns:a16="http://schemas.microsoft.com/office/drawing/2014/main" id="{B6DF62CE-7A62-468D-A2A7-6D1A3E499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420" y="1060864"/>
            <a:ext cx="5238009" cy="543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Single Neuron / Perceptron</a:t>
            </a:r>
            <a:endParaRPr lang="en-US" altLang="en-US" dirty="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4" y="1124712"/>
            <a:ext cx="10696076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4000" b="1" dirty="0"/>
              <a:t>Basic Structure</a:t>
            </a:r>
            <a:r>
              <a:rPr lang="en-US" sz="4000" dirty="0"/>
              <a:t>:</a:t>
            </a:r>
          </a:p>
          <a:p>
            <a:r>
              <a:rPr lang="en-US" b="1" dirty="0"/>
              <a:t>Inputs</a:t>
            </a:r>
            <a:r>
              <a:rPr lang="en-US" dirty="0"/>
              <a:t>: X=[x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...,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]</a:t>
            </a:r>
            <a:r>
              <a:rPr lang="en-US" b="1" dirty="0"/>
              <a:t> </a:t>
            </a:r>
          </a:p>
          <a:p>
            <a:r>
              <a:rPr lang="en-US" b="1" dirty="0"/>
              <a:t>Weights</a:t>
            </a:r>
            <a:r>
              <a:rPr lang="en-US" dirty="0"/>
              <a:t>: W=[w</a:t>
            </a:r>
            <a:r>
              <a:rPr lang="en-US" baseline="-25000" dirty="0"/>
              <a:t>1</a:t>
            </a:r>
            <a:r>
              <a:rPr lang="en-US" dirty="0"/>
              <a:t>, w</a:t>
            </a:r>
            <a:r>
              <a:rPr lang="en-US" baseline="-25000" dirty="0"/>
              <a:t>2</a:t>
            </a:r>
            <a:r>
              <a:rPr lang="en-US" dirty="0"/>
              <a:t>, ..., </a:t>
            </a:r>
            <a:r>
              <a:rPr lang="en-US" dirty="0" err="1"/>
              <a:t>w</a:t>
            </a:r>
            <a:r>
              <a:rPr lang="en-US" baseline="-25000" dirty="0" err="1"/>
              <a:t>n</a:t>
            </a:r>
            <a:r>
              <a:rPr lang="en-US" dirty="0"/>
              <a:t>]</a:t>
            </a:r>
            <a:r>
              <a:rPr lang="en-US" b="1" dirty="0"/>
              <a:t> </a:t>
            </a:r>
          </a:p>
          <a:p>
            <a:r>
              <a:rPr lang="en-US" b="1" dirty="0"/>
              <a:t>Bias</a:t>
            </a:r>
            <a:r>
              <a:rPr lang="en-US" dirty="0"/>
              <a:t>: b</a:t>
            </a:r>
          </a:p>
          <a:p>
            <a:r>
              <a:rPr lang="en-US" b="1" dirty="0"/>
              <a:t>Activation Function</a:t>
            </a:r>
            <a:r>
              <a:rPr lang="en-US" dirty="0"/>
              <a:t>: </a:t>
            </a:r>
            <a:r>
              <a:rPr lang="el-GR" dirty="0"/>
              <a:t>ϕ (</a:t>
            </a:r>
            <a:r>
              <a:rPr lang="en-US" dirty="0"/>
              <a:t>e.g., Step, Sigmoid, 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2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Single Neuron / Perceptron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sz="2400" kern="1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Pre-activation step:</a:t>
                </a:r>
                <a:endParaRPr lang="en-US" sz="2400" b="0" kern="1200" dirty="0">
                  <a:solidFill>
                    <a:prstClr val="black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 …+</m:t>
                          </m:r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kern="120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𝑏</m:t>
                      </m:r>
                    </m:oMath>
                  </m:oMathPara>
                </a14:m>
                <a:endParaRPr lang="en-US" sz="2400" b="0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  <a:p>
                <a:pPr marL="34290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sz="2400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Activation function: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l-GR" sz="2400" i="1" kern="1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𝜙</m:t>
                      </m:r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lang="en-US" sz="2400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400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blipFill>
                <a:blip r:embed="rId3"/>
                <a:stretch>
                  <a:fillRect l="-798" t="-10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1028" name="Picture 4" descr="The graph of a perceptron: x1,. .. , xm are input signals, w1,. .. , wm...  | Download Scientific Diagram">
            <a:extLst>
              <a:ext uri="{FF2B5EF4-FFF2-40B4-BE49-F238E27FC236}">
                <a16:creationId xmlns:a16="http://schemas.microsoft.com/office/drawing/2014/main" id="{B313B110-CF53-4694-BF2F-187CBE1B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174" y="3761813"/>
            <a:ext cx="7718664" cy="309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66766" y="1873738"/>
            <a:ext cx="6387034" cy="364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inary Step Function Formu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1" y="2150950"/>
            <a:ext cx="4301148" cy="309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03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 (Cont.)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9313" y="1882785"/>
            <a:ext cx="6880654" cy="393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Sigmoid/Logistic formu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98" y="2118946"/>
            <a:ext cx="4045753" cy="369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44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 (Cont.)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460398" y="2059023"/>
            <a:ext cx="6775645" cy="387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Tanh formu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801" y="2253128"/>
            <a:ext cx="3722321" cy="348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686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 (Cont.)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229130" y="1802418"/>
            <a:ext cx="7343416" cy="419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LU formu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17" y="2470441"/>
            <a:ext cx="3677389" cy="286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69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 (Cont.)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35C739-56D9-4E76-9D14-684A4E0CE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34" y="3360112"/>
            <a:ext cx="4511264" cy="1182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52417C-C8B2-48C4-AD85-A4EE4E2A1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753" y="1690688"/>
            <a:ext cx="4184287" cy="430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9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Perceptron Learning Rule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Error, </a:t>
                </a:r>
                <a14:m>
                  <m:oMath xmlns:m="http://schemas.openxmlformats.org/officeDocument/2006/math"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𝑇𝑎𝑟𝑔𝑒𝑡</m:t>
                    </m:r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−</m:t>
                    </m:r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𝑂𝑢𝑡𝑝𝑢𝑡</m:t>
                    </m:r>
                  </m:oMath>
                </a14:m>
                <a:endParaRPr lang="en-US" b="0" kern="1200" dirty="0">
                  <a:solidFill>
                    <a:prstClr val="black"/>
                  </a:solidFill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Update weights &amp; bias (if there is an error): 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∆</m:t>
                      </m:r>
                      <m:sSub>
                        <m:sSubPr>
                          <m:ctrlP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en-US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lang="en-US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𝑛𝑒𝑤</m:t>
                          </m:r>
                        </m:sub>
                      </m:sSub>
                      <m:r>
                        <a:rPr lang="en-US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lang="en-US" b="0" i="1" kern="120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𝑜𝑙𝑑</m:t>
                          </m:r>
                        </m:sub>
                      </m:sSub>
                      <m:r>
                        <a:rPr lang="en-US" b="0" i="1" kern="12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kern="1200" dirty="0">
                  <a:solidFill>
                    <a:prstClr val="black"/>
                  </a:solidFill>
                  <a:ea typeface="+mn-ea"/>
                  <a:cs typeface="+mn-cs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r>
                  <a:rPr lang="en-US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lang="en-US" kern="1200" dirty="0">
                    <a:solidFill>
                      <a:prstClr val="black"/>
                    </a:solidFill>
                    <a:ea typeface="+mn-ea"/>
                    <a:cs typeface="+mn-cs"/>
                  </a:rPr>
                  <a:t> is the learning rate.</a:t>
                </a: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blipFill>
                <a:blip r:embed="rId3"/>
                <a:stretch>
                  <a:fillRect l="-11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07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Perceptron Learning Example: AND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Goal: to mimic AND logic, </a:t>
                </a:r>
                <a14:m>
                  <m:oMath xmlns:m="http://schemas.openxmlformats.org/officeDocument/2006/math"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sSub>
                      <m:sSubPr>
                        <m:ctrlP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endParaRPr lang="en-US" b="0" kern="120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Training data: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endParaRPr lang="en-US" b="0" kern="120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blipFill>
                <a:blip r:embed="rId3"/>
                <a:stretch>
                  <a:fillRect l="-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843DBB5-71E2-4069-BE01-5B5646AC0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81124"/>
              </p:ext>
            </p:extLst>
          </p:nvPr>
        </p:nvGraphicFramePr>
        <p:xfrm>
          <a:off x="4014479" y="2413207"/>
          <a:ext cx="1991283" cy="2590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63761">
                  <a:extLst>
                    <a:ext uri="{9D8B030D-6E8A-4147-A177-3AD203B41FA5}">
                      <a16:colId xmlns:a16="http://schemas.microsoft.com/office/drawing/2014/main" val="1182969730"/>
                    </a:ext>
                  </a:extLst>
                </a:gridCol>
                <a:gridCol w="663761">
                  <a:extLst>
                    <a:ext uri="{9D8B030D-6E8A-4147-A177-3AD203B41FA5}">
                      <a16:colId xmlns:a16="http://schemas.microsoft.com/office/drawing/2014/main" val="2420575969"/>
                    </a:ext>
                  </a:extLst>
                </a:gridCol>
                <a:gridCol w="663761">
                  <a:extLst>
                    <a:ext uri="{9D8B030D-6E8A-4147-A177-3AD203B41FA5}">
                      <a16:colId xmlns:a16="http://schemas.microsoft.com/office/drawing/2014/main" val="313173805"/>
                    </a:ext>
                  </a:extLst>
                </a:gridCol>
              </a:tblGrid>
              <a:tr h="42378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x</a:t>
                      </a:r>
                      <a:r>
                        <a:rPr lang="en-US" sz="28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x</a:t>
                      </a:r>
                      <a:r>
                        <a:rPr lang="en-US" sz="2800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516863"/>
                  </a:ext>
                </a:extLst>
              </a:tr>
              <a:tr h="42378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85748"/>
                  </a:ext>
                </a:extLst>
              </a:tr>
              <a:tr h="42378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484550"/>
                  </a:ext>
                </a:extLst>
              </a:tr>
              <a:tr h="42378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6903776"/>
                  </a:ext>
                </a:extLst>
              </a:tr>
              <a:tr h="42378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722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1673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AND Gate: Initialization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Initialize parameters (randomly)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Weights, w</a:t>
                </a:r>
                <a:r>
                  <a:rPr lang="en-US" kern="1200" baseline="-250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1</a:t>
                </a: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 = 0.5, w</a:t>
                </a:r>
                <a:r>
                  <a:rPr lang="en-US" kern="1200" baseline="-250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2</a:t>
                </a: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 = 0.5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Bias, b = -0.3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Learning rate, </a:t>
                </a:r>
                <a14:m>
                  <m:oMath xmlns:m="http://schemas.openxmlformats.org/officeDocument/2006/math">
                    <m:r>
                      <a:rPr lang="en-US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=0.1</m:t>
                    </m:r>
                  </m:oMath>
                </a14:m>
                <a:endParaRPr lang="en-US" kern="120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endParaRPr lang="en-US" b="0" kern="120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+mn-cs"/>
                </a:endParaRP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blipFill>
                <a:blip r:embed="rId3"/>
                <a:stretch>
                  <a:fillRect l="-1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56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AND Gate: Training Steps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657723" y="1124712"/>
            <a:ext cx="10876551" cy="5596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Epoch 1: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Sample (0, 0)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z=(0.5x0)+(0.5x0)−0.3=−0.3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y=Step(−0.3)=0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Error (t−y): 0−0=0 </a:t>
            </a: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</a:t>
            </a: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 No update.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Sample (0, 1):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z = 0.2, y = 1, Error = 0 – 1 = -1 </a:t>
            </a: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 Update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W1 = 0.5 (no change as x1 = 0)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W2 = 0.5 + 0.1 x (-1) x 1 =0.4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b = -0.3 + 0.1 x (-1) = - 0.4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  <a:sym typeface="Wingdings" panose="05000000000000000000" pitchFamily="2" charset="2"/>
              </a:rPr>
              <a:t>Sample (1, 0)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 = 0.1, y = 1, Error = -1 </a:t>
            </a: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Update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W1 = 0.4, W2 = 0.4, b = - 0.5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Sample (1, 1)</a:t>
            </a:r>
          </a:p>
          <a:p>
            <a:pPr marL="1257300" lvl="2">
              <a:lnSpc>
                <a:spcPct val="150000"/>
              </a:lnSpc>
              <a:spcBef>
                <a:spcPts val="0"/>
              </a:spcBef>
              <a:buClrTx/>
              <a:buSzTx/>
            </a:pP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z = 0.3, y = 1, Error = 0 </a:t>
            </a:r>
            <a:r>
              <a:rPr lang="en-US" kern="12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No update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1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1018675" y="136525"/>
            <a:ext cx="10515600" cy="92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AND Gate: Training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Google Shape;91;p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70000" lnSpcReduction="20000"/>
              </a:bodyPr>
              <a:lstStyle/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+mj-lt"/>
                    <a:ea typeface="+mn-ea"/>
                    <a:cs typeface="+mn-cs"/>
                  </a:rPr>
                  <a:t>Epoch 2: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Weights now: w1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=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0.4,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w2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​=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0.4,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b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=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−0.5</a:t>
                </a:r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(0,0): z=−0.5 → 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y =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0 </a:t>
                </a:r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(0,1): z=−0.1 → 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y =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0 </a:t>
                </a:r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(1,0): z=−0.1 → 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y =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0 </a:t>
                </a:r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(1,1): z=0.3 → </a:t>
                </a: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y = </a:t>
                </a:r>
                <a:r>
                  <a:rPr lang="pl-PL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1 </a:t>
                </a:r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457200" lvl="1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All predictions correct → Convergence achieved! </a:t>
                </a:r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+mj-lt"/>
                    <a:sym typeface="Wingdings" panose="05000000000000000000" pitchFamily="2" charset="2"/>
                  </a:rPr>
                  <a:t>Decision Boundary: </a:t>
                </a:r>
                <a14:m>
                  <m:oMath xmlns:m="http://schemas.openxmlformats.org/officeDocument/2006/math"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0.4</m:t>
                    </m:r>
                    <m:sSub>
                      <m:sSubPr>
                        <m:ctrlP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+0.4</m:t>
                    </m:r>
                    <m:sSub>
                      <m:sSubPr>
                        <m:ctrlP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b="0" i="1" kern="120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b="0" i="1" kern="120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−0.5=0</m:t>
                    </m:r>
                  </m:oMath>
                </a14:m>
                <a:endParaRPr lang="en-US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endParaRPr lang="en-US" b="1" kern="1200" dirty="0">
                  <a:solidFill>
                    <a:prstClr val="black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  <a:buNone/>
                </a:pPr>
                <a:r>
                  <a:rPr lang="en-US" kern="1200" dirty="0">
                    <a:solidFill>
                      <a:srgbClr val="FF0000"/>
                    </a:solidFill>
                    <a:latin typeface="+mj-lt"/>
                    <a:sym typeface="Wingdings" panose="05000000000000000000" pitchFamily="2" charset="2"/>
                  </a:rPr>
                  <a:t>Try with a different settings!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Weights, w</a:t>
                </a:r>
                <a:r>
                  <a:rPr lang="en-US" kern="1200" baseline="-250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</a:t>
                </a: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= 0.25, w</a:t>
                </a:r>
                <a:r>
                  <a:rPr lang="en-US" kern="1200" baseline="-250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2</a:t>
                </a: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= 0.25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Bias, b = -0.8</a:t>
                </a:r>
              </a:p>
              <a:p>
                <a:pPr marL="800100" lvl="1">
                  <a:lnSpc>
                    <a:spcPct val="150000"/>
                  </a:lnSpc>
                  <a:spcBef>
                    <a:spcPts val="0"/>
                  </a:spcBef>
                  <a:buClrTx/>
                  <a:buSzTx/>
                </a:pPr>
                <a:r>
                  <a:rPr lang="en-US" kern="1200" dirty="0">
                    <a:solidFill>
                      <a:prstClr val="black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Learning rate, </a:t>
                </a:r>
                <a14:m>
                  <m:oMath xmlns:m="http://schemas.openxmlformats.org/officeDocument/2006/math">
                    <m:r>
                      <a:rPr lang="en-US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kern="1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endParaRPr lang="en-US" kern="120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1" name="Google Shape;91;p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57724" y="1124712"/>
                <a:ext cx="10696076" cy="5486399"/>
              </a:xfrm>
              <a:prstGeom prst="rect">
                <a:avLst/>
              </a:prstGeom>
              <a:blipFill>
                <a:blip r:embed="rId3"/>
                <a:stretch>
                  <a:fillRect l="-6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A50A4-F658-4947-9E1D-850AB0025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84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4428591" y="2967335"/>
            <a:ext cx="333482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99D7CC-A135-4091-B536-95C0BAAA2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1506</Words>
  <Application>Microsoft Office PowerPoint</Application>
  <PresentationFormat>Widescreen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Verdana</vt:lpstr>
      <vt:lpstr>Wingdings</vt:lpstr>
      <vt:lpstr>Office Theme</vt:lpstr>
      <vt:lpstr>Artificial Neural Network</vt:lpstr>
      <vt:lpstr>Artificial Neural Network (ANN)</vt:lpstr>
      <vt:lpstr>Single Neuron / Perceptron</vt:lpstr>
      <vt:lpstr>Single Neuron / Perceptron</vt:lpstr>
      <vt:lpstr>Activation Functions</vt:lpstr>
      <vt:lpstr>Activation Functions (Cont.)</vt:lpstr>
      <vt:lpstr>Activation Functions (Cont.)</vt:lpstr>
      <vt:lpstr>Activation Functions (Cont.)</vt:lpstr>
      <vt:lpstr>Activation Functions (Cont.)</vt:lpstr>
      <vt:lpstr>Perceptron Learning Rule</vt:lpstr>
      <vt:lpstr>Perceptron Learning Example: AND Gate</vt:lpstr>
      <vt:lpstr>AND Gate: Initialization</vt:lpstr>
      <vt:lpstr>AND Gate: Training Steps</vt:lpstr>
      <vt:lpstr>AND Gate: Training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</dc:title>
  <dc:creator>Shahidul islam</dc:creator>
  <cp:lastModifiedBy>Ahmedul Kabir</cp:lastModifiedBy>
  <cp:revision>574</cp:revision>
  <dcterms:created xsi:type="dcterms:W3CDTF">2024-01-16T03:17:01Z</dcterms:created>
  <dcterms:modified xsi:type="dcterms:W3CDTF">2026-09-22T17:30:12Z</dcterms:modified>
</cp:coreProperties>
</file>