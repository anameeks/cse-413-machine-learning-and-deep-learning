
<file path=[Content_Types].xml><?xml version="1.0" encoding="utf-8"?>
<Types xmlns="http://schemas.openxmlformats.org/package/2006/content-types">
  <Default Extension="bin" ContentType="application/vnd.openxmlformats-officedocument.oleObject"/>
  <Default Extension="png" ContentType="image/png"/>
  <Default Extension="wmf" ContentType="image/x-wmf"/>
  <Default Extension="emf" ContentType="image/x-emf"/>
  <Default Extension="jpeg" ContentType="image/jpeg"/>
  <Default Extension="rels" ContentType="application/vnd.openxmlformats-package.relationships+xml"/>
  <Default Extension="xml" ContentType="application/xml"/>
  <Default Extension="vml" ContentType="application/vnd.openxmlformats-officedocument.vmlDrawing"/>
  <Default Extension="gif" ContentType="image/gi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648" r:id="rId1"/>
  </p:sldMasterIdLst>
  <p:notesMasterIdLst>
    <p:notesMasterId r:id="rId51"/>
  </p:notesMasterIdLst>
  <p:handoutMasterIdLst>
    <p:handoutMasterId r:id="rId52"/>
  </p:handoutMasterIdLst>
  <p:sldIdLst>
    <p:sldId id="569" r:id="rId2"/>
    <p:sldId id="599" r:id="rId3"/>
    <p:sldId id="517" r:id="rId4"/>
    <p:sldId id="548" r:id="rId5"/>
    <p:sldId id="518" r:id="rId6"/>
    <p:sldId id="605" r:id="rId7"/>
    <p:sldId id="526" r:id="rId8"/>
    <p:sldId id="600" r:id="rId9"/>
    <p:sldId id="625" r:id="rId10"/>
    <p:sldId id="572" r:id="rId11"/>
    <p:sldId id="663" r:id="rId12"/>
    <p:sldId id="521" r:id="rId13"/>
    <p:sldId id="520" r:id="rId14"/>
    <p:sldId id="522" r:id="rId15"/>
    <p:sldId id="523" r:id="rId16"/>
    <p:sldId id="527" r:id="rId17"/>
    <p:sldId id="528" r:id="rId18"/>
    <p:sldId id="531" r:id="rId19"/>
    <p:sldId id="529" r:id="rId20"/>
    <p:sldId id="607" r:id="rId21"/>
    <p:sldId id="532" r:id="rId22"/>
    <p:sldId id="678" r:id="rId23"/>
    <p:sldId id="550" r:id="rId24"/>
    <p:sldId id="534" r:id="rId25"/>
    <p:sldId id="552" r:id="rId26"/>
    <p:sldId id="629" r:id="rId27"/>
    <p:sldId id="662" r:id="rId28"/>
    <p:sldId id="631" r:id="rId29"/>
    <p:sldId id="632" r:id="rId30"/>
    <p:sldId id="638" r:id="rId31"/>
    <p:sldId id="644" r:id="rId32"/>
    <p:sldId id="645" r:id="rId33"/>
    <p:sldId id="551" r:id="rId34"/>
    <p:sldId id="553" r:id="rId35"/>
    <p:sldId id="573" r:id="rId36"/>
    <p:sldId id="540" r:id="rId37"/>
    <p:sldId id="539" r:id="rId38"/>
    <p:sldId id="601" r:id="rId39"/>
    <p:sldId id="612" r:id="rId40"/>
    <p:sldId id="614" r:id="rId41"/>
    <p:sldId id="609" r:id="rId42"/>
    <p:sldId id="565" r:id="rId43"/>
    <p:sldId id="679" r:id="rId44"/>
    <p:sldId id="670" r:id="rId45"/>
    <p:sldId id="664" r:id="rId46"/>
    <p:sldId id="665" r:id="rId47"/>
    <p:sldId id="667" r:id="rId48"/>
    <p:sldId id="668" r:id="rId49"/>
    <p:sldId id="669" r:id="rId50"/>
  </p:sldIdLst>
  <p:sldSz cx="9144000" cy="6858000" type="screen4x3"/>
  <p:notesSz cx="7315200" cy="9601200"/>
  <p:kinsoku lang="ja-JP" invalStChars="、。，．・：；？！゛゜ヽヾゝゞ々ー’”）〕］｝〉》」』】°‰′″℃￠％ぁぃぅぇぉっゃゅょゎァィゥェォッャュョヮヵヶ!%),.:;?]}｡｣､･ｧｨｩｪｫｬｭｮｯｰﾞﾟ" invalEndChars="‘“（〔［｛〈《「『【￥＄$([\{｢￡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1400" b="1" kern="1200">
        <a:solidFill>
          <a:schemeClr val="tx1"/>
        </a:solidFill>
        <a:latin typeface="Arial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1400" b="1" kern="1200">
        <a:solidFill>
          <a:schemeClr val="tx1"/>
        </a:solidFill>
        <a:latin typeface="Arial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1400" b="1" kern="1200">
        <a:solidFill>
          <a:schemeClr val="tx1"/>
        </a:solidFill>
        <a:latin typeface="Arial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1400" b="1" kern="1200">
        <a:solidFill>
          <a:schemeClr val="tx1"/>
        </a:solidFill>
        <a:latin typeface="Arial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1400" b="1" kern="1200">
        <a:solidFill>
          <a:schemeClr val="tx1"/>
        </a:solidFill>
        <a:latin typeface="Arial" pitchFamily="34" charset="0"/>
        <a:ea typeface="+mn-ea"/>
        <a:cs typeface="+mn-cs"/>
      </a:defRPr>
    </a:lvl5pPr>
    <a:lvl6pPr marL="2286000" algn="l" defTabSz="914400" rtl="0" eaLnBrk="1" latinLnBrk="0" hangingPunct="1">
      <a:defRPr sz="1400" b="1" kern="1200">
        <a:solidFill>
          <a:schemeClr val="tx1"/>
        </a:solidFill>
        <a:latin typeface="Arial" pitchFamily="34" charset="0"/>
        <a:ea typeface="+mn-ea"/>
        <a:cs typeface="+mn-cs"/>
      </a:defRPr>
    </a:lvl6pPr>
    <a:lvl7pPr marL="2743200" algn="l" defTabSz="914400" rtl="0" eaLnBrk="1" latinLnBrk="0" hangingPunct="1">
      <a:defRPr sz="1400" b="1" kern="1200">
        <a:solidFill>
          <a:schemeClr val="tx1"/>
        </a:solidFill>
        <a:latin typeface="Arial" pitchFamily="34" charset="0"/>
        <a:ea typeface="+mn-ea"/>
        <a:cs typeface="+mn-cs"/>
      </a:defRPr>
    </a:lvl7pPr>
    <a:lvl8pPr marL="3200400" algn="l" defTabSz="914400" rtl="0" eaLnBrk="1" latinLnBrk="0" hangingPunct="1">
      <a:defRPr sz="1400" b="1" kern="1200">
        <a:solidFill>
          <a:schemeClr val="tx1"/>
        </a:solidFill>
        <a:latin typeface="Arial" pitchFamily="34" charset="0"/>
        <a:ea typeface="+mn-ea"/>
        <a:cs typeface="+mn-cs"/>
      </a:defRPr>
    </a:lvl8pPr>
    <a:lvl9pPr marL="3657600" algn="l" defTabSz="914400" rtl="0" eaLnBrk="1" latinLnBrk="0" hangingPunct="1">
      <a:defRPr sz="1400" b="1" kern="1200">
        <a:solidFill>
          <a:schemeClr val="tx1"/>
        </a:solidFill>
        <a:latin typeface="Arial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736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025" userDrawn="1">
          <p15:clr>
            <a:srgbClr val="A4A3A4"/>
          </p15:clr>
        </p15:guide>
        <p15:guide id="2" pos="2305" userDrawn="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2A8487"/>
    <a:srgbClr val="1C5A61"/>
    <a:srgbClr val="0C6D9C"/>
    <a:srgbClr val="FF0000"/>
    <a:srgbClr val="CC3300"/>
    <a:srgbClr val="F5F5F5"/>
    <a:srgbClr val="CC6600"/>
    <a:srgbClr val="FF99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9848" autoAdjust="0"/>
    <p:restoredTop sz="94541" autoAdjust="0"/>
  </p:normalViewPr>
  <p:slideViewPr>
    <p:cSldViewPr>
      <p:cViewPr varScale="1">
        <p:scale>
          <a:sx n="113" d="100"/>
          <a:sy n="113" d="100"/>
        </p:scale>
        <p:origin x="1806" y="96"/>
      </p:cViewPr>
      <p:guideLst>
        <p:guide orient="horz" pos="2160"/>
        <p:guide pos="2736"/>
      </p:guideLst>
    </p:cSldViewPr>
  </p:slideViewPr>
  <p:outlineViewPr>
    <p:cViewPr>
      <p:scale>
        <a:sx n="33" d="100"/>
        <a:sy n="33" d="100"/>
      </p:scale>
      <p:origin x="0" y="0"/>
    </p:cViewPr>
    <p:sldLst>
      <p:sld r:id="rId1" collapse="1"/>
      <p:sld r:id="rId2" collapse="1"/>
      <p:sld r:id="rId3" collapse="1"/>
      <p:sld r:id="rId4" collapse="1"/>
      <p:sld r:id="rId5" collapse="1"/>
      <p:sld r:id="rId6" collapse="1"/>
      <p:sld r:id="rId7" collapse="1"/>
    </p:sldLst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75" d="100"/>
        <a:sy n="75" d="100"/>
      </p:scale>
      <p:origin x="0" y="-14592"/>
    </p:cViewPr>
  </p:sorterViewPr>
  <p:notesViewPr>
    <p:cSldViewPr>
      <p:cViewPr varScale="1">
        <p:scale>
          <a:sx n="82" d="100"/>
          <a:sy n="82" d="100"/>
        </p:scale>
        <p:origin x="-3060" y="-78"/>
      </p:cViewPr>
      <p:guideLst>
        <p:guide orient="horz" pos="3025"/>
        <p:guide pos="2305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54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tableStyles" Target="tableStyles.xml"/><Relationship Id="rId8" Type="http://schemas.openxmlformats.org/officeDocument/2006/relationships/slide" Target="slides/slide7.xml"/><Relationship Id="rId51" Type="http://schemas.openxmlformats.org/officeDocument/2006/relationships/notesMaster" Target="notesMasters/notesMaster1.xml"/><Relationship Id="rId3" Type="http://schemas.openxmlformats.org/officeDocument/2006/relationships/slide" Target="slides/slide2.xml"/></Relationships>
</file>

<file path=ppt/_rels/viewProps.xml.rels><?xml version="1.0" encoding="UTF-8" standalone="yes"?>
<Relationships xmlns="http://schemas.openxmlformats.org/package/2006/relationships"><Relationship Id="rId3" Type="http://schemas.openxmlformats.org/officeDocument/2006/relationships/slide" Target="slides/slide29.xml"/><Relationship Id="rId7" Type="http://schemas.openxmlformats.org/officeDocument/2006/relationships/slide" Target="slides/slide46.xml"/><Relationship Id="rId2" Type="http://schemas.openxmlformats.org/officeDocument/2006/relationships/slide" Target="slides/slide28.xml"/><Relationship Id="rId1" Type="http://schemas.openxmlformats.org/officeDocument/2006/relationships/slide" Target="slides/slide26.xml"/><Relationship Id="rId6" Type="http://schemas.openxmlformats.org/officeDocument/2006/relationships/slide" Target="slides/slide32.xml"/><Relationship Id="rId5" Type="http://schemas.openxmlformats.org/officeDocument/2006/relationships/slide" Target="slides/slide31.xml"/><Relationship Id="rId4" Type="http://schemas.openxmlformats.org/officeDocument/2006/relationships/slide" Target="slides/slide30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w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2.e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wmf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3.wmf"/></Relationships>
</file>

<file path=ppt/drawings/_rels/vmlDrawing5.vml.rels><?xml version="1.0" encoding="UTF-8" standalone="yes"?>
<Relationships xmlns="http://schemas.openxmlformats.org/package/2006/relationships"><Relationship Id="rId1" Type="http://schemas.openxmlformats.org/officeDocument/2006/relationships/image" Target="../media/image4.emf"/></Relationships>
</file>

<file path=ppt/drawings/_rels/vmlDrawing6.vml.rels><?xml version="1.0" encoding="UTF-8" standalone="yes"?>
<Relationships xmlns="http://schemas.openxmlformats.org/package/2006/relationships"><Relationship Id="rId1" Type="http://schemas.openxmlformats.org/officeDocument/2006/relationships/image" Target="../media/image5.wmf"/></Relationships>
</file>

<file path=ppt/drawings/_rels/vmlDrawing7.vml.rels><?xml version="1.0" encoding="UTF-8" standalone="yes"?>
<Relationships xmlns="http://schemas.openxmlformats.org/package/2006/relationships"><Relationship Id="rId2" Type="http://schemas.openxmlformats.org/officeDocument/2006/relationships/image" Target="../media/image7.wmf"/><Relationship Id="rId1" Type="http://schemas.openxmlformats.org/officeDocument/2006/relationships/image" Target="../media/image6.wmf"/></Relationships>
</file>

<file path=ppt/drawings/_rels/vmlDrawing8.vml.rels><?xml version="1.0" encoding="UTF-8" standalone="yes"?>
<Relationships xmlns="http://schemas.openxmlformats.org/package/2006/relationships"><Relationship Id="rId1" Type="http://schemas.openxmlformats.org/officeDocument/2006/relationships/image" Target="../media/image10.wmf"/></Relationships>
</file>

<file path=ppt/drawings/_rels/vmlDrawing9.vml.rels><?xml version="1.0" encoding="UTF-8" standalone="yes"?>
<Relationships xmlns="http://schemas.openxmlformats.org/package/2006/relationships"><Relationship Id="rId3" Type="http://schemas.openxmlformats.org/officeDocument/2006/relationships/image" Target="../media/image20.emf"/><Relationship Id="rId2" Type="http://schemas.openxmlformats.org/officeDocument/2006/relationships/image" Target="../media/image19.emf"/><Relationship Id="rId1" Type="http://schemas.openxmlformats.org/officeDocument/2006/relationships/image" Target="../media/image18.wmf"/></Relationships>
</file>

<file path=ppt/drawings/_rels/vmlDrawing10.vml.rels><?xml version="1.0" encoding="UTF-8" standalone="yes"?>
<Relationships xmlns="http://schemas.openxmlformats.org/package/2006/relationships"><Relationship Id="rId1" Type="http://schemas.openxmlformats.org/officeDocument/2006/relationships/image" Target="../media/image22.png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1582765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73016" y="4560901"/>
            <a:ext cx="5367494" cy="431789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vert="horz" wrap="square" lIns="100420" tIns="50212" rIns="100420" bIns="50212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notes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84995" name="Rectangle 3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270000" y="728663"/>
            <a:ext cx="4778375" cy="3584575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</p:spTree>
    <p:extLst>
      <p:ext uri="{BB962C8B-B14F-4D97-AF65-F5344CB8AC3E}">
        <p14:creationId xmlns:p14="http://schemas.microsoft.com/office/powerpoint/2010/main" val="121404413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963613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34" charset="0"/>
        <a:ea typeface="+mn-ea"/>
        <a:cs typeface="+mn-cs"/>
      </a:defRPr>
    </a:lvl1pPr>
    <a:lvl2pPr marL="469900" algn="l" defTabSz="963613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34" charset="0"/>
        <a:ea typeface="+mn-ea"/>
        <a:cs typeface="+mn-cs"/>
      </a:defRPr>
    </a:lvl2pPr>
    <a:lvl3pPr marL="938213" algn="l" defTabSz="963613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34" charset="0"/>
        <a:ea typeface="+mn-ea"/>
        <a:cs typeface="+mn-cs"/>
      </a:defRPr>
    </a:lvl3pPr>
    <a:lvl4pPr marL="1408113" algn="l" defTabSz="963613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34" charset="0"/>
        <a:ea typeface="+mn-ea"/>
        <a:cs typeface="+mn-cs"/>
      </a:defRPr>
    </a:lvl4pPr>
    <a:lvl5pPr marL="1876425" algn="l" defTabSz="963613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34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1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63650" y="722313"/>
            <a:ext cx="4795838" cy="3597275"/>
          </a:xfrm>
          <a:ln/>
        </p:spPr>
      </p:sp>
      <p:sp>
        <p:nvSpPr>
          <p:cNvPr id="8601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74690" y="4560901"/>
            <a:ext cx="5365820" cy="4317895"/>
          </a:xfrm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4989" tIns="47491" rIns="94989" bIns="47491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334296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62063" y="720725"/>
            <a:ext cx="4797425" cy="3598863"/>
          </a:xfrm>
          <a:solidFill>
            <a:srgbClr val="FFFFFF"/>
          </a:solidFill>
          <a:ln/>
        </p:spPr>
      </p:sp>
      <p:sp>
        <p:nvSpPr>
          <p:cNvPr id="8704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74690" y="4559248"/>
            <a:ext cx="5365820" cy="4321201"/>
          </a:xfrm>
          <a:solidFill>
            <a:srgbClr val="FFFFFF"/>
          </a:solidFill>
          <a:ln>
            <a:solidFill>
              <a:srgbClr val="000000"/>
            </a:solidFill>
          </a:ln>
        </p:spPr>
        <p:txBody>
          <a:bodyPr lIns="95017" tIns="47507" rIns="95017" bIns="47507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012252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62063" y="720725"/>
            <a:ext cx="4797425" cy="3598863"/>
          </a:xfrm>
          <a:solidFill>
            <a:srgbClr val="FFFFFF"/>
          </a:solidFill>
          <a:ln/>
        </p:spPr>
      </p:sp>
      <p:sp>
        <p:nvSpPr>
          <p:cNvPr id="8909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74690" y="4559248"/>
            <a:ext cx="5365820" cy="4321201"/>
          </a:xfrm>
          <a:solidFill>
            <a:srgbClr val="FFFFFF"/>
          </a:solidFill>
          <a:ln>
            <a:solidFill>
              <a:srgbClr val="000000"/>
            </a:solidFill>
          </a:ln>
        </p:spPr>
        <p:txBody>
          <a:bodyPr lIns="95017" tIns="47507" rIns="95017" bIns="47507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392105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6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62063" y="720725"/>
            <a:ext cx="4797425" cy="3598863"/>
          </a:xfrm>
          <a:ln/>
        </p:spPr>
      </p:sp>
      <p:sp>
        <p:nvSpPr>
          <p:cNvPr id="9216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74690" y="4559248"/>
            <a:ext cx="5365820" cy="4321201"/>
          </a:xfrm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5017" tIns="47507" rIns="95017" bIns="47507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787235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1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62063" y="720725"/>
            <a:ext cx="4797425" cy="3598863"/>
          </a:xfrm>
          <a:ln/>
        </p:spPr>
      </p:sp>
      <p:sp>
        <p:nvSpPr>
          <p:cNvPr id="9421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74690" y="4559248"/>
            <a:ext cx="5365820" cy="4321201"/>
          </a:xfrm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5017" tIns="47507" rIns="95017" bIns="47507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233562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62063" y="720725"/>
            <a:ext cx="4797425" cy="3598863"/>
          </a:xfrm>
          <a:ln/>
        </p:spPr>
      </p:sp>
      <p:sp>
        <p:nvSpPr>
          <p:cNvPr id="9318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74690" y="4559248"/>
            <a:ext cx="5365820" cy="4321201"/>
          </a:xfrm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5017" tIns="47507" rIns="95017" bIns="47507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585955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3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62063" y="720725"/>
            <a:ext cx="4797425" cy="3598863"/>
          </a:xfrm>
          <a:ln/>
        </p:spPr>
      </p:sp>
      <p:sp>
        <p:nvSpPr>
          <p:cNvPr id="9523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74690" y="4559248"/>
            <a:ext cx="5365820" cy="4321201"/>
          </a:xfrm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5017" tIns="47507" rIns="95017" bIns="47507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866349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25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62063" y="720725"/>
            <a:ext cx="4797425" cy="3598863"/>
          </a:xfrm>
          <a:ln/>
        </p:spPr>
      </p:sp>
      <p:sp>
        <p:nvSpPr>
          <p:cNvPr id="9625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74690" y="4559248"/>
            <a:ext cx="5365820" cy="4321201"/>
          </a:xfrm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5017" tIns="47507" rIns="95017" bIns="47507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481154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8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62063" y="720725"/>
            <a:ext cx="4797425" cy="3598863"/>
          </a:xfrm>
          <a:ln/>
        </p:spPr>
      </p:sp>
      <p:sp>
        <p:nvSpPr>
          <p:cNvPr id="9728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74690" y="4559248"/>
            <a:ext cx="5365820" cy="4321201"/>
          </a:xfrm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5017" tIns="47507" rIns="95017" bIns="47507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077056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0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62063" y="720725"/>
            <a:ext cx="4797425" cy="3598863"/>
          </a:xfrm>
          <a:ln/>
        </p:spPr>
      </p:sp>
      <p:sp>
        <p:nvSpPr>
          <p:cNvPr id="9830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74690" y="4559248"/>
            <a:ext cx="5365820" cy="4321201"/>
          </a:xfrm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5017" tIns="47507" rIns="95017" bIns="47507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592307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3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62063" y="720725"/>
            <a:ext cx="4797425" cy="3598863"/>
          </a:xfrm>
          <a:ln/>
        </p:spPr>
      </p:sp>
      <p:sp>
        <p:nvSpPr>
          <p:cNvPr id="9933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74690" y="4559248"/>
            <a:ext cx="5365820" cy="4321201"/>
          </a:xfrm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5017" tIns="47507" rIns="95017" bIns="47507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927875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35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62063" y="720725"/>
            <a:ext cx="4797425" cy="3598863"/>
          </a:xfrm>
          <a:ln/>
        </p:spPr>
      </p:sp>
      <p:sp>
        <p:nvSpPr>
          <p:cNvPr id="10035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74690" y="4559248"/>
            <a:ext cx="5365820" cy="4321201"/>
          </a:xfrm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5017" tIns="47507" rIns="95017" bIns="47507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673605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37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62063" y="720725"/>
            <a:ext cx="4797425" cy="3598863"/>
          </a:xfrm>
          <a:ln/>
        </p:spPr>
      </p:sp>
      <p:sp>
        <p:nvSpPr>
          <p:cNvPr id="10137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74690" y="4559248"/>
            <a:ext cx="5365820" cy="4321201"/>
          </a:xfrm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5017" tIns="47507" rIns="95017" bIns="47507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98692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0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62063" y="720725"/>
            <a:ext cx="4797425" cy="3598863"/>
          </a:xfrm>
          <a:ln/>
        </p:spPr>
      </p:sp>
      <p:sp>
        <p:nvSpPr>
          <p:cNvPr id="10240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74690" y="4559248"/>
            <a:ext cx="5365820" cy="4321201"/>
          </a:xfrm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5017" tIns="47507" rIns="95017" bIns="47507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026669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42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62063" y="720725"/>
            <a:ext cx="4797425" cy="3598863"/>
          </a:xfrm>
          <a:ln/>
        </p:spPr>
      </p:sp>
      <p:sp>
        <p:nvSpPr>
          <p:cNvPr id="10342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74690" y="4559248"/>
            <a:ext cx="5365820" cy="4321201"/>
          </a:xfrm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5017" tIns="47507" rIns="95017" bIns="47507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3680893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45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62063" y="720725"/>
            <a:ext cx="4797425" cy="3598863"/>
          </a:xfrm>
          <a:ln/>
        </p:spPr>
      </p:sp>
      <p:sp>
        <p:nvSpPr>
          <p:cNvPr id="10445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74690" y="4559248"/>
            <a:ext cx="5365820" cy="4321201"/>
          </a:xfrm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5017" tIns="47507" rIns="95017" bIns="47507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1488314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49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62063" y="720725"/>
            <a:ext cx="4797425" cy="3598863"/>
          </a:xfrm>
          <a:ln/>
        </p:spPr>
      </p:sp>
      <p:sp>
        <p:nvSpPr>
          <p:cNvPr id="10649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74690" y="4559248"/>
            <a:ext cx="5365820" cy="4321201"/>
          </a:xfrm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5017" tIns="47507" rIns="95017" bIns="47507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35990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54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62063" y="720725"/>
            <a:ext cx="4797425" cy="3598863"/>
          </a:xfrm>
          <a:ln/>
        </p:spPr>
      </p:sp>
      <p:sp>
        <p:nvSpPr>
          <p:cNvPr id="10854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74690" y="4559248"/>
            <a:ext cx="5365820" cy="4321201"/>
          </a:xfrm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5017" tIns="47507" rIns="95017" bIns="47507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527185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57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62063" y="720725"/>
            <a:ext cx="4797425" cy="3598863"/>
          </a:xfrm>
          <a:ln/>
        </p:spPr>
      </p:sp>
      <p:sp>
        <p:nvSpPr>
          <p:cNvPr id="10957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74690" y="4559248"/>
            <a:ext cx="5365820" cy="4321201"/>
          </a:xfrm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5017" tIns="47507" rIns="95017" bIns="47507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0582427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71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62063" y="720725"/>
            <a:ext cx="4797425" cy="3598863"/>
          </a:xfrm>
          <a:ln/>
        </p:spPr>
      </p:sp>
      <p:sp>
        <p:nvSpPr>
          <p:cNvPr id="11571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74690" y="4559248"/>
            <a:ext cx="5365820" cy="4321201"/>
          </a:xfrm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5017" tIns="47507" rIns="95017" bIns="47507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0522929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78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62063" y="720725"/>
            <a:ext cx="4797425" cy="3598863"/>
          </a:xfrm>
          <a:ln/>
        </p:spPr>
      </p:sp>
      <p:sp>
        <p:nvSpPr>
          <p:cNvPr id="11878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74690" y="4559248"/>
            <a:ext cx="5365820" cy="4321201"/>
          </a:xfrm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5017" tIns="47507" rIns="95017" bIns="47507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2680992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61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62063" y="720725"/>
            <a:ext cx="4797425" cy="3598863"/>
          </a:xfrm>
          <a:ln/>
        </p:spPr>
      </p:sp>
      <p:sp>
        <p:nvSpPr>
          <p:cNvPr id="11161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74690" y="4559248"/>
            <a:ext cx="5365820" cy="4321201"/>
          </a:xfrm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5017" tIns="47507" rIns="95017" bIns="47507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22071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4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62063" y="720725"/>
            <a:ext cx="4797425" cy="3598863"/>
          </a:xfrm>
          <a:ln/>
        </p:spPr>
      </p:sp>
      <p:sp>
        <p:nvSpPr>
          <p:cNvPr id="11264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74690" y="4559248"/>
            <a:ext cx="5365820" cy="4321201"/>
          </a:xfrm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5017" tIns="47507" rIns="95017" bIns="47507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7741260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66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62063" y="720725"/>
            <a:ext cx="4797425" cy="3598863"/>
          </a:xfrm>
          <a:ln/>
        </p:spPr>
      </p:sp>
      <p:sp>
        <p:nvSpPr>
          <p:cNvPr id="11366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74690" y="4559248"/>
            <a:ext cx="5365820" cy="4321201"/>
          </a:xfrm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5017" tIns="47507" rIns="95017" bIns="47507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480503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37443715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5185207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92746556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59933480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11163" y="1143000"/>
            <a:ext cx="4083050" cy="51816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6613" y="1143000"/>
            <a:ext cx="4083050" cy="51816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73179907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50928678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7349779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5112562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4666393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22644265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4650841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43688" y="152400"/>
            <a:ext cx="2085975" cy="61722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81000" y="152400"/>
            <a:ext cx="6110288" cy="61722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24799483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152400"/>
            <a:ext cx="8280400" cy="5334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411163" y="1143000"/>
            <a:ext cx="4083050" cy="51816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6613" y="1143000"/>
            <a:ext cx="4083050" cy="51816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5379810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381000" y="152400"/>
            <a:ext cx="8280400" cy="53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0488" tIns="44450" rIns="90488" bIns="4445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11163" y="1143000"/>
            <a:ext cx="8318500" cy="5181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0488" tIns="44450" rIns="90488" bIns="4445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 Third Level</a:t>
            </a:r>
          </a:p>
        </p:txBody>
      </p:sp>
      <p:grpSp>
        <p:nvGrpSpPr>
          <p:cNvPr id="1028" name="Group 16"/>
          <p:cNvGrpSpPr>
            <a:grpSpLocks/>
          </p:cNvGrpSpPr>
          <p:nvPr userDrawn="1"/>
        </p:nvGrpSpPr>
        <p:grpSpPr bwMode="auto">
          <a:xfrm>
            <a:off x="304800" y="838200"/>
            <a:ext cx="8534400" cy="152400"/>
            <a:chOff x="264" y="788"/>
            <a:chExt cx="5232" cy="124"/>
          </a:xfrm>
        </p:grpSpPr>
        <p:sp>
          <p:nvSpPr>
            <p:cNvPr id="1030" name="Rectangle 17"/>
            <p:cNvSpPr>
              <a:spLocks noChangeArrowheads="1"/>
            </p:cNvSpPr>
            <p:nvPr/>
          </p:nvSpPr>
          <p:spPr bwMode="auto">
            <a:xfrm>
              <a:off x="264" y="788"/>
              <a:ext cx="5232" cy="61"/>
            </a:xfrm>
            <a:prstGeom prst="rect">
              <a:avLst/>
            </a:prstGeom>
            <a:gradFill rotWithShape="0">
              <a:gsLst>
                <a:gs pos="0">
                  <a:srgbClr val="0E9BBA"/>
                </a:gs>
                <a:gs pos="50000">
                  <a:srgbClr val="12C2E9"/>
                </a:gs>
                <a:gs pos="100000">
                  <a:srgbClr val="0E9BBA"/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31" name="Rectangle 18"/>
            <p:cNvSpPr>
              <a:spLocks noChangeArrowheads="1"/>
            </p:cNvSpPr>
            <p:nvPr/>
          </p:nvSpPr>
          <p:spPr bwMode="auto">
            <a:xfrm>
              <a:off x="264" y="881"/>
              <a:ext cx="5232" cy="31"/>
            </a:xfrm>
            <a:prstGeom prst="rect">
              <a:avLst/>
            </a:prstGeom>
            <a:gradFill rotWithShape="0">
              <a:gsLst>
                <a:gs pos="0">
                  <a:srgbClr val="B200B2"/>
                </a:gs>
                <a:gs pos="50000">
                  <a:srgbClr val="FF00FF"/>
                </a:gs>
                <a:gs pos="100000">
                  <a:srgbClr val="B200B2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2" name="Rectangle 1"/>
          <p:cNvSpPr/>
          <p:nvPr userDrawn="1"/>
        </p:nvSpPr>
        <p:spPr>
          <a:xfrm>
            <a:off x="8454919" y="6400800"/>
            <a:ext cx="402674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spcBef>
                <a:spcPct val="50000"/>
              </a:spcBef>
              <a:defRPr/>
            </a:pPr>
            <a:fld id="{20C2B3EF-A58E-4072-B0B8-DA68EAC103CC}" type="slidenum">
              <a:rPr lang="en-US" smtClean="0"/>
              <a:pPr>
                <a:spcBef>
                  <a:spcPct val="50000"/>
                </a:spcBef>
                <a:defRPr/>
              </a:pPr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hf sldNum="0" hdr="0" ftr="0"/>
  <p:txStyles>
    <p:titleStyle>
      <a:lvl1pPr algn="l" rtl="0" eaLnBrk="0" fontAlgn="base" hangingPunct="0">
        <a:lnSpc>
          <a:spcPts val="3600"/>
        </a:lnSpc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lnSpc>
          <a:spcPts val="3600"/>
        </a:lnSpc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Tahoma" pitchFamily="34" charset="0"/>
        </a:defRPr>
      </a:lvl2pPr>
      <a:lvl3pPr algn="l" rtl="0" eaLnBrk="0" fontAlgn="base" hangingPunct="0">
        <a:lnSpc>
          <a:spcPts val="3600"/>
        </a:lnSpc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Tahoma" pitchFamily="34" charset="0"/>
        </a:defRPr>
      </a:lvl3pPr>
      <a:lvl4pPr algn="l" rtl="0" eaLnBrk="0" fontAlgn="base" hangingPunct="0">
        <a:lnSpc>
          <a:spcPts val="3600"/>
        </a:lnSpc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Tahoma" pitchFamily="34" charset="0"/>
        </a:defRPr>
      </a:lvl4pPr>
      <a:lvl5pPr algn="l" rtl="0" eaLnBrk="0" fontAlgn="base" hangingPunct="0">
        <a:lnSpc>
          <a:spcPts val="3600"/>
        </a:lnSpc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Tahoma" pitchFamily="34" charset="0"/>
        </a:defRPr>
      </a:lvl5pPr>
      <a:lvl6pPr marL="457200" algn="l" rtl="0" eaLnBrk="0" fontAlgn="base" hangingPunct="0">
        <a:lnSpc>
          <a:spcPts val="3600"/>
        </a:lnSpc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Tahoma" pitchFamily="34" charset="0"/>
        </a:defRPr>
      </a:lvl6pPr>
      <a:lvl7pPr marL="914400" algn="l" rtl="0" eaLnBrk="0" fontAlgn="base" hangingPunct="0">
        <a:lnSpc>
          <a:spcPts val="3600"/>
        </a:lnSpc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Tahoma" pitchFamily="34" charset="0"/>
        </a:defRPr>
      </a:lvl7pPr>
      <a:lvl8pPr marL="1371600" algn="l" rtl="0" eaLnBrk="0" fontAlgn="base" hangingPunct="0">
        <a:lnSpc>
          <a:spcPts val="3600"/>
        </a:lnSpc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Tahoma" pitchFamily="34" charset="0"/>
        </a:defRPr>
      </a:lvl8pPr>
      <a:lvl9pPr marL="1828800" algn="l" rtl="0" eaLnBrk="0" fontAlgn="base" hangingPunct="0">
        <a:lnSpc>
          <a:spcPts val="3600"/>
        </a:lnSpc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Tahoma" pitchFamily="34" charset="0"/>
        </a:defRPr>
      </a:lvl9pPr>
    </p:titleStyle>
    <p:bodyStyle>
      <a:lvl1pPr marL="292100" indent="-292100" algn="l" rtl="0" eaLnBrk="0" fontAlgn="base" hangingPunct="0">
        <a:spcBef>
          <a:spcPct val="10000"/>
        </a:spcBef>
        <a:spcAft>
          <a:spcPts val="400"/>
        </a:spcAft>
        <a:buClr>
          <a:srgbClr val="0C7B9C"/>
        </a:buClr>
        <a:buSzPct val="75000"/>
        <a:buFont typeface="Monotype Sorts" charset="2"/>
        <a:buChar char="l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800100" indent="-342900" algn="l" rtl="0" eaLnBrk="0" fontAlgn="base" hangingPunct="0">
        <a:spcBef>
          <a:spcPct val="10000"/>
        </a:spcBef>
        <a:spcAft>
          <a:spcPts val="400"/>
        </a:spcAft>
        <a:buClr>
          <a:srgbClr val="0C7B9C"/>
        </a:buClr>
        <a:buSzPct val="100000"/>
        <a:buFont typeface="Arial" pitchFamily="34" charset="0"/>
        <a:buChar char="–"/>
        <a:defRPr sz="2400">
          <a:solidFill>
            <a:schemeClr val="tx1"/>
          </a:solidFill>
          <a:latin typeface="+mn-lt"/>
        </a:defRPr>
      </a:lvl2pPr>
      <a:lvl3pPr marL="914400" algn="l" rtl="0" eaLnBrk="0" fontAlgn="base" hangingPunct="0">
        <a:spcBef>
          <a:spcPct val="10000"/>
        </a:spcBef>
        <a:spcAft>
          <a:spcPts val="400"/>
        </a:spcAft>
        <a:buClr>
          <a:srgbClr val="0C7B9C"/>
        </a:buClr>
        <a:buSzPct val="70000"/>
        <a:buFont typeface="Wingdings" pitchFamily="2" charset="2"/>
        <a:buChar char="u"/>
        <a:defRPr sz="20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SzPct val="100000"/>
        <a:buChar char="–"/>
        <a:defRPr sz="2000">
          <a:solidFill>
            <a:schemeClr val="tx1"/>
          </a:solidFill>
          <a:latin typeface="Times New Roman" pitchFamily="18" charset="0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SzPct val="100000"/>
        <a:buChar char="•"/>
        <a:defRPr sz="2000">
          <a:solidFill>
            <a:schemeClr val="tx1"/>
          </a:solidFill>
          <a:latin typeface="Times New Roman" pitchFamily="18" charset="0"/>
        </a:defRPr>
      </a:lvl5pPr>
      <a:lvl6pPr marL="2514600" indent="-228600" algn="l" rtl="0" eaLnBrk="0" fontAlgn="base" hangingPunct="0">
        <a:spcBef>
          <a:spcPct val="20000"/>
        </a:spcBef>
        <a:spcAft>
          <a:spcPct val="0"/>
        </a:spcAft>
        <a:buSzPct val="100000"/>
        <a:buChar char="•"/>
        <a:defRPr sz="2000">
          <a:solidFill>
            <a:schemeClr val="tx1"/>
          </a:solidFill>
          <a:latin typeface="Times New Roman" pitchFamily="18" charset="0"/>
        </a:defRPr>
      </a:lvl6pPr>
      <a:lvl7pPr marL="2971800" indent="-228600" algn="l" rtl="0" eaLnBrk="0" fontAlgn="base" hangingPunct="0">
        <a:spcBef>
          <a:spcPct val="20000"/>
        </a:spcBef>
        <a:spcAft>
          <a:spcPct val="0"/>
        </a:spcAft>
        <a:buSzPct val="100000"/>
        <a:buChar char="•"/>
        <a:defRPr sz="2000">
          <a:solidFill>
            <a:schemeClr val="tx1"/>
          </a:solidFill>
          <a:latin typeface="Times New Roman" pitchFamily="18" charset="0"/>
        </a:defRPr>
      </a:lvl7pPr>
      <a:lvl8pPr marL="3429000" indent="-228600" algn="l" rtl="0" eaLnBrk="0" fontAlgn="base" hangingPunct="0">
        <a:spcBef>
          <a:spcPct val="20000"/>
        </a:spcBef>
        <a:spcAft>
          <a:spcPct val="0"/>
        </a:spcAft>
        <a:buSzPct val="100000"/>
        <a:buChar char="•"/>
        <a:defRPr sz="2000">
          <a:solidFill>
            <a:schemeClr val="tx1"/>
          </a:solidFill>
          <a:latin typeface="Times New Roman" pitchFamily="18" charset="0"/>
        </a:defRPr>
      </a:lvl8pPr>
      <a:lvl9pPr marL="3886200" indent="-228600" algn="l" rtl="0" eaLnBrk="0" fontAlgn="base" hangingPunct="0">
        <a:spcBef>
          <a:spcPct val="20000"/>
        </a:spcBef>
        <a:spcAft>
          <a:spcPct val="0"/>
        </a:spcAft>
        <a:buSzPct val="100000"/>
        <a:buChar char="•"/>
        <a:defRPr sz="2000">
          <a:solidFill>
            <a:schemeClr val="tx1"/>
          </a:solidFill>
          <a:latin typeface="Times New Roman" pitchFamily="18" charset="0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13.xml"/><Relationship Id="rId1" Type="http://schemas.openxmlformats.org/officeDocument/2006/relationships/vmlDrawing" Target="../drawings/vmlDrawing1.vml"/><Relationship Id="rId5" Type="http://schemas.openxmlformats.org/officeDocument/2006/relationships/image" Target="../media/image1.wmf"/><Relationship Id="rId4" Type="http://schemas.openxmlformats.org/officeDocument/2006/relationships/oleObject" Target="../embeddings/oleObject1.bin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Layout" Target="../slideLayouts/slideLayout8.xml"/><Relationship Id="rId1" Type="http://schemas.openxmlformats.org/officeDocument/2006/relationships/vmlDrawing" Target="../drawings/vmlDrawing2.vml"/><Relationship Id="rId4" Type="http://schemas.openxmlformats.org/officeDocument/2006/relationships/image" Target="../media/image2.emf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.vml"/><Relationship Id="rId5" Type="http://schemas.openxmlformats.org/officeDocument/2006/relationships/image" Target="../media/image1.wmf"/><Relationship Id="rId4" Type="http://schemas.openxmlformats.org/officeDocument/2006/relationships/oleObject" Target="../embeddings/oleObject3.bin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4.vml"/><Relationship Id="rId5" Type="http://schemas.openxmlformats.org/officeDocument/2006/relationships/image" Target="../media/image3.wmf"/><Relationship Id="rId4" Type="http://schemas.openxmlformats.org/officeDocument/2006/relationships/oleObject" Target="../embeddings/oleObject4.bin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5.vml"/><Relationship Id="rId5" Type="http://schemas.openxmlformats.org/officeDocument/2006/relationships/image" Target="../media/image4.emf"/><Relationship Id="rId4" Type="http://schemas.openxmlformats.org/officeDocument/2006/relationships/oleObject" Target="../embeddings/oleObject5.bin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6.vml"/><Relationship Id="rId5" Type="http://schemas.openxmlformats.org/officeDocument/2006/relationships/image" Target="../media/image5.wmf"/><Relationship Id="rId4" Type="http://schemas.openxmlformats.org/officeDocument/2006/relationships/oleObject" Target="../embeddings/oleObject6.bin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wmf"/><Relationship Id="rId3" Type="http://schemas.openxmlformats.org/officeDocument/2006/relationships/notesSlide" Target="../notesSlides/notesSlide11.xml"/><Relationship Id="rId7" Type="http://schemas.openxmlformats.org/officeDocument/2006/relationships/oleObject" Target="../embeddings/oleObject8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7.vml"/><Relationship Id="rId6" Type="http://schemas.openxmlformats.org/officeDocument/2006/relationships/image" Target="../media/image8.wmf"/><Relationship Id="rId5" Type="http://schemas.openxmlformats.org/officeDocument/2006/relationships/image" Target="../media/image6.wmf"/><Relationship Id="rId4" Type="http://schemas.openxmlformats.org/officeDocument/2006/relationships/oleObject" Target="../embeddings/oleObject7.bin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3.xm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8.vml"/><Relationship Id="rId5" Type="http://schemas.openxmlformats.org/officeDocument/2006/relationships/image" Target="../media/image10.wmf"/><Relationship Id="rId4" Type="http://schemas.openxmlformats.org/officeDocument/2006/relationships/oleObject" Target="../embeddings/oleObject9.bin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gif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emf"/><Relationship Id="rId2" Type="http://schemas.openxmlformats.org/officeDocument/2006/relationships/image" Target="../media/image12.em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emf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3.xml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emf"/><Relationship Id="rId3" Type="http://schemas.openxmlformats.org/officeDocument/2006/relationships/oleObject" Target="../embeddings/oleObject10.bin"/><Relationship Id="rId7" Type="http://schemas.openxmlformats.org/officeDocument/2006/relationships/oleObject" Target="../embeddings/oleObject12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9.vml"/><Relationship Id="rId6" Type="http://schemas.openxmlformats.org/officeDocument/2006/relationships/image" Target="../media/image19.emf"/><Relationship Id="rId5" Type="http://schemas.openxmlformats.org/officeDocument/2006/relationships/oleObject" Target="../embeddings/oleObject11.bin"/><Relationship Id="rId4" Type="http://schemas.openxmlformats.org/officeDocument/2006/relationships/image" Target="../media/image18.wmf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3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0.vml"/><Relationship Id="rId4" Type="http://schemas.openxmlformats.org/officeDocument/2006/relationships/image" Target="../media/image22.png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emf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3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title"/>
          </p:nvPr>
        </p:nvSpPr>
        <p:spPr>
          <a:xfrm>
            <a:off x="381000" y="2743200"/>
            <a:ext cx="8763000" cy="1219200"/>
          </a:xfrm>
        </p:spPr>
        <p:txBody>
          <a:bodyPr/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lang="en-US" sz="4800" dirty="0" smtClean="0"/>
              <a:t>Data Preprocessing</a:t>
            </a:r>
            <a:endParaRPr lang="en-US" sz="4400" dirty="0"/>
          </a:p>
        </p:txBody>
      </p:sp>
      <p:sp>
        <p:nvSpPr>
          <p:cNvPr id="2" name="TextBox 1"/>
          <p:cNvSpPr txBox="1"/>
          <p:nvPr/>
        </p:nvSpPr>
        <p:spPr>
          <a:xfrm>
            <a:off x="1065187" y="5638800"/>
            <a:ext cx="7394626" cy="6170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eaLnBrk="1" hangingPunct="1">
              <a:spcBef>
                <a:spcPct val="20000"/>
              </a:spcBef>
              <a:buClr>
                <a:schemeClr val="folHlink"/>
              </a:buClr>
              <a:buSzPct val="60000"/>
            </a:pPr>
            <a:r>
              <a:rPr lang="en-US" sz="1100" b="0" dirty="0" smtClean="0"/>
              <a:t>Based on “Introduction </a:t>
            </a:r>
            <a:r>
              <a:rPr lang="en-US" sz="1100" b="0" dirty="0"/>
              <a:t>to Data </a:t>
            </a:r>
            <a:r>
              <a:rPr lang="en-US" sz="1100" b="0" dirty="0" smtClean="0"/>
              <a:t>Mining” </a:t>
            </a:r>
            <a:r>
              <a:rPr lang="en-US" sz="1050" b="0" dirty="0" smtClean="0"/>
              <a:t>by</a:t>
            </a:r>
            <a:endParaRPr lang="en-US" sz="1050" b="0" dirty="0"/>
          </a:p>
          <a:p>
            <a:pPr algn="ctr" eaLnBrk="1" hangingPunct="1">
              <a:spcBef>
                <a:spcPct val="20000"/>
              </a:spcBef>
              <a:buClr>
                <a:schemeClr val="folHlink"/>
              </a:buClr>
              <a:buSzPct val="60000"/>
            </a:pPr>
            <a:r>
              <a:rPr lang="en-US" sz="1050" b="0" dirty="0"/>
              <a:t>Tan, Steinbach, </a:t>
            </a:r>
            <a:r>
              <a:rPr lang="en-US" sz="1050" b="0" dirty="0" err="1"/>
              <a:t>Karpatne</a:t>
            </a:r>
            <a:r>
              <a:rPr lang="en-US" sz="1050" b="0" dirty="0"/>
              <a:t>, Kumar</a:t>
            </a:r>
          </a:p>
          <a:p>
            <a:endParaRPr lang="en-US" sz="1050" b="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Outline</a:t>
            </a:r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Attributes and </a:t>
            </a:r>
            <a:r>
              <a:rPr lang="en-US" dirty="0" smtClean="0"/>
              <a:t>Instances</a:t>
            </a:r>
            <a:endParaRPr lang="en-US" dirty="0"/>
          </a:p>
          <a:p>
            <a:endParaRPr lang="en-US" dirty="0"/>
          </a:p>
          <a:p>
            <a:r>
              <a:rPr lang="en-US" dirty="0"/>
              <a:t>Types of Data</a:t>
            </a:r>
          </a:p>
          <a:p>
            <a:endParaRPr lang="en-US" dirty="0"/>
          </a:p>
          <a:p>
            <a:r>
              <a:rPr lang="en-US" dirty="0"/>
              <a:t>Data Quality</a:t>
            </a:r>
          </a:p>
          <a:p>
            <a:endParaRPr lang="en-US" dirty="0"/>
          </a:p>
          <a:p>
            <a:r>
              <a:rPr lang="en-US" dirty="0"/>
              <a:t>Similarity and Distance</a:t>
            </a:r>
          </a:p>
          <a:p>
            <a:endParaRPr lang="en-US" dirty="0"/>
          </a:p>
          <a:p>
            <a:r>
              <a:rPr lang="en-US" dirty="0"/>
              <a:t>Data Preprocessing</a:t>
            </a:r>
          </a:p>
          <a:p>
            <a:pPr>
              <a:buFont typeface="Monotype Sorts" charset="2"/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8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Data?</a:t>
            </a:r>
          </a:p>
        </p:txBody>
      </p:sp>
      <p:sp>
        <p:nvSpPr>
          <p:cNvPr id="4099" name="Rectangle 9"/>
          <p:cNvSpPr>
            <a:spLocks noGrp="1" noChangeArrowheads="1"/>
          </p:cNvSpPr>
          <p:nvPr>
            <p:ph type="body" sz="half" idx="1"/>
          </p:nvPr>
        </p:nvSpPr>
        <p:spPr>
          <a:xfrm>
            <a:off x="304800" y="1143000"/>
            <a:ext cx="4267200" cy="5181600"/>
          </a:xfrm>
        </p:spPr>
        <p:txBody>
          <a:bodyPr>
            <a:normAutofit fontScale="92500" lnSpcReduction="10000"/>
          </a:bodyPr>
          <a:lstStyle/>
          <a:p>
            <a:r>
              <a:rPr lang="en-US" sz="2400" dirty="0"/>
              <a:t>Collection of </a:t>
            </a:r>
            <a:r>
              <a:rPr lang="en-US" sz="2400" b="1" i="1" dirty="0">
                <a:solidFill>
                  <a:srgbClr val="CC6600"/>
                </a:solidFill>
              </a:rPr>
              <a:t>data </a:t>
            </a:r>
            <a:r>
              <a:rPr lang="en-US" sz="2400" b="1" i="1" dirty="0" smtClean="0">
                <a:solidFill>
                  <a:srgbClr val="CC6600"/>
                </a:solidFill>
              </a:rPr>
              <a:t>instances </a:t>
            </a:r>
            <a:r>
              <a:rPr lang="en-US" sz="2400" dirty="0"/>
              <a:t>and their </a:t>
            </a:r>
            <a:r>
              <a:rPr lang="en-US" sz="2400" b="1" i="1" dirty="0" smtClean="0">
                <a:solidFill>
                  <a:srgbClr val="CC6600"/>
                </a:solidFill>
              </a:rPr>
              <a:t>attributes (</a:t>
            </a:r>
            <a:r>
              <a:rPr lang="en-US" sz="2400" i="1" dirty="0" smtClean="0"/>
              <a:t>also called</a:t>
            </a:r>
            <a:r>
              <a:rPr lang="en-US" sz="2400" b="1" i="1" dirty="0" smtClean="0">
                <a:solidFill>
                  <a:srgbClr val="CC6600"/>
                </a:solidFill>
              </a:rPr>
              <a:t> features)</a:t>
            </a:r>
            <a:endParaRPr lang="en-US" sz="2400" b="1" i="1" dirty="0">
              <a:solidFill>
                <a:srgbClr val="CC6600"/>
              </a:solidFill>
            </a:endParaRPr>
          </a:p>
          <a:p>
            <a:pPr lvl="4"/>
            <a:endParaRPr lang="en-US" sz="600" dirty="0"/>
          </a:p>
          <a:p>
            <a:r>
              <a:rPr lang="en-US" sz="2400" dirty="0"/>
              <a:t>An </a:t>
            </a:r>
            <a:r>
              <a:rPr lang="en-US" sz="2400" b="1" i="1" dirty="0">
                <a:solidFill>
                  <a:srgbClr val="CC6600"/>
                </a:solidFill>
              </a:rPr>
              <a:t>attribute</a:t>
            </a:r>
            <a:r>
              <a:rPr lang="en-US" sz="2400" dirty="0"/>
              <a:t> is a property or characteristic of an </a:t>
            </a:r>
            <a:r>
              <a:rPr lang="en-US" sz="2400" dirty="0" smtClean="0"/>
              <a:t>instance</a:t>
            </a:r>
            <a:endParaRPr lang="en-US" sz="2400" dirty="0"/>
          </a:p>
          <a:p>
            <a:pPr lvl="1"/>
            <a:r>
              <a:rPr lang="en-US" sz="2000" dirty="0"/>
              <a:t>Examples: eye color of a person, temperature, etc.</a:t>
            </a:r>
          </a:p>
          <a:p>
            <a:pPr lvl="1"/>
            <a:r>
              <a:rPr lang="en-US" sz="2000" dirty="0"/>
              <a:t>Attribute is also known as variable, field, characteristic, dimension, or feature</a:t>
            </a:r>
          </a:p>
          <a:p>
            <a:r>
              <a:rPr lang="en-US" sz="2400" dirty="0"/>
              <a:t>A collection of attributes describe an </a:t>
            </a:r>
            <a:r>
              <a:rPr lang="en-US" sz="2400" b="1" i="1" dirty="0" smtClean="0">
                <a:solidFill>
                  <a:srgbClr val="CC6600"/>
                </a:solidFill>
              </a:rPr>
              <a:t>instance</a:t>
            </a:r>
            <a:endParaRPr lang="en-US" sz="2400" b="1" i="1" dirty="0">
              <a:solidFill>
                <a:srgbClr val="CC6600"/>
              </a:solidFill>
            </a:endParaRPr>
          </a:p>
          <a:p>
            <a:pPr lvl="1"/>
            <a:r>
              <a:rPr lang="en-US" sz="2000" dirty="0" smtClean="0"/>
              <a:t>Instance</a:t>
            </a:r>
            <a:r>
              <a:rPr lang="en-US" sz="2000" dirty="0" smtClean="0"/>
              <a:t> </a:t>
            </a:r>
            <a:r>
              <a:rPr lang="en-US" sz="2000" dirty="0"/>
              <a:t>is also known </a:t>
            </a:r>
            <a:r>
              <a:rPr lang="en-US" sz="2000" dirty="0" smtClean="0"/>
              <a:t>as object, </a:t>
            </a:r>
            <a:r>
              <a:rPr lang="en-US" sz="2000" dirty="0"/>
              <a:t>record, </a:t>
            </a:r>
            <a:r>
              <a:rPr lang="en-US" sz="2000" dirty="0" smtClean="0"/>
              <a:t>data point</a:t>
            </a:r>
            <a:r>
              <a:rPr lang="en-US" sz="2000" dirty="0"/>
              <a:t>, </a:t>
            </a:r>
            <a:r>
              <a:rPr lang="en-US" sz="2000" dirty="0" smtClean="0"/>
              <a:t>sample</a:t>
            </a:r>
            <a:r>
              <a:rPr lang="en-US" sz="2000" dirty="0"/>
              <a:t> </a:t>
            </a:r>
            <a:r>
              <a:rPr lang="en-US" sz="2000" dirty="0" smtClean="0"/>
              <a:t>or</a:t>
            </a:r>
            <a:r>
              <a:rPr lang="en-US" sz="2000" dirty="0" smtClean="0"/>
              <a:t> entity</a:t>
            </a:r>
            <a:endParaRPr lang="en-US" dirty="0"/>
          </a:p>
        </p:txBody>
      </p:sp>
      <p:grpSp>
        <p:nvGrpSpPr>
          <p:cNvPr id="4100" name="Group 16"/>
          <p:cNvGrpSpPr>
            <a:grpSpLocks/>
          </p:cNvGrpSpPr>
          <p:nvPr/>
        </p:nvGrpSpPr>
        <p:grpSpPr bwMode="auto">
          <a:xfrm>
            <a:off x="5630863" y="1601788"/>
            <a:ext cx="3513137" cy="5027612"/>
            <a:chOff x="3403" y="1104"/>
            <a:chExt cx="2213" cy="2640"/>
          </a:xfrm>
        </p:grpSpPr>
        <p:graphicFrame>
          <p:nvGraphicFramePr>
            <p:cNvPr id="4107" name="Object 10"/>
            <p:cNvGraphicFramePr>
              <a:graphicFrameLocks noChangeAspect="1"/>
            </p:cNvGraphicFramePr>
            <p:nvPr/>
          </p:nvGraphicFramePr>
          <p:xfrm>
            <a:off x="3403" y="1378"/>
            <a:ext cx="2213" cy="236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314" name="Document" r:id="rId4" imgW="5405628" imgH="5779008" progId="Word.Document.8">
                    <p:embed/>
                  </p:oleObj>
                </mc:Choice>
                <mc:Fallback>
                  <p:oleObj name="Document" r:id="rId4" imgW="5405628" imgH="5779008" progId="Word.Document.8">
                    <p:embed/>
                    <p:pic>
                      <p:nvPicPr>
                        <p:cNvPr id="0" name="Object 1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403" y="1378"/>
                          <a:ext cx="2213" cy="236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12700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108" name="AutoShape 12"/>
            <p:cNvSpPr>
              <a:spLocks/>
            </p:cNvSpPr>
            <p:nvPr/>
          </p:nvSpPr>
          <p:spPr bwMode="auto">
            <a:xfrm rot="5400000">
              <a:off x="4340" y="240"/>
              <a:ext cx="240" cy="1968"/>
            </a:xfrm>
            <a:prstGeom prst="leftBrace">
              <a:avLst>
                <a:gd name="adj1" fmla="val 68333"/>
                <a:gd name="adj2" fmla="val 50000"/>
              </a:avLst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4101" name="Text Box 14"/>
          <p:cNvSpPr txBox="1">
            <a:spLocks noChangeArrowheads="1"/>
          </p:cNvSpPr>
          <p:nvPr/>
        </p:nvSpPr>
        <p:spPr bwMode="auto">
          <a:xfrm>
            <a:off x="6858000" y="1229262"/>
            <a:ext cx="1981200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1400" b="1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dirty="0" smtClean="0">
                <a:solidFill>
                  <a:srgbClr val="FF0000"/>
                </a:solidFill>
              </a:rPr>
              <a:t>Attributes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4102" name="AutoShape 15"/>
          <p:cNvSpPr>
            <a:spLocks/>
          </p:cNvSpPr>
          <p:nvPr/>
        </p:nvSpPr>
        <p:spPr bwMode="auto">
          <a:xfrm>
            <a:off x="5257800" y="2517775"/>
            <a:ext cx="381000" cy="3808413"/>
          </a:xfrm>
          <a:prstGeom prst="leftBrace">
            <a:avLst>
              <a:gd name="adj1" fmla="val 83299"/>
              <a:gd name="adj2" fmla="val 50000"/>
            </a:avLst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103" name="Text Box 17"/>
          <p:cNvSpPr txBox="1">
            <a:spLocks noChangeArrowheads="1"/>
          </p:cNvSpPr>
          <p:nvPr/>
        </p:nvSpPr>
        <p:spPr bwMode="auto">
          <a:xfrm rot="16200000">
            <a:off x="3960020" y="3802954"/>
            <a:ext cx="1970086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1400" b="1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dirty="0" smtClean="0">
                <a:solidFill>
                  <a:srgbClr val="FF0000"/>
                </a:solidFill>
              </a:rPr>
              <a:t>Instances</a:t>
            </a:r>
            <a:endParaRPr lang="en-US" sz="1600" dirty="0">
              <a:solidFill>
                <a:srgbClr val="FF0000"/>
              </a:solidFill>
            </a:endParaRPr>
          </a:p>
        </p:txBody>
      </p:sp>
      <p:grpSp>
        <p:nvGrpSpPr>
          <p:cNvPr id="4104" name="Group 19"/>
          <p:cNvGrpSpPr>
            <a:grpSpLocks/>
          </p:cNvGrpSpPr>
          <p:nvPr/>
        </p:nvGrpSpPr>
        <p:grpSpPr bwMode="auto">
          <a:xfrm>
            <a:off x="304800" y="838200"/>
            <a:ext cx="8534400" cy="152400"/>
            <a:chOff x="264" y="788"/>
            <a:chExt cx="5232" cy="124"/>
          </a:xfrm>
        </p:grpSpPr>
        <p:sp>
          <p:nvSpPr>
            <p:cNvPr id="4105" name="Rectangle 20"/>
            <p:cNvSpPr>
              <a:spLocks noChangeArrowheads="1"/>
            </p:cNvSpPr>
            <p:nvPr/>
          </p:nvSpPr>
          <p:spPr bwMode="auto">
            <a:xfrm>
              <a:off x="264" y="788"/>
              <a:ext cx="5232" cy="61"/>
            </a:xfrm>
            <a:prstGeom prst="rect">
              <a:avLst/>
            </a:prstGeom>
            <a:gradFill rotWithShape="0">
              <a:gsLst>
                <a:gs pos="0">
                  <a:srgbClr val="0E9BBA"/>
                </a:gs>
                <a:gs pos="50000">
                  <a:srgbClr val="12C2E9"/>
                </a:gs>
                <a:gs pos="100000">
                  <a:srgbClr val="0E9BBA"/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106" name="Rectangle 21"/>
            <p:cNvSpPr>
              <a:spLocks noChangeArrowheads="1"/>
            </p:cNvSpPr>
            <p:nvPr/>
          </p:nvSpPr>
          <p:spPr bwMode="auto">
            <a:xfrm>
              <a:off x="264" y="881"/>
              <a:ext cx="5232" cy="31"/>
            </a:xfrm>
            <a:prstGeom prst="rect">
              <a:avLst/>
            </a:prstGeom>
            <a:gradFill rotWithShape="0">
              <a:gsLst>
                <a:gs pos="0">
                  <a:srgbClr val="B200B2"/>
                </a:gs>
                <a:gs pos="50000">
                  <a:srgbClr val="FF00FF"/>
                </a:gs>
                <a:gs pos="100000">
                  <a:srgbClr val="B200B2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1026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Attribute Values</a:t>
            </a:r>
          </a:p>
        </p:txBody>
      </p:sp>
      <p:sp>
        <p:nvSpPr>
          <p:cNvPr id="5123" name="Rectangle 1027"/>
          <p:cNvSpPr>
            <a:spLocks noGrp="1" noChangeArrowheads="1"/>
          </p:cNvSpPr>
          <p:nvPr>
            <p:ph type="body" idx="1"/>
          </p:nvPr>
        </p:nvSpPr>
        <p:spPr>
          <a:xfrm>
            <a:off x="411163" y="1143000"/>
            <a:ext cx="8580437" cy="5181600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b="1" i="1" dirty="0">
                <a:solidFill>
                  <a:srgbClr val="CC6600"/>
                </a:solidFill>
              </a:rPr>
              <a:t>Attribute values</a:t>
            </a:r>
            <a:r>
              <a:rPr lang="en-US" b="1" i="1" dirty="0"/>
              <a:t> </a:t>
            </a:r>
            <a:r>
              <a:rPr lang="en-US" dirty="0"/>
              <a:t>are numbers or symbols assigned to an attribute for a particular </a:t>
            </a:r>
            <a:r>
              <a:rPr lang="en-US" dirty="0" smtClean="0"/>
              <a:t>instance</a:t>
            </a:r>
            <a:endParaRPr lang="en-US" dirty="0"/>
          </a:p>
          <a:p>
            <a:pPr lvl="4">
              <a:lnSpc>
                <a:spcPct val="90000"/>
              </a:lnSpc>
            </a:pPr>
            <a:endParaRPr lang="en-US" dirty="0"/>
          </a:p>
          <a:p>
            <a:pPr>
              <a:lnSpc>
                <a:spcPct val="90000"/>
              </a:lnSpc>
            </a:pPr>
            <a:r>
              <a:rPr lang="en-US" dirty="0"/>
              <a:t>Distinction between attributes and attribute values</a:t>
            </a:r>
          </a:p>
          <a:p>
            <a:pPr lvl="1">
              <a:lnSpc>
                <a:spcPct val="90000"/>
              </a:lnSpc>
            </a:pPr>
            <a:r>
              <a:rPr lang="en-US" dirty="0"/>
              <a:t>Same attribute can be mapped to different attribute values</a:t>
            </a:r>
          </a:p>
          <a:p>
            <a:pPr lvl="2">
              <a:lnSpc>
                <a:spcPct val="90000"/>
              </a:lnSpc>
            </a:pPr>
            <a:r>
              <a:rPr lang="en-US" dirty="0"/>
              <a:t> </a:t>
            </a:r>
            <a:r>
              <a:rPr lang="en-US" sz="2200" dirty="0"/>
              <a:t>Example: height can be measured in feet or meters</a:t>
            </a:r>
          </a:p>
          <a:p>
            <a:pPr lvl="4">
              <a:lnSpc>
                <a:spcPct val="90000"/>
              </a:lnSpc>
            </a:pPr>
            <a:endParaRPr lang="en-US" sz="2200" dirty="0"/>
          </a:p>
          <a:p>
            <a:pPr lvl="1">
              <a:lnSpc>
                <a:spcPct val="90000"/>
              </a:lnSpc>
            </a:pPr>
            <a:r>
              <a:rPr lang="en-US" dirty="0"/>
              <a:t>Different attributes can be mapped to the same set of values</a:t>
            </a:r>
          </a:p>
          <a:p>
            <a:pPr lvl="2">
              <a:lnSpc>
                <a:spcPct val="90000"/>
              </a:lnSpc>
            </a:pPr>
            <a:r>
              <a:rPr lang="en-US" dirty="0"/>
              <a:t> </a:t>
            </a:r>
            <a:r>
              <a:rPr lang="en-US" sz="2200" dirty="0"/>
              <a:t>Example: Attribute values for ID and age are integers</a:t>
            </a:r>
          </a:p>
          <a:p>
            <a:pPr lvl="1">
              <a:lnSpc>
                <a:spcPct val="90000"/>
              </a:lnSpc>
            </a:pPr>
            <a:r>
              <a:rPr lang="en-US" sz="2600" dirty="0"/>
              <a:t> But properties of attribute can be different than the properties of the values used to represent the attribute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9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Types of Attributes </a:t>
            </a:r>
          </a:p>
        </p:txBody>
      </p:sp>
      <p:sp>
        <p:nvSpPr>
          <p:cNvPr id="7171" name="Rectangle 10"/>
          <p:cNvSpPr>
            <a:spLocks noGrp="1" noChangeArrowheads="1"/>
          </p:cNvSpPr>
          <p:nvPr>
            <p:ph type="body" idx="1"/>
          </p:nvPr>
        </p:nvSpPr>
        <p:spPr>
          <a:xfrm>
            <a:off x="152400" y="1143000"/>
            <a:ext cx="8915400" cy="5181600"/>
          </a:xfrm>
        </p:spPr>
        <p:txBody>
          <a:bodyPr>
            <a:normAutofit lnSpcReduction="10000"/>
          </a:bodyPr>
          <a:lstStyle/>
          <a:p>
            <a:r>
              <a:rPr lang="en-US" dirty="0"/>
              <a:t> There are different types of attributes</a:t>
            </a:r>
          </a:p>
          <a:p>
            <a:pPr marL="749300" lvl="1">
              <a:spcBef>
                <a:spcPts val="300"/>
              </a:spcBef>
            </a:pPr>
            <a:r>
              <a:rPr lang="en-US" sz="2800" dirty="0">
                <a:solidFill>
                  <a:srgbClr val="FF0000"/>
                </a:solidFill>
              </a:rPr>
              <a:t>Nominal</a:t>
            </a:r>
            <a:endParaRPr lang="en-US" sz="2800" dirty="0"/>
          </a:p>
          <a:p>
            <a:pPr marL="1257300" lvl="2" indent="-393700">
              <a:spcBef>
                <a:spcPts val="300"/>
              </a:spcBef>
            </a:pPr>
            <a:r>
              <a:rPr lang="en-US" sz="2400" dirty="0"/>
              <a:t>Examples: ID numbers, eye color, zip codes</a:t>
            </a:r>
          </a:p>
          <a:p>
            <a:pPr marL="749300" lvl="1">
              <a:spcBef>
                <a:spcPts val="300"/>
              </a:spcBef>
            </a:pPr>
            <a:r>
              <a:rPr lang="en-US" sz="2800" dirty="0">
                <a:solidFill>
                  <a:srgbClr val="FF0000"/>
                </a:solidFill>
              </a:rPr>
              <a:t>Ordinal</a:t>
            </a:r>
            <a:endParaRPr lang="en-US" sz="2800" dirty="0"/>
          </a:p>
          <a:p>
            <a:pPr marL="1257300" lvl="2" indent="-393700">
              <a:spcBef>
                <a:spcPts val="300"/>
              </a:spcBef>
            </a:pPr>
            <a:r>
              <a:rPr lang="en-US" sz="2400" dirty="0"/>
              <a:t>Examples: rankings (e.g., taste of potato chips on a scale from 1-10), grades, height {tall, medium, short}</a:t>
            </a:r>
          </a:p>
          <a:p>
            <a:pPr marL="749300" lvl="1">
              <a:spcBef>
                <a:spcPts val="300"/>
              </a:spcBef>
            </a:pPr>
            <a:r>
              <a:rPr lang="en-US" sz="2800" dirty="0">
                <a:solidFill>
                  <a:srgbClr val="FF0000"/>
                </a:solidFill>
              </a:rPr>
              <a:t>Interval</a:t>
            </a:r>
            <a:endParaRPr lang="en-US" sz="2800" dirty="0"/>
          </a:p>
          <a:p>
            <a:pPr marL="1257300" lvl="2" indent="-393700">
              <a:spcBef>
                <a:spcPts val="300"/>
              </a:spcBef>
            </a:pPr>
            <a:r>
              <a:rPr lang="en-US" sz="2400" dirty="0"/>
              <a:t>Examples: calendar dates, temperatures in Celsius or Fahrenheit.</a:t>
            </a:r>
          </a:p>
          <a:p>
            <a:pPr marL="749300" lvl="1">
              <a:spcBef>
                <a:spcPts val="300"/>
              </a:spcBef>
            </a:pPr>
            <a:r>
              <a:rPr lang="en-US" sz="2800" dirty="0">
                <a:solidFill>
                  <a:srgbClr val="FF0000"/>
                </a:solidFill>
              </a:rPr>
              <a:t>Ratio</a:t>
            </a:r>
            <a:endParaRPr lang="en-US" sz="2800" dirty="0"/>
          </a:p>
          <a:p>
            <a:pPr marL="1257300" lvl="2" indent="-393700">
              <a:spcBef>
                <a:spcPts val="300"/>
              </a:spcBef>
            </a:pPr>
            <a:r>
              <a:rPr lang="en-US" sz="2400" dirty="0"/>
              <a:t>Examples: temperature in Kelvin, length, counts, elapsed time (e.g., time to run a race) </a:t>
            </a:r>
            <a:endParaRPr lang="en-US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242" name="Object 1033"/>
          <p:cNvGraphicFramePr>
            <a:graphicFrameLocks noChangeAspect="1"/>
          </p:cNvGraphicFramePr>
          <p:nvPr/>
        </p:nvGraphicFramePr>
        <p:xfrm>
          <a:off x="284163" y="538163"/>
          <a:ext cx="8585200" cy="53641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447" name="Document" r:id="rId3" imgW="8572080" imgH="5375817" progId="Word.Document.8">
                  <p:embed/>
                </p:oleObj>
              </mc:Choice>
              <mc:Fallback>
                <p:oleObj name="Document" r:id="rId3" imgW="8572080" imgH="5375817" progId="Word.Document.8">
                  <p:embed/>
                  <p:pic>
                    <p:nvPicPr>
                      <p:cNvPr id="0" name="Object 103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4163" y="538163"/>
                        <a:ext cx="8585200" cy="53641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243" name="Text Box 1034"/>
          <p:cNvSpPr txBox="1">
            <a:spLocks noChangeArrowheads="1"/>
          </p:cNvSpPr>
          <p:nvPr/>
        </p:nvSpPr>
        <p:spPr bwMode="auto">
          <a:xfrm>
            <a:off x="1066800" y="6248400"/>
            <a:ext cx="71628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400" b="1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sz="2000"/>
              <a:t>This categorization of attributes is due to S. S. Stevens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Discrete and Continuous Attributes </a:t>
            </a:r>
          </a:p>
        </p:txBody>
      </p:sp>
      <p:sp>
        <p:nvSpPr>
          <p:cNvPr id="12291" name="Rectangle 5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en-US" dirty="0"/>
              <a:t>Discrete Attribute</a:t>
            </a:r>
          </a:p>
          <a:p>
            <a:pPr lvl="1">
              <a:lnSpc>
                <a:spcPct val="90000"/>
              </a:lnSpc>
            </a:pPr>
            <a:r>
              <a:rPr lang="en-US" sz="2200" dirty="0"/>
              <a:t>Has only a finite or </a:t>
            </a:r>
            <a:r>
              <a:rPr lang="en-US" sz="2200" dirty="0" err="1"/>
              <a:t>countably</a:t>
            </a:r>
            <a:r>
              <a:rPr lang="en-US" sz="2200" dirty="0"/>
              <a:t> infinite set of values</a:t>
            </a:r>
          </a:p>
          <a:p>
            <a:pPr lvl="1">
              <a:lnSpc>
                <a:spcPct val="90000"/>
              </a:lnSpc>
            </a:pPr>
            <a:r>
              <a:rPr lang="en-US" sz="2200" dirty="0"/>
              <a:t>Examples: zip codes, counts, or the set of words in a collection of documents </a:t>
            </a:r>
          </a:p>
          <a:p>
            <a:pPr lvl="1">
              <a:lnSpc>
                <a:spcPct val="90000"/>
              </a:lnSpc>
            </a:pPr>
            <a:r>
              <a:rPr lang="en-US" sz="2200" dirty="0"/>
              <a:t>Often represented as integer variables.   </a:t>
            </a:r>
          </a:p>
          <a:p>
            <a:pPr lvl="1">
              <a:lnSpc>
                <a:spcPct val="90000"/>
              </a:lnSpc>
            </a:pPr>
            <a:r>
              <a:rPr lang="en-US" sz="2200" dirty="0"/>
              <a:t>Note: </a:t>
            </a:r>
            <a:r>
              <a:rPr lang="en-US" sz="2200" dirty="0">
                <a:solidFill>
                  <a:srgbClr val="CC3300"/>
                </a:solidFill>
              </a:rPr>
              <a:t>binary attributes</a:t>
            </a:r>
            <a:r>
              <a:rPr lang="en-US" sz="2200" dirty="0"/>
              <a:t> are a special case of discrete attributes </a:t>
            </a:r>
          </a:p>
          <a:p>
            <a:pPr>
              <a:lnSpc>
                <a:spcPct val="90000"/>
              </a:lnSpc>
            </a:pPr>
            <a:r>
              <a:rPr lang="en-US" dirty="0"/>
              <a:t>Continuous Attribute </a:t>
            </a:r>
          </a:p>
          <a:p>
            <a:pPr lvl="1">
              <a:lnSpc>
                <a:spcPct val="90000"/>
              </a:lnSpc>
            </a:pPr>
            <a:r>
              <a:rPr lang="en-US" sz="2200" dirty="0"/>
              <a:t>Has real numbers as attribute values</a:t>
            </a:r>
          </a:p>
          <a:p>
            <a:pPr lvl="1">
              <a:lnSpc>
                <a:spcPct val="90000"/>
              </a:lnSpc>
            </a:pPr>
            <a:r>
              <a:rPr lang="en-US" sz="2200" dirty="0"/>
              <a:t>Examples: temperature, height, or weight.  </a:t>
            </a:r>
          </a:p>
          <a:p>
            <a:pPr lvl="1">
              <a:lnSpc>
                <a:spcPct val="90000"/>
              </a:lnSpc>
            </a:pPr>
            <a:r>
              <a:rPr lang="en-US" sz="2200" dirty="0"/>
              <a:t>Practically, real values can only be measured and represented using a finite number of digits.</a:t>
            </a:r>
          </a:p>
          <a:p>
            <a:pPr lvl="1">
              <a:lnSpc>
                <a:spcPct val="90000"/>
              </a:lnSpc>
            </a:pPr>
            <a:r>
              <a:rPr lang="en-US" sz="2200" dirty="0"/>
              <a:t>Continuous attributes are typically represented as floating-point variables.  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Asymmetric Attributes</a:t>
            </a:r>
          </a:p>
        </p:txBody>
      </p:sp>
      <p:sp>
        <p:nvSpPr>
          <p:cNvPr id="13315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411163" y="1066800"/>
            <a:ext cx="8428037" cy="5181600"/>
          </a:xfrm>
        </p:spPr>
        <p:txBody>
          <a:bodyPr>
            <a:normAutofit/>
          </a:bodyPr>
          <a:lstStyle/>
          <a:p>
            <a:r>
              <a:rPr lang="en-US" sz="2400" dirty="0"/>
              <a:t>Only presence (a non-zero attribute value) is regarded as important</a:t>
            </a:r>
          </a:p>
          <a:p>
            <a:pPr marL="1311275" lvl="2" indent="-396875"/>
            <a:r>
              <a:rPr lang="en-US" sz="1800" dirty="0"/>
              <a:t>Words present in documents</a:t>
            </a:r>
          </a:p>
          <a:p>
            <a:pPr marL="1311275" lvl="2" indent="-396875"/>
            <a:r>
              <a:rPr lang="en-US" sz="1800" dirty="0"/>
              <a:t>Items present in customer transactions</a:t>
            </a:r>
          </a:p>
          <a:p>
            <a:pPr marL="1311275" lvl="2" indent="-396875"/>
            <a:endParaRPr lang="en-US" sz="1800" dirty="0"/>
          </a:p>
          <a:p>
            <a:r>
              <a:rPr lang="en-US" sz="2400" dirty="0"/>
              <a:t>If we met a friend in the grocery store would we ever say the following?</a:t>
            </a:r>
            <a:br>
              <a:rPr lang="en-US" sz="2400" dirty="0"/>
            </a:br>
            <a:r>
              <a:rPr lang="en-US" sz="1000" dirty="0"/>
              <a:t/>
            </a:r>
            <a:br>
              <a:rPr lang="en-US" sz="1000" dirty="0"/>
            </a:br>
            <a:r>
              <a:rPr lang="en-US" sz="2400" i="1" dirty="0">
                <a:latin typeface="Times New Roman" pitchFamily="18" charset="0"/>
              </a:rPr>
              <a:t>“I see our purchases are very similar since we didn’t buy most of the same things.” </a:t>
            </a:r>
          </a:p>
          <a:p>
            <a:endParaRPr lang="en-US" sz="2400" i="1" dirty="0">
              <a:latin typeface="Times New Roman" pitchFamily="18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Key Messages for Attribute Types</a:t>
            </a:r>
          </a:p>
        </p:txBody>
      </p:sp>
      <p:sp>
        <p:nvSpPr>
          <p:cNvPr id="13315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411163" y="1066800"/>
            <a:ext cx="8428037" cy="5181600"/>
          </a:xfrm>
        </p:spPr>
        <p:txBody>
          <a:bodyPr>
            <a:normAutofit fontScale="92500" lnSpcReduction="20000"/>
          </a:bodyPr>
          <a:lstStyle/>
          <a:p>
            <a:endParaRPr lang="en-US" sz="2000" dirty="0"/>
          </a:p>
          <a:p>
            <a:r>
              <a:rPr lang="en-US" dirty="0"/>
              <a:t>The types of operations you choose should be “meaningful” for the type of data you have</a:t>
            </a:r>
          </a:p>
          <a:p>
            <a:pPr lvl="1"/>
            <a:r>
              <a:rPr lang="en-US" dirty="0"/>
              <a:t>Distinctness, order, meaningful intervals, and meaningful ratios are only four (among </a:t>
            </a:r>
            <a:r>
              <a:rPr lang="en-US"/>
              <a:t>many possible) </a:t>
            </a:r>
            <a:r>
              <a:rPr lang="en-US" dirty="0"/>
              <a:t>properties of data</a:t>
            </a:r>
          </a:p>
          <a:p>
            <a:pPr lvl="1"/>
            <a:endParaRPr lang="en-US" dirty="0"/>
          </a:p>
          <a:p>
            <a:pPr lvl="1"/>
            <a:r>
              <a:rPr lang="en-US" dirty="0"/>
              <a:t>The data type you see – often numbers or strings – may not capture all the properties or may suggest properties that are not present</a:t>
            </a:r>
          </a:p>
          <a:p>
            <a:pPr lvl="1"/>
            <a:endParaRPr lang="en-US" dirty="0"/>
          </a:p>
          <a:p>
            <a:pPr lvl="1"/>
            <a:r>
              <a:rPr lang="en-US" dirty="0"/>
              <a:t>Analysis may depend on these other properties of the data</a:t>
            </a:r>
          </a:p>
          <a:p>
            <a:pPr lvl="2" indent="233363"/>
            <a:r>
              <a:rPr lang="en-US" dirty="0"/>
              <a:t>Many statistical analyses depend only on the distribution</a:t>
            </a:r>
          </a:p>
          <a:p>
            <a:pPr lvl="1"/>
            <a:endParaRPr lang="en-US" dirty="0"/>
          </a:p>
          <a:p>
            <a:pPr lvl="1"/>
            <a:r>
              <a:rPr lang="en-US" dirty="0"/>
              <a:t>In the end, what is meaningful can be specific to domain</a:t>
            </a: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2577483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/>
          <p:cNvSpPr>
            <a:spLocks noGrp="1" noChangeArrowheads="1"/>
          </p:cNvSpPr>
          <p:nvPr>
            <p:ph type="title"/>
          </p:nvPr>
        </p:nvSpPr>
        <p:spPr>
          <a:xfrm>
            <a:off x="228600" y="0"/>
            <a:ext cx="8585200" cy="685800"/>
          </a:xfrm>
        </p:spPr>
        <p:txBody>
          <a:bodyPr/>
          <a:lstStyle/>
          <a:p>
            <a:r>
              <a:rPr lang="en-US" sz="2800"/>
              <a:t>Important Characteristics of Data</a:t>
            </a:r>
          </a:p>
        </p:txBody>
      </p:sp>
      <p:sp>
        <p:nvSpPr>
          <p:cNvPr id="1536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46050" y="990600"/>
            <a:ext cx="8394700" cy="5029200"/>
          </a:xfrm>
          <a:noFill/>
        </p:spPr>
        <p:txBody>
          <a:bodyPr>
            <a:normAutofit fontScale="92500" lnSpcReduction="10000"/>
          </a:bodyPr>
          <a:lstStyle/>
          <a:p>
            <a:pPr lvl="1">
              <a:lnSpc>
                <a:spcPct val="95000"/>
              </a:lnSpc>
              <a:spcBef>
                <a:spcPct val="20000"/>
              </a:spcBef>
            </a:pPr>
            <a:r>
              <a:rPr lang="en-US" sz="2800" dirty="0"/>
              <a:t>Dimensionality (number of attributes)</a:t>
            </a:r>
          </a:p>
          <a:p>
            <a:pPr lvl="2">
              <a:lnSpc>
                <a:spcPct val="95000"/>
              </a:lnSpc>
              <a:spcBef>
                <a:spcPct val="20000"/>
              </a:spcBef>
            </a:pPr>
            <a:r>
              <a:rPr lang="en-US" sz="2400" dirty="0"/>
              <a:t> High dimensional data brings a number </a:t>
            </a:r>
            <a:r>
              <a:rPr lang="en-US" sz="2400"/>
              <a:t>of challenges</a:t>
            </a:r>
            <a:endParaRPr lang="en-US" sz="2400" dirty="0"/>
          </a:p>
          <a:p>
            <a:pPr lvl="1">
              <a:lnSpc>
                <a:spcPct val="95000"/>
              </a:lnSpc>
              <a:spcBef>
                <a:spcPct val="20000"/>
              </a:spcBef>
            </a:pPr>
            <a:endParaRPr lang="en-US" dirty="0"/>
          </a:p>
          <a:p>
            <a:pPr lvl="1">
              <a:lnSpc>
                <a:spcPct val="95000"/>
              </a:lnSpc>
              <a:spcBef>
                <a:spcPct val="20000"/>
              </a:spcBef>
            </a:pPr>
            <a:r>
              <a:rPr lang="en-US" sz="2800" dirty="0" err="1"/>
              <a:t>Sparsity</a:t>
            </a:r>
            <a:endParaRPr lang="en-US" sz="2800" dirty="0"/>
          </a:p>
          <a:p>
            <a:pPr lvl="2">
              <a:lnSpc>
                <a:spcPct val="95000"/>
              </a:lnSpc>
              <a:spcBef>
                <a:spcPct val="20000"/>
              </a:spcBef>
            </a:pPr>
            <a:r>
              <a:rPr lang="en-US" sz="2400" dirty="0"/>
              <a:t> Only presence counts</a:t>
            </a:r>
          </a:p>
          <a:p>
            <a:pPr lvl="1">
              <a:lnSpc>
                <a:spcPct val="95000"/>
              </a:lnSpc>
              <a:spcBef>
                <a:spcPct val="20000"/>
              </a:spcBef>
            </a:pPr>
            <a:endParaRPr lang="en-US" dirty="0"/>
          </a:p>
          <a:p>
            <a:pPr lvl="1">
              <a:lnSpc>
                <a:spcPct val="95000"/>
              </a:lnSpc>
              <a:spcBef>
                <a:spcPct val="20000"/>
              </a:spcBef>
            </a:pPr>
            <a:r>
              <a:rPr lang="en-US" sz="2800" dirty="0"/>
              <a:t>Resolution</a:t>
            </a:r>
          </a:p>
          <a:p>
            <a:pPr lvl="2" indent="-342900">
              <a:lnSpc>
                <a:spcPct val="105000"/>
              </a:lnSpc>
              <a:spcBef>
                <a:spcPct val="20000"/>
              </a:spcBef>
            </a:pPr>
            <a:r>
              <a:rPr lang="en-US" sz="2400" dirty="0"/>
              <a:t> Patterns depend on the scale </a:t>
            </a:r>
          </a:p>
          <a:p>
            <a:pPr lvl="2">
              <a:lnSpc>
                <a:spcPct val="95000"/>
              </a:lnSpc>
              <a:spcBef>
                <a:spcPct val="20000"/>
              </a:spcBef>
            </a:pPr>
            <a:endParaRPr lang="en-US" sz="2400" dirty="0"/>
          </a:p>
          <a:p>
            <a:pPr lvl="1">
              <a:lnSpc>
                <a:spcPct val="95000"/>
              </a:lnSpc>
              <a:spcBef>
                <a:spcPct val="20000"/>
              </a:spcBef>
            </a:pPr>
            <a:r>
              <a:rPr lang="en-US" sz="2800" dirty="0"/>
              <a:t>Size</a:t>
            </a:r>
          </a:p>
          <a:p>
            <a:pPr lvl="2" indent="-342900">
              <a:lnSpc>
                <a:spcPct val="115000"/>
              </a:lnSpc>
              <a:spcBef>
                <a:spcPct val="20000"/>
              </a:spcBef>
            </a:pPr>
            <a:r>
              <a:rPr lang="en-US" sz="2400" dirty="0"/>
              <a:t>Type of analysis may depend on size of data</a:t>
            </a:r>
          </a:p>
          <a:p>
            <a:pPr lvl="1">
              <a:lnSpc>
                <a:spcPct val="95000"/>
              </a:lnSpc>
              <a:spcBef>
                <a:spcPct val="20000"/>
              </a:spcBef>
            </a:pPr>
            <a:endParaRPr lang="en-US" dirty="0">
              <a:latin typeface="Times New Roman" pitchFamily="18" charset="0"/>
              <a:cs typeface="Times New Roman" pitchFamily="18" charset="0"/>
            </a:endParaRPr>
          </a:p>
          <a:p>
            <a:pPr lvl="1">
              <a:lnSpc>
                <a:spcPct val="95000"/>
              </a:lnSpc>
              <a:spcBef>
                <a:spcPct val="20000"/>
              </a:spcBef>
            </a:pPr>
            <a:endParaRPr lang="en-US" sz="2000" dirty="0">
              <a:latin typeface="Times New Roman" pitchFamily="18" charset="0"/>
              <a:cs typeface="Times New Roman" pitchFamily="18" charset="0"/>
            </a:endParaRPr>
          </a:p>
          <a:p>
            <a:pPr lvl="1">
              <a:lnSpc>
                <a:spcPct val="95000"/>
              </a:lnSpc>
              <a:spcBef>
                <a:spcPct val="20000"/>
              </a:spcBef>
            </a:pPr>
            <a:endParaRPr lang="en-US" sz="2000" b="1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1026"/>
          <p:cNvSpPr>
            <a:spLocks noGrp="1" noChangeArrowheads="1"/>
          </p:cNvSpPr>
          <p:nvPr>
            <p:ph type="title"/>
          </p:nvPr>
        </p:nvSpPr>
        <p:spPr>
          <a:xfrm>
            <a:off x="228600" y="0"/>
            <a:ext cx="8585200" cy="685800"/>
          </a:xfrm>
        </p:spPr>
        <p:txBody>
          <a:bodyPr/>
          <a:lstStyle/>
          <a:p>
            <a:r>
              <a:rPr lang="en-US"/>
              <a:t>Types of data sets </a:t>
            </a:r>
          </a:p>
        </p:txBody>
      </p:sp>
      <p:sp>
        <p:nvSpPr>
          <p:cNvPr id="14339" name="Rectangle 1027"/>
          <p:cNvSpPr>
            <a:spLocks noGrp="1" noChangeArrowheads="1"/>
          </p:cNvSpPr>
          <p:nvPr>
            <p:ph type="body" idx="1"/>
          </p:nvPr>
        </p:nvSpPr>
        <p:spPr>
          <a:xfrm>
            <a:off x="146050" y="990600"/>
            <a:ext cx="8394700" cy="5029200"/>
          </a:xfrm>
          <a:noFill/>
        </p:spPr>
        <p:txBody>
          <a:bodyPr/>
          <a:lstStyle/>
          <a:p>
            <a:pPr marL="285750" indent="-285750">
              <a:lnSpc>
                <a:spcPct val="90000"/>
              </a:lnSpc>
            </a:pPr>
            <a:r>
              <a:rPr lang="en-US" sz="2600" dirty="0">
                <a:cs typeface="Times New Roman" pitchFamily="18" charset="0"/>
              </a:rPr>
              <a:t>Record</a:t>
            </a:r>
          </a:p>
          <a:p>
            <a:pPr lvl="1">
              <a:lnSpc>
                <a:spcPct val="90000"/>
              </a:lnSpc>
            </a:pPr>
            <a:r>
              <a:rPr lang="en-US" dirty="0">
                <a:cs typeface="Times New Roman" pitchFamily="18" charset="0"/>
              </a:rPr>
              <a:t>Data Matrix</a:t>
            </a:r>
          </a:p>
          <a:p>
            <a:pPr lvl="1">
              <a:lnSpc>
                <a:spcPct val="90000"/>
              </a:lnSpc>
            </a:pPr>
            <a:r>
              <a:rPr lang="en-US" dirty="0">
                <a:cs typeface="Times New Roman" pitchFamily="18" charset="0"/>
              </a:rPr>
              <a:t>Document Data</a:t>
            </a:r>
          </a:p>
          <a:p>
            <a:pPr lvl="1">
              <a:lnSpc>
                <a:spcPct val="90000"/>
              </a:lnSpc>
            </a:pPr>
            <a:r>
              <a:rPr lang="en-US" dirty="0">
                <a:cs typeface="Times New Roman" pitchFamily="18" charset="0"/>
              </a:rPr>
              <a:t>Transaction Data</a:t>
            </a:r>
            <a:endParaRPr lang="en-US" dirty="0"/>
          </a:p>
          <a:p>
            <a:pPr marL="285750" indent="-285750">
              <a:lnSpc>
                <a:spcPct val="90000"/>
              </a:lnSpc>
            </a:pPr>
            <a:r>
              <a:rPr lang="en-US" sz="2600" dirty="0">
                <a:cs typeface="Times New Roman" pitchFamily="18" charset="0"/>
              </a:rPr>
              <a:t>Graph</a:t>
            </a:r>
          </a:p>
          <a:p>
            <a:pPr lvl="1">
              <a:lnSpc>
                <a:spcPct val="90000"/>
              </a:lnSpc>
            </a:pPr>
            <a:r>
              <a:rPr lang="en-US" dirty="0">
                <a:cs typeface="Times New Roman" pitchFamily="18" charset="0"/>
              </a:rPr>
              <a:t>World Wide Web</a:t>
            </a:r>
          </a:p>
          <a:p>
            <a:pPr lvl="1">
              <a:lnSpc>
                <a:spcPct val="90000"/>
              </a:lnSpc>
            </a:pPr>
            <a:r>
              <a:rPr lang="en-US" dirty="0">
                <a:cs typeface="Times New Roman" pitchFamily="18" charset="0"/>
              </a:rPr>
              <a:t>Molecular Structures</a:t>
            </a:r>
          </a:p>
          <a:p>
            <a:pPr marL="285750" indent="-285750">
              <a:lnSpc>
                <a:spcPct val="90000"/>
              </a:lnSpc>
            </a:pPr>
            <a:r>
              <a:rPr lang="en-US" sz="2600" dirty="0">
                <a:cs typeface="Times New Roman" pitchFamily="18" charset="0"/>
              </a:rPr>
              <a:t>Ordered</a:t>
            </a:r>
          </a:p>
          <a:p>
            <a:pPr lvl="1">
              <a:lnSpc>
                <a:spcPct val="90000"/>
              </a:lnSpc>
            </a:pPr>
            <a:r>
              <a:rPr lang="en-US" dirty="0">
                <a:cs typeface="Times New Roman" pitchFamily="18" charset="0"/>
              </a:rPr>
              <a:t>Spatial Data</a:t>
            </a:r>
          </a:p>
          <a:p>
            <a:pPr lvl="1">
              <a:lnSpc>
                <a:spcPct val="90000"/>
              </a:lnSpc>
            </a:pPr>
            <a:r>
              <a:rPr lang="en-US" dirty="0">
                <a:cs typeface="Times New Roman" pitchFamily="18" charset="0"/>
              </a:rPr>
              <a:t>Temporal Data</a:t>
            </a:r>
          </a:p>
          <a:p>
            <a:pPr lvl="1">
              <a:lnSpc>
                <a:spcPct val="90000"/>
              </a:lnSpc>
            </a:pPr>
            <a:r>
              <a:rPr lang="en-US" dirty="0">
                <a:cs typeface="Times New Roman" pitchFamily="18" charset="0"/>
              </a:rPr>
              <a:t>Sequential Data</a:t>
            </a:r>
          </a:p>
          <a:p>
            <a:pPr lvl="1">
              <a:lnSpc>
                <a:spcPct val="90000"/>
              </a:lnSpc>
            </a:pPr>
            <a:r>
              <a:rPr lang="en-US" dirty="0">
                <a:cs typeface="Times New Roman" pitchFamily="18" charset="0"/>
              </a:rPr>
              <a:t>Genetic Sequence Data</a:t>
            </a:r>
          </a:p>
          <a:p>
            <a:pPr lvl="1">
              <a:lnSpc>
                <a:spcPct val="95000"/>
              </a:lnSpc>
              <a:spcBef>
                <a:spcPct val="20000"/>
              </a:spcBef>
              <a:buFont typeface="Arial" pitchFamily="34" charset="0"/>
              <a:buNone/>
            </a:pPr>
            <a:endParaRPr lang="en-US" b="1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4387320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6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Record Data </a:t>
            </a:r>
          </a:p>
        </p:txBody>
      </p:sp>
      <p:sp>
        <p:nvSpPr>
          <p:cNvPr id="16387" name="Rectangle 7"/>
          <p:cNvSpPr>
            <a:spLocks noGrp="1" noChangeArrowheads="1"/>
          </p:cNvSpPr>
          <p:nvPr>
            <p:ph type="body" idx="1"/>
          </p:nvPr>
        </p:nvSpPr>
        <p:spPr>
          <a:xfrm>
            <a:off x="411163" y="1143000"/>
            <a:ext cx="8318500" cy="990600"/>
          </a:xfrm>
        </p:spPr>
        <p:txBody>
          <a:bodyPr>
            <a:normAutofit lnSpcReduction="10000"/>
          </a:bodyPr>
          <a:lstStyle/>
          <a:p>
            <a:r>
              <a:rPr lang="en-US" dirty="0"/>
              <a:t>Data that consists of a collection of records, each of which consists of a fixed set of attributes </a:t>
            </a:r>
          </a:p>
          <a:p>
            <a:pPr lvl="1"/>
            <a:endParaRPr lang="en-US" dirty="0"/>
          </a:p>
          <a:p>
            <a:pPr lvl="1"/>
            <a:endParaRPr lang="en-US" dirty="0"/>
          </a:p>
        </p:txBody>
      </p:sp>
      <p:graphicFrame>
        <p:nvGraphicFramePr>
          <p:cNvPr id="16388" name="Object 5"/>
          <p:cNvGraphicFramePr>
            <a:graphicFrameLocks noChangeAspect="1"/>
          </p:cNvGraphicFramePr>
          <p:nvPr/>
        </p:nvGraphicFramePr>
        <p:xfrm>
          <a:off x="2209800" y="2209800"/>
          <a:ext cx="3848100" cy="4114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592" name="Document" r:id="rId4" imgW="5405628" imgH="5779008" progId="Word.Document.8">
                  <p:embed/>
                </p:oleObj>
              </mc:Choice>
              <mc:Fallback>
                <p:oleObj name="Document" r:id="rId4" imgW="5405628" imgH="5779008" progId="Word.Document.8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09800" y="2209800"/>
                        <a:ext cx="3848100" cy="4114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5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Matrix </a:t>
            </a:r>
          </a:p>
        </p:txBody>
      </p:sp>
      <p:sp>
        <p:nvSpPr>
          <p:cNvPr id="17411" name="Rectangle 6"/>
          <p:cNvSpPr>
            <a:spLocks noGrp="1" noChangeArrowheads="1"/>
          </p:cNvSpPr>
          <p:nvPr>
            <p:ph type="body" idx="1"/>
          </p:nvPr>
        </p:nvSpPr>
        <p:spPr>
          <a:xfrm>
            <a:off x="411163" y="1143000"/>
            <a:ext cx="8318500" cy="3124200"/>
          </a:xfrm>
        </p:spPr>
        <p:txBody>
          <a:bodyPr/>
          <a:lstStyle/>
          <a:p>
            <a:r>
              <a:rPr lang="en-US" sz="2400" dirty="0"/>
              <a:t>If data </a:t>
            </a:r>
            <a:r>
              <a:rPr lang="en-US" sz="2400" dirty="0" smtClean="0"/>
              <a:t>instances </a:t>
            </a:r>
            <a:r>
              <a:rPr lang="en-US" sz="2400" dirty="0"/>
              <a:t>have the same fixed set of numeric attributes, then the data </a:t>
            </a:r>
            <a:r>
              <a:rPr lang="en-US" sz="2400" dirty="0" smtClean="0"/>
              <a:t>instances </a:t>
            </a:r>
            <a:r>
              <a:rPr lang="en-US" sz="2400" dirty="0"/>
              <a:t>can be thought of as points in a multi-dimensional space, where each dimension represents a distinct attribute </a:t>
            </a:r>
          </a:p>
          <a:p>
            <a:pPr lvl="4"/>
            <a:endParaRPr lang="en-US" sz="1800" dirty="0"/>
          </a:p>
          <a:p>
            <a:r>
              <a:rPr lang="en-US" sz="2400" dirty="0"/>
              <a:t>Such a data set can be represented by an </a:t>
            </a:r>
            <a:r>
              <a:rPr lang="en-US" sz="2400" i="1" dirty="0"/>
              <a:t>m</a:t>
            </a:r>
            <a:r>
              <a:rPr lang="en-US" sz="2400" dirty="0"/>
              <a:t> by </a:t>
            </a:r>
            <a:r>
              <a:rPr lang="en-US" sz="2400" i="1" dirty="0"/>
              <a:t>n</a:t>
            </a:r>
            <a:r>
              <a:rPr lang="en-US" sz="2400" dirty="0"/>
              <a:t> matrix, where there are </a:t>
            </a:r>
            <a:r>
              <a:rPr lang="en-US" sz="2400" i="1" dirty="0"/>
              <a:t>m</a:t>
            </a:r>
            <a:r>
              <a:rPr lang="en-US" sz="2400" dirty="0"/>
              <a:t> rows, one for each </a:t>
            </a:r>
            <a:r>
              <a:rPr lang="en-US" sz="2400" dirty="0" smtClean="0"/>
              <a:t>instance, </a:t>
            </a:r>
            <a:r>
              <a:rPr lang="en-US" sz="2400" dirty="0"/>
              <a:t>and </a:t>
            </a:r>
            <a:r>
              <a:rPr lang="en-US" sz="2400" i="1" dirty="0"/>
              <a:t>n</a:t>
            </a:r>
            <a:r>
              <a:rPr lang="en-US" sz="2400" dirty="0"/>
              <a:t> columns, one for each attribute</a:t>
            </a:r>
          </a:p>
        </p:txBody>
      </p:sp>
      <p:graphicFrame>
        <p:nvGraphicFramePr>
          <p:cNvPr id="17412" name="Object 4"/>
          <p:cNvGraphicFramePr>
            <a:graphicFrameLocks noChangeAspect="1"/>
          </p:cNvGraphicFramePr>
          <p:nvPr/>
        </p:nvGraphicFramePr>
        <p:xfrm>
          <a:off x="762000" y="4314825"/>
          <a:ext cx="7761288" cy="2009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617" name="VISIO" r:id="rId4" imgW="5706222" imgH="1480748" progId="Visio.Drawing.6">
                  <p:embed/>
                </p:oleObj>
              </mc:Choice>
              <mc:Fallback>
                <p:oleObj name="VISIO" r:id="rId4" imgW="5706222" imgH="1480748" progId="Visio.Drawing.6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2000" y="4314825"/>
                        <a:ext cx="7761288" cy="20097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6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Document Data</a:t>
            </a:r>
          </a:p>
        </p:txBody>
      </p:sp>
      <p:sp>
        <p:nvSpPr>
          <p:cNvPr id="18435" name="Rectangle 7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Each document becomes a ‘term’ vector </a:t>
            </a:r>
          </a:p>
          <a:p>
            <a:pPr lvl="1"/>
            <a:r>
              <a:rPr lang="en-US" dirty="0"/>
              <a:t>Each term is a component (attribute) of the vector</a:t>
            </a:r>
          </a:p>
          <a:p>
            <a:pPr lvl="1"/>
            <a:r>
              <a:rPr lang="en-US" dirty="0"/>
              <a:t>The value of each component is the number of times the corresponding term occurs in the document. </a:t>
            </a:r>
          </a:p>
          <a:p>
            <a:pPr lvl="1"/>
            <a:endParaRPr lang="en-US" dirty="0"/>
          </a:p>
          <a:p>
            <a:pPr lvl="1"/>
            <a:endParaRPr lang="en-US" dirty="0"/>
          </a:p>
        </p:txBody>
      </p:sp>
      <p:graphicFrame>
        <p:nvGraphicFramePr>
          <p:cNvPr id="18436" name="Object 8"/>
          <p:cNvGraphicFramePr>
            <a:graphicFrameLocks noChangeAspect="1"/>
          </p:cNvGraphicFramePr>
          <p:nvPr/>
        </p:nvGraphicFramePr>
        <p:xfrm>
          <a:off x="685800" y="3048000"/>
          <a:ext cx="7038975" cy="31988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641" name="Visio" r:id="rId4" imgW="5925718" imgH="2693902" progId="Visio.Drawing.6">
                  <p:embed/>
                </p:oleObj>
              </mc:Choice>
              <mc:Fallback>
                <p:oleObj name="Visio" r:id="rId4" imgW="5925718" imgH="2693902" progId="Visio.Drawing.6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5800" y="3048000"/>
                        <a:ext cx="7038975" cy="31988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6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Transaction Data</a:t>
            </a:r>
          </a:p>
        </p:txBody>
      </p:sp>
      <p:sp>
        <p:nvSpPr>
          <p:cNvPr id="19459" name="Rectangle 7"/>
          <p:cNvSpPr>
            <a:spLocks noGrp="1" noChangeArrowheads="1"/>
          </p:cNvSpPr>
          <p:nvPr>
            <p:ph type="body" idx="1"/>
          </p:nvPr>
        </p:nvSpPr>
        <p:spPr>
          <a:xfrm>
            <a:off x="411163" y="1143000"/>
            <a:ext cx="8318500" cy="2362200"/>
          </a:xfrm>
        </p:spPr>
        <p:txBody>
          <a:bodyPr>
            <a:normAutofit lnSpcReduction="10000"/>
          </a:bodyPr>
          <a:lstStyle/>
          <a:p>
            <a:r>
              <a:rPr lang="en-US" sz="2400" dirty="0"/>
              <a:t>A special type of data, where </a:t>
            </a:r>
          </a:p>
          <a:p>
            <a:pPr lvl="1"/>
            <a:r>
              <a:rPr lang="en-US" sz="2000" dirty="0"/>
              <a:t>Each transaction involves a set of items.  </a:t>
            </a:r>
          </a:p>
          <a:p>
            <a:pPr lvl="1"/>
            <a:r>
              <a:rPr lang="en-US" sz="2000" dirty="0"/>
              <a:t>For example, consider a grocery store.  The set of products purchased by a customer during one shopping trip constitute a transaction, while the individual products that were purchased are the items.</a:t>
            </a:r>
          </a:p>
          <a:p>
            <a:pPr lvl="1"/>
            <a:r>
              <a:rPr lang="en-US" sz="2000" dirty="0"/>
              <a:t>Can represent transaction data as record data </a:t>
            </a:r>
          </a:p>
          <a:p>
            <a:pPr lvl="1"/>
            <a:endParaRPr lang="en-US" dirty="0"/>
          </a:p>
          <a:p>
            <a:pPr lvl="1"/>
            <a:endParaRPr lang="en-US" dirty="0"/>
          </a:p>
        </p:txBody>
      </p:sp>
      <p:graphicFrame>
        <p:nvGraphicFramePr>
          <p:cNvPr id="19460" name="Object 5"/>
          <p:cNvGraphicFramePr>
            <a:graphicFrameLocks noChangeAspect="1"/>
          </p:cNvGraphicFramePr>
          <p:nvPr/>
        </p:nvGraphicFramePr>
        <p:xfrm>
          <a:off x="1752600" y="3641725"/>
          <a:ext cx="5421313" cy="2835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664" name="Document" r:id="rId4" imgW="3823716" imgH="1999488" progId="Word.Document.8">
                  <p:embed/>
                </p:oleObj>
              </mc:Choice>
              <mc:Fallback>
                <p:oleObj name="Document" r:id="rId4" imgW="3823716" imgH="1999488" progId="Word.Document.8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52600" y="3641725"/>
                        <a:ext cx="5421313" cy="28352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7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Graph Data </a:t>
            </a:r>
          </a:p>
        </p:txBody>
      </p:sp>
      <p:sp>
        <p:nvSpPr>
          <p:cNvPr id="20483" name="Rectangle 8"/>
          <p:cNvSpPr>
            <a:spLocks noGrp="1" noChangeArrowheads="1"/>
          </p:cNvSpPr>
          <p:nvPr>
            <p:ph type="body" idx="1"/>
          </p:nvPr>
        </p:nvSpPr>
        <p:spPr>
          <a:xfrm>
            <a:off x="411163" y="1066800"/>
            <a:ext cx="8318500" cy="5181600"/>
          </a:xfrm>
        </p:spPr>
        <p:txBody>
          <a:bodyPr/>
          <a:lstStyle/>
          <a:p>
            <a:r>
              <a:rPr lang="en-US" sz="2500" dirty="0"/>
              <a:t>Examples: Generic graph, a molecule, and webpages </a:t>
            </a:r>
          </a:p>
        </p:txBody>
      </p:sp>
      <p:graphicFrame>
        <p:nvGraphicFramePr>
          <p:cNvPr id="20484" name="Object 5"/>
          <p:cNvGraphicFramePr>
            <a:graphicFrameLocks noChangeAspect="1"/>
          </p:cNvGraphicFramePr>
          <p:nvPr/>
        </p:nvGraphicFramePr>
        <p:xfrm>
          <a:off x="152400" y="1676400"/>
          <a:ext cx="2979738" cy="2289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894" name="VISIO" r:id="rId4" imgW="839724" imgH="646176" progId="Visio.Drawing.6">
                  <p:embed/>
                </p:oleObj>
              </mc:Choice>
              <mc:Fallback>
                <p:oleObj name="VISIO" r:id="rId4" imgW="839724" imgH="646176" progId="Visio.Drawing.6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2400" y="1676400"/>
                        <a:ext cx="2979738" cy="22891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20485" name="Picture 9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24200" y="1600200"/>
            <a:ext cx="5959475" cy="4568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20486" name="Object 10"/>
          <p:cNvGraphicFramePr>
            <a:graphicFrameLocks noChangeAspect="1"/>
          </p:cNvGraphicFramePr>
          <p:nvPr/>
        </p:nvGraphicFramePr>
        <p:xfrm>
          <a:off x="381000" y="4191000"/>
          <a:ext cx="1965325" cy="1831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895" name="VISIO" r:id="rId7" imgW="5792724" imgH="5411724" progId="Visio.Drawing.6">
                  <p:embed/>
                </p:oleObj>
              </mc:Choice>
              <mc:Fallback>
                <p:oleObj name="VISIO" r:id="rId7" imgW="5792724" imgH="5411724" progId="Visio.Drawing.6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1000" y="4191000"/>
                        <a:ext cx="1965325" cy="18319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487" name="Rectangle 11"/>
          <p:cNvSpPr>
            <a:spLocks noChangeArrowheads="1"/>
          </p:cNvSpPr>
          <p:nvPr/>
        </p:nvSpPr>
        <p:spPr bwMode="auto">
          <a:xfrm>
            <a:off x="0" y="5943600"/>
            <a:ext cx="3065463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charset="2"/>
              <a:buNone/>
            </a:pPr>
            <a:r>
              <a:rPr lang="en-US" sz="2000" b="0"/>
              <a:t>Benzene Molecule: C6H6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1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Ordered Data </a:t>
            </a:r>
          </a:p>
        </p:txBody>
      </p:sp>
      <p:sp>
        <p:nvSpPr>
          <p:cNvPr id="21507" name="Rectangle 1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Sequences of transactions</a:t>
            </a:r>
          </a:p>
        </p:txBody>
      </p:sp>
      <p:pic>
        <p:nvPicPr>
          <p:cNvPr id="21508" name="Picture 6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17725" y="2408238"/>
            <a:ext cx="5121275" cy="38401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1509" name="Text Box 7"/>
          <p:cNvSpPr txBox="1">
            <a:spLocks noChangeArrowheads="1"/>
          </p:cNvSpPr>
          <p:nvPr/>
        </p:nvSpPr>
        <p:spPr bwMode="auto">
          <a:xfrm>
            <a:off x="2422525" y="5486400"/>
            <a:ext cx="2682875" cy="822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400" b="1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sz="2400"/>
              <a:t>An element of the sequence</a:t>
            </a:r>
          </a:p>
        </p:txBody>
      </p:sp>
      <p:sp>
        <p:nvSpPr>
          <p:cNvPr id="21510" name="AutoShape 8"/>
          <p:cNvSpPr>
            <a:spLocks/>
          </p:cNvSpPr>
          <p:nvPr/>
        </p:nvSpPr>
        <p:spPr bwMode="auto">
          <a:xfrm rot="-5400000">
            <a:off x="2994025" y="4457700"/>
            <a:ext cx="533400" cy="1371600"/>
          </a:xfrm>
          <a:prstGeom prst="leftBrace">
            <a:avLst>
              <a:gd name="adj1" fmla="val 21429"/>
              <a:gd name="adj2" fmla="val 50000"/>
            </a:avLst>
          </a:prstGeom>
          <a:noFill/>
          <a:ln w="2540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1511" name="Text Box 9"/>
          <p:cNvSpPr txBox="1">
            <a:spLocks noChangeArrowheads="1"/>
          </p:cNvSpPr>
          <p:nvPr/>
        </p:nvSpPr>
        <p:spPr bwMode="auto">
          <a:xfrm>
            <a:off x="2514600" y="1828800"/>
            <a:ext cx="2286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400" b="1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sz="2400"/>
              <a:t>Items/Events</a:t>
            </a:r>
          </a:p>
        </p:txBody>
      </p:sp>
      <p:sp>
        <p:nvSpPr>
          <p:cNvPr id="21512" name="Line 10"/>
          <p:cNvSpPr>
            <a:spLocks noChangeShapeType="1"/>
          </p:cNvSpPr>
          <p:nvPr/>
        </p:nvSpPr>
        <p:spPr bwMode="auto">
          <a:xfrm>
            <a:off x="3124200" y="2286000"/>
            <a:ext cx="0" cy="838200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1513" name="Line 11"/>
          <p:cNvSpPr>
            <a:spLocks noChangeShapeType="1"/>
          </p:cNvSpPr>
          <p:nvPr/>
        </p:nvSpPr>
        <p:spPr bwMode="auto">
          <a:xfrm>
            <a:off x="3581400" y="2286000"/>
            <a:ext cx="0" cy="838200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5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Ordered Data </a:t>
            </a:r>
          </a:p>
        </p:txBody>
      </p:sp>
      <p:sp>
        <p:nvSpPr>
          <p:cNvPr id="22531" name="Rectangle 6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 Genomic sequence data</a:t>
            </a:r>
          </a:p>
        </p:txBody>
      </p:sp>
      <p:graphicFrame>
        <p:nvGraphicFramePr>
          <p:cNvPr id="22532" name="Object 4"/>
          <p:cNvGraphicFramePr>
            <a:graphicFrameLocks noChangeAspect="1"/>
          </p:cNvGraphicFramePr>
          <p:nvPr/>
        </p:nvGraphicFramePr>
        <p:xfrm>
          <a:off x="1600200" y="1676400"/>
          <a:ext cx="5356225" cy="45704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736" name="VISIO" r:id="rId4" imgW="2330196" imgH="1991868" progId="Visio.Drawing.6">
                  <p:embed/>
                </p:oleObj>
              </mc:Choice>
              <mc:Fallback>
                <p:oleObj name="VISIO" r:id="rId4" imgW="2330196" imgH="1991868" progId="Visio.Drawing.6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00200" y="1676400"/>
                        <a:ext cx="5356225" cy="45704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554" name="Picture 9" descr="sst_land_temp_82_best"/>
          <p:cNvPicPr>
            <a:picLocks noGrp="1" noChangeAspect="1" noChangeArrowheads="1" noCrop="1"/>
          </p:cNvPicPr>
          <p:nvPr>
            <p:ph idx="4294967295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438400" y="1427163"/>
            <a:ext cx="6629400" cy="4973637"/>
          </a:xfrm>
          <a:noFill/>
        </p:spPr>
      </p:pic>
      <p:sp>
        <p:nvSpPr>
          <p:cNvPr id="2355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/>
              <a:t>Ordered Data</a:t>
            </a:r>
          </a:p>
        </p:txBody>
      </p:sp>
      <p:sp>
        <p:nvSpPr>
          <p:cNvPr id="23556" name="Rectangle 11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Spatio-Temporal Data</a:t>
            </a:r>
          </a:p>
        </p:txBody>
      </p:sp>
      <p:sp>
        <p:nvSpPr>
          <p:cNvPr id="23557" name="Rectangle 3"/>
          <p:cNvSpPr>
            <a:spLocks noChangeArrowheads="1"/>
          </p:cNvSpPr>
          <p:nvPr/>
        </p:nvSpPr>
        <p:spPr bwMode="auto">
          <a:xfrm>
            <a:off x="2667000" y="266700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endParaRPr lang="en-US"/>
          </a:p>
        </p:txBody>
      </p:sp>
      <p:sp>
        <p:nvSpPr>
          <p:cNvPr id="23558" name="Text Box 12"/>
          <p:cNvSpPr txBox="1">
            <a:spLocks noChangeArrowheads="1"/>
          </p:cNvSpPr>
          <p:nvPr/>
        </p:nvSpPr>
        <p:spPr bwMode="auto">
          <a:xfrm>
            <a:off x="457200" y="2955925"/>
            <a:ext cx="2667000" cy="1187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400" b="1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sz="2400"/>
              <a:t>Average Monthly Temperature of land and ocean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Data Quality </a:t>
            </a:r>
          </a:p>
        </p:txBody>
      </p:sp>
      <p:sp>
        <p:nvSpPr>
          <p:cNvPr id="2457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2400" dirty="0"/>
              <a:t>Poor data quality negatively affects many data processing efforts</a:t>
            </a:r>
          </a:p>
          <a:p>
            <a:pPr>
              <a:buFont typeface="Monotype Sorts" charset="2"/>
              <a:buNone/>
            </a:pPr>
            <a:endParaRPr lang="en-US" sz="2400" dirty="0">
              <a:latin typeface="Times New Roman" pitchFamily="18" charset="0"/>
            </a:endParaRPr>
          </a:p>
          <a:p>
            <a:pPr>
              <a:buFont typeface="Monotype Sorts" charset="2"/>
              <a:buNone/>
            </a:pPr>
            <a:endParaRPr lang="en-US" sz="900" dirty="0">
              <a:latin typeface="Times New Roman" pitchFamily="18" charset="0"/>
            </a:endParaRPr>
          </a:p>
          <a:p>
            <a:r>
              <a:rPr lang="en-US" sz="2400" dirty="0"/>
              <a:t>Data mining example: a classification model for detecting people who are loan risks is built using poor data</a:t>
            </a:r>
          </a:p>
          <a:p>
            <a:pPr lvl="1"/>
            <a:r>
              <a:rPr lang="en-US" sz="2200" dirty="0"/>
              <a:t>Some credit-worthy candidates are denied loans</a:t>
            </a:r>
          </a:p>
          <a:p>
            <a:pPr lvl="1"/>
            <a:r>
              <a:rPr lang="en-US" sz="2200" dirty="0"/>
              <a:t>More loans are given to individuals that default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5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Data Quality …</a:t>
            </a:r>
          </a:p>
        </p:txBody>
      </p:sp>
      <p:sp>
        <p:nvSpPr>
          <p:cNvPr id="25603" name="Rectangle 6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What kinds of data quality problems?</a:t>
            </a:r>
          </a:p>
          <a:p>
            <a:r>
              <a:rPr lang="en-US" dirty="0"/>
              <a:t>How can we detect problems with the data? </a:t>
            </a:r>
          </a:p>
          <a:p>
            <a:r>
              <a:rPr lang="en-US" dirty="0"/>
              <a:t>What can we do about these problems? </a:t>
            </a:r>
          </a:p>
          <a:p>
            <a:pPr lvl="4"/>
            <a:endParaRPr lang="en-US" dirty="0"/>
          </a:p>
          <a:p>
            <a:pPr lvl="4"/>
            <a:endParaRPr lang="en-US" dirty="0"/>
          </a:p>
          <a:p>
            <a:r>
              <a:rPr lang="en-US" dirty="0"/>
              <a:t>Examples of data quality problems: </a:t>
            </a:r>
          </a:p>
          <a:p>
            <a:pPr lvl="1"/>
            <a:r>
              <a:rPr lang="en-US" dirty="0"/>
              <a:t>Noise and outliers </a:t>
            </a:r>
          </a:p>
          <a:p>
            <a:pPr lvl="1"/>
            <a:r>
              <a:rPr lang="en-US" dirty="0"/>
              <a:t>Wrong data </a:t>
            </a:r>
          </a:p>
          <a:p>
            <a:pPr lvl="1"/>
            <a:r>
              <a:rPr lang="en-US" dirty="0"/>
              <a:t>Fake data </a:t>
            </a:r>
          </a:p>
          <a:p>
            <a:pPr lvl="1"/>
            <a:r>
              <a:rPr lang="en-US" dirty="0"/>
              <a:t>Missing values </a:t>
            </a:r>
          </a:p>
          <a:p>
            <a:pPr lvl="1"/>
            <a:r>
              <a:rPr lang="en-US" dirty="0"/>
              <a:t>Duplicate data 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8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Noise</a:t>
            </a:r>
          </a:p>
        </p:txBody>
      </p:sp>
      <p:sp>
        <p:nvSpPr>
          <p:cNvPr id="26627" name="Rectangle 9"/>
          <p:cNvSpPr>
            <a:spLocks noGrp="1" noChangeArrowheads="1"/>
          </p:cNvSpPr>
          <p:nvPr>
            <p:ph type="body" idx="1"/>
          </p:nvPr>
        </p:nvSpPr>
        <p:spPr>
          <a:xfrm>
            <a:off x="411163" y="1143000"/>
            <a:ext cx="8318500" cy="2362200"/>
          </a:xfrm>
        </p:spPr>
        <p:txBody>
          <a:bodyPr>
            <a:normAutofit fontScale="85000" lnSpcReduction="20000"/>
          </a:bodyPr>
          <a:lstStyle/>
          <a:p>
            <a:r>
              <a:rPr lang="en-US" sz="2600" dirty="0">
                <a:latin typeface="+mj-lt"/>
              </a:rPr>
              <a:t>For </a:t>
            </a:r>
            <a:r>
              <a:rPr lang="en-US" sz="2600" dirty="0" smtClean="0">
                <a:latin typeface="+mj-lt"/>
              </a:rPr>
              <a:t>instances, </a:t>
            </a:r>
            <a:r>
              <a:rPr lang="en-US" sz="2600" dirty="0">
                <a:latin typeface="+mj-lt"/>
              </a:rPr>
              <a:t>noise is an extraneous </a:t>
            </a:r>
            <a:r>
              <a:rPr lang="en-US" sz="2600" dirty="0" smtClean="0">
                <a:latin typeface="+mj-lt"/>
              </a:rPr>
              <a:t>instance</a:t>
            </a:r>
            <a:endParaRPr lang="en-US" sz="2600" dirty="0">
              <a:latin typeface="+mj-lt"/>
            </a:endParaRPr>
          </a:p>
          <a:p>
            <a:r>
              <a:rPr lang="en-US" sz="2600" dirty="0">
                <a:latin typeface="+mj-lt"/>
              </a:rPr>
              <a:t>For attributes, noise refers to modification of original values</a:t>
            </a:r>
          </a:p>
          <a:p>
            <a:pPr lvl="1"/>
            <a:r>
              <a:rPr lang="en-US" sz="2100" dirty="0">
                <a:latin typeface="+mj-lt"/>
              </a:rPr>
              <a:t>Examples: distortion of a person’s voice when talking on a poor phone and “snow” on television screen</a:t>
            </a:r>
          </a:p>
          <a:p>
            <a:pPr lvl="1"/>
            <a:r>
              <a:rPr lang="en-US" sz="2100" dirty="0">
                <a:latin typeface="+mj-lt"/>
              </a:rPr>
              <a:t>The figures below show two sine waves of the same magnitude and different frequencies, the waves combined, and the two sine waves with random noise</a:t>
            </a:r>
          </a:p>
          <a:p>
            <a:pPr lvl="2"/>
            <a:r>
              <a:rPr lang="en-US" sz="1700" dirty="0">
                <a:latin typeface="+mj-lt"/>
              </a:rPr>
              <a:t> The magnitude and shape of the original signal is distorted </a:t>
            </a:r>
          </a:p>
          <a:p>
            <a:pPr lvl="1"/>
            <a:endParaRPr lang="en-US" dirty="0"/>
          </a:p>
          <a:p>
            <a:pPr lvl="1"/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xmlns="" id="{9AB54409-6EE6-4A1C-9D0B-7CD3AF6E465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733800"/>
            <a:ext cx="3045649" cy="22860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xmlns="" id="{681AF5E1-14E2-4B56-A568-ADB4A4652A4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21681" y="3733800"/>
            <a:ext cx="3045649" cy="228600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xmlns="" id="{B986DA59-19B3-4F8E-A616-32746CC7069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49881" y="3733800"/>
            <a:ext cx="3045649" cy="228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769675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i="1" dirty="0">
                <a:solidFill>
                  <a:srgbClr val="CC6600"/>
                </a:solidFill>
              </a:rPr>
              <a:t>Outliers</a:t>
            </a:r>
            <a:r>
              <a:rPr lang="en-US" dirty="0"/>
              <a:t> are data </a:t>
            </a:r>
            <a:r>
              <a:rPr lang="en-US" dirty="0" smtClean="0"/>
              <a:t>instances </a:t>
            </a:r>
            <a:r>
              <a:rPr lang="en-US" dirty="0"/>
              <a:t>with characteristics that are considerably different than most of the other data </a:t>
            </a:r>
            <a:r>
              <a:rPr lang="en-US" dirty="0" smtClean="0"/>
              <a:t>instances </a:t>
            </a:r>
            <a:r>
              <a:rPr lang="en-US" dirty="0"/>
              <a:t>in the data set</a:t>
            </a:r>
          </a:p>
          <a:p>
            <a:pPr lvl="1"/>
            <a:r>
              <a:rPr lang="en-US" b="1" dirty="0"/>
              <a:t>Case 1:</a:t>
            </a:r>
            <a:r>
              <a:rPr lang="en-US" dirty="0"/>
              <a:t> Outliers are </a:t>
            </a:r>
            <a:br>
              <a:rPr lang="en-US" dirty="0"/>
            </a:br>
            <a:r>
              <a:rPr lang="en-US" dirty="0"/>
              <a:t>noise that interferes</a:t>
            </a:r>
            <a:br>
              <a:rPr lang="en-US" dirty="0"/>
            </a:br>
            <a:r>
              <a:rPr lang="en-US" dirty="0"/>
              <a:t>with data analysis </a:t>
            </a:r>
            <a:br>
              <a:rPr lang="en-US" dirty="0"/>
            </a:br>
            <a:endParaRPr lang="en-US" sz="1200" dirty="0"/>
          </a:p>
          <a:p>
            <a:pPr lvl="1"/>
            <a:r>
              <a:rPr lang="en-US" b="1" dirty="0"/>
              <a:t>Case 2: </a:t>
            </a:r>
            <a:r>
              <a:rPr lang="en-US" dirty="0"/>
              <a:t>Outliers are </a:t>
            </a:r>
            <a:br>
              <a:rPr lang="en-US" dirty="0"/>
            </a:br>
            <a:r>
              <a:rPr lang="en-US" dirty="0"/>
              <a:t>the goal of our analysis</a:t>
            </a:r>
          </a:p>
          <a:p>
            <a:pPr lvl="2"/>
            <a:r>
              <a:rPr lang="en-US" dirty="0"/>
              <a:t> </a:t>
            </a:r>
            <a:r>
              <a:rPr lang="en-US" sz="2200" dirty="0"/>
              <a:t>Credit card fraud</a:t>
            </a:r>
          </a:p>
          <a:p>
            <a:pPr lvl="2"/>
            <a:r>
              <a:rPr lang="en-US" sz="2200" dirty="0"/>
              <a:t> Intrusion detection</a:t>
            </a:r>
            <a:r>
              <a:rPr lang="en-US" dirty="0"/>
              <a:t> </a:t>
            </a:r>
          </a:p>
          <a:p>
            <a:pPr lvl="2"/>
            <a:endParaRPr lang="en-US" sz="1200" dirty="0"/>
          </a:p>
        </p:txBody>
      </p:sp>
      <p:grpSp>
        <p:nvGrpSpPr>
          <p:cNvPr id="27651" name="Group 4"/>
          <p:cNvGrpSpPr>
            <a:grpSpLocks/>
          </p:cNvGrpSpPr>
          <p:nvPr/>
        </p:nvGrpSpPr>
        <p:grpSpPr bwMode="auto">
          <a:xfrm>
            <a:off x="4495800" y="2439988"/>
            <a:ext cx="4267200" cy="3884612"/>
            <a:chOff x="3648" y="2448"/>
            <a:chExt cx="2112" cy="1872"/>
          </a:xfrm>
        </p:grpSpPr>
        <p:pic>
          <p:nvPicPr>
            <p:cNvPr id="27653" name="Picture 5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648" y="2448"/>
              <a:ext cx="2112" cy="187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7654" name="Oval 6"/>
            <p:cNvSpPr>
              <a:spLocks noChangeArrowheads="1"/>
            </p:cNvSpPr>
            <p:nvPr/>
          </p:nvSpPr>
          <p:spPr bwMode="auto">
            <a:xfrm>
              <a:off x="3766" y="2961"/>
              <a:ext cx="86" cy="84"/>
            </a:xfrm>
            <a:prstGeom prst="ellipse">
              <a:avLst/>
            </a:prstGeom>
            <a:noFill/>
            <a:ln w="19050">
              <a:solidFill>
                <a:srgbClr val="FF33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7655" name="Oval 7"/>
            <p:cNvSpPr>
              <a:spLocks noChangeArrowheads="1"/>
            </p:cNvSpPr>
            <p:nvPr/>
          </p:nvSpPr>
          <p:spPr bwMode="auto">
            <a:xfrm>
              <a:off x="3907" y="3224"/>
              <a:ext cx="86" cy="84"/>
            </a:xfrm>
            <a:prstGeom prst="ellipse">
              <a:avLst/>
            </a:prstGeom>
            <a:noFill/>
            <a:ln w="19050">
              <a:solidFill>
                <a:srgbClr val="FF33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7656" name="Oval 8"/>
            <p:cNvSpPr>
              <a:spLocks noChangeArrowheads="1"/>
            </p:cNvSpPr>
            <p:nvPr/>
          </p:nvSpPr>
          <p:spPr bwMode="auto">
            <a:xfrm>
              <a:off x="5612" y="3871"/>
              <a:ext cx="86" cy="85"/>
            </a:xfrm>
            <a:prstGeom prst="ellipse">
              <a:avLst/>
            </a:prstGeom>
            <a:noFill/>
            <a:ln w="19050">
              <a:solidFill>
                <a:srgbClr val="FF33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7657" name="Oval 9"/>
            <p:cNvSpPr>
              <a:spLocks noChangeArrowheads="1"/>
            </p:cNvSpPr>
            <p:nvPr/>
          </p:nvSpPr>
          <p:spPr bwMode="auto">
            <a:xfrm>
              <a:off x="4319" y="3937"/>
              <a:ext cx="86" cy="84"/>
            </a:xfrm>
            <a:prstGeom prst="ellipse">
              <a:avLst/>
            </a:prstGeom>
            <a:noFill/>
            <a:ln w="19050">
              <a:solidFill>
                <a:srgbClr val="FF33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7658" name="Rectangle 10"/>
            <p:cNvSpPr>
              <a:spLocks noChangeArrowheads="1"/>
            </p:cNvSpPr>
            <p:nvPr/>
          </p:nvSpPr>
          <p:spPr bwMode="auto">
            <a:xfrm>
              <a:off x="4944" y="3072"/>
              <a:ext cx="192" cy="24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7659" name="Rectangle 11"/>
            <p:cNvSpPr>
              <a:spLocks noChangeArrowheads="1"/>
            </p:cNvSpPr>
            <p:nvPr/>
          </p:nvSpPr>
          <p:spPr bwMode="auto">
            <a:xfrm>
              <a:off x="3888" y="3120"/>
              <a:ext cx="192" cy="24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2765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Outliers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Missing Values</a:t>
            </a:r>
          </a:p>
        </p:txBody>
      </p:sp>
      <p:sp>
        <p:nvSpPr>
          <p:cNvPr id="28675" name="Rectangle 5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en-US" dirty="0"/>
              <a:t>Reasons for missing values</a:t>
            </a:r>
          </a:p>
          <a:p>
            <a:pPr lvl="1">
              <a:lnSpc>
                <a:spcPct val="90000"/>
              </a:lnSpc>
            </a:pPr>
            <a:r>
              <a:rPr lang="en-US" dirty="0"/>
              <a:t>Information is not collected </a:t>
            </a:r>
            <a:br>
              <a:rPr lang="en-US" dirty="0"/>
            </a:br>
            <a:r>
              <a:rPr lang="en-US" dirty="0"/>
              <a:t>(e.g., people decline to give their age and weight)</a:t>
            </a:r>
          </a:p>
          <a:p>
            <a:pPr lvl="1">
              <a:lnSpc>
                <a:spcPct val="90000"/>
              </a:lnSpc>
            </a:pPr>
            <a:r>
              <a:rPr lang="en-US" dirty="0"/>
              <a:t>Attributes may not be applicable to all cases </a:t>
            </a:r>
            <a:br>
              <a:rPr lang="en-US" dirty="0"/>
            </a:br>
            <a:r>
              <a:rPr lang="en-US" dirty="0"/>
              <a:t>(e.g., annual income is not applicable to children)</a:t>
            </a:r>
          </a:p>
          <a:p>
            <a:pPr lvl="1">
              <a:lnSpc>
                <a:spcPct val="90000"/>
              </a:lnSpc>
            </a:pPr>
            <a:endParaRPr lang="en-US" dirty="0"/>
          </a:p>
          <a:p>
            <a:pPr>
              <a:lnSpc>
                <a:spcPct val="90000"/>
              </a:lnSpc>
            </a:pPr>
            <a:r>
              <a:rPr lang="en-US" dirty="0"/>
              <a:t>Handling missing values</a:t>
            </a:r>
          </a:p>
          <a:p>
            <a:pPr lvl="1">
              <a:lnSpc>
                <a:spcPct val="90000"/>
              </a:lnSpc>
            </a:pPr>
            <a:r>
              <a:rPr lang="en-US" dirty="0"/>
              <a:t>Eliminate data </a:t>
            </a:r>
            <a:r>
              <a:rPr lang="en-US" dirty="0" smtClean="0"/>
              <a:t>instances </a:t>
            </a:r>
            <a:r>
              <a:rPr lang="en-US" dirty="0"/>
              <a:t>or variables</a:t>
            </a:r>
          </a:p>
          <a:p>
            <a:pPr lvl="1">
              <a:lnSpc>
                <a:spcPct val="90000"/>
              </a:lnSpc>
            </a:pPr>
            <a:r>
              <a:rPr lang="en-US" dirty="0"/>
              <a:t>Estimate missing values</a:t>
            </a:r>
          </a:p>
          <a:p>
            <a:pPr marL="1147763" lvl="2" indent="-233363">
              <a:lnSpc>
                <a:spcPct val="90000"/>
              </a:lnSpc>
            </a:pPr>
            <a:r>
              <a:rPr lang="en-US" dirty="0"/>
              <a:t>Example: time series of temperature</a:t>
            </a:r>
          </a:p>
          <a:p>
            <a:pPr marL="1147763" lvl="2" indent="-233363">
              <a:lnSpc>
                <a:spcPct val="90000"/>
              </a:lnSpc>
            </a:pPr>
            <a:r>
              <a:rPr lang="en-US" dirty="0"/>
              <a:t>Example: census results </a:t>
            </a:r>
          </a:p>
          <a:p>
            <a:pPr lvl="1">
              <a:lnSpc>
                <a:spcPct val="90000"/>
              </a:lnSpc>
            </a:pPr>
            <a:r>
              <a:rPr lang="en-US" dirty="0"/>
              <a:t>Ignore the missing value during analysis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Duplicate Data</a:t>
            </a:r>
          </a:p>
        </p:txBody>
      </p:sp>
      <p:sp>
        <p:nvSpPr>
          <p:cNvPr id="2969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Data set may include data </a:t>
            </a:r>
            <a:r>
              <a:rPr lang="en-US" dirty="0" smtClean="0"/>
              <a:t>instances </a:t>
            </a:r>
            <a:r>
              <a:rPr lang="en-US" dirty="0"/>
              <a:t>that are duplicates, or almost duplicates of one another</a:t>
            </a:r>
          </a:p>
          <a:p>
            <a:pPr lvl="1"/>
            <a:r>
              <a:rPr lang="en-US" dirty="0"/>
              <a:t>Major issue when merging data from heterogeneous sources</a:t>
            </a:r>
          </a:p>
          <a:p>
            <a:pPr lvl="1"/>
            <a:endParaRPr lang="en-US" dirty="0"/>
          </a:p>
          <a:p>
            <a:r>
              <a:rPr lang="en-US" dirty="0"/>
              <a:t>Examples:</a:t>
            </a:r>
          </a:p>
          <a:p>
            <a:pPr lvl="1"/>
            <a:r>
              <a:rPr lang="en-US" dirty="0"/>
              <a:t>Same person with multiple email addresses</a:t>
            </a:r>
          </a:p>
          <a:p>
            <a:pPr lvl="1"/>
            <a:endParaRPr lang="en-US" dirty="0"/>
          </a:p>
          <a:p>
            <a:r>
              <a:rPr lang="en-US" dirty="0"/>
              <a:t>Data cleaning</a:t>
            </a:r>
          </a:p>
          <a:p>
            <a:pPr lvl="1"/>
            <a:r>
              <a:rPr lang="en-US" dirty="0"/>
              <a:t>Process of dealing with duplicate data issues</a:t>
            </a:r>
          </a:p>
          <a:p>
            <a:pPr marL="457200" lvl="1" indent="0"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Similarity and Dissimilarity Measures</a:t>
            </a:r>
          </a:p>
        </p:txBody>
      </p:sp>
      <p:sp>
        <p:nvSpPr>
          <p:cNvPr id="6144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Similarity measure</a:t>
            </a:r>
          </a:p>
          <a:p>
            <a:pPr lvl="1"/>
            <a:r>
              <a:rPr lang="en-US" dirty="0"/>
              <a:t>Numerical measure of how alike two data </a:t>
            </a:r>
            <a:r>
              <a:rPr lang="en-US" dirty="0" smtClean="0"/>
              <a:t>instances </a:t>
            </a:r>
            <a:r>
              <a:rPr lang="en-US" dirty="0"/>
              <a:t>are.</a:t>
            </a:r>
          </a:p>
          <a:p>
            <a:pPr lvl="1"/>
            <a:r>
              <a:rPr lang="en-US" dirty="0"/>
              <a:t>Is higher when </a:t>
            </a:r>
            <a:r>
              <a:rPr lang="en-US" dirty="0" smtClean="0"/>
              <a:t>instances </a:t>
            </a:r>
            <a:r>
              <a:rPr lang="en-US" dirty="0"/>
              <a:t>are more alike.</a:t>
            </a:r>
          </a:p>
          <a:p>
            <a:pPr lvl="1"/>
            <a:r>
              <a:rPr lang="en-US" dirty="0"/>
              <a:t>Often falls in the range [0,1]</a:t>
            </a:r>
          </a:p>
          <a:p>
            <a:r>
              <a:rPr lang="en-US" dirty="0"/>
              <a:t>Dissimilarity measure</a:t>
            </a:r>
          </a:p>
          <a:p>
            <a:pPr lvl="1"/>
            <a:r>
              <a:rPr lang="en-US" dirty="0"/>
              <a:t>Numerical measure of how different two data </a:t>
            </a:r>
            <a:r>
              <a:rPr lang="en-US" dirty="0" smtClean="0"/>
              <a:t>instances </a:t>
            </a:r>
            <a:r>
              <a:rPr lang="en-US" dirty="0"/>
              <a:t>are </a:t>
            </a:r>
          </a:p>
          <a:p>
            <a:pPr lvl="1"/>
            <a:r>
              <a:rPr lang="en-US" dirty="0"/>
              <a:t>Lower when </a:t>
            </a:r>
            <a:r>
              <a:rPr lang="en-US" dirty="0" smtClean="0"/>
              <a:t>instances </a:t>
            </a:r>
            <a:r>
              <a:rPr lang="en-US" dirty="0"/>
              <a:t>are more alike</a:t>
            </a:r>
          </a:p>
          <a:p>
            <a:pPr lvl="1"/>
            <a:r>
              <a:rPr lang="en-US" dirty="0"/>
              <a:t>Minimum dissimilarity is often 0</a:t>
            </a:r>
          </a:p>
          <a:p>
            <a:pPr lvl="1"/>
            <a:r>
              <a:rPr lang="en-US" dirty="0"/>
              <a:t>Upper limit varies</a:t>
            </a:r>
          </a:p>
          <a:p>
            <a:r>
              <a:rPr lang="en-US" dirty="0">
                <a:solidFill>
                  <a:srgbClr val="CC6600"/>
                </a:solidFill>
              </a:rPr>
              <a:t>Proximity</a:t>
            </a:r>
            <a:r>
              <a:rPr lang="en-US" dirty="0"/>
              <a:t> refers to a similarity or dissimilarity</a:t>
            </a:r>
          </a:p>
        </p:txBody>
      </p:sp>
    </p:spTree>
    <p:extLst>
      <p:ext uri="{BB962C8B-B14F-4D97-AF65-F5344CB8AC3E}">
        <p14:creationId xmlns:p14="http://schemas.microsoft.com/office/powerpoint/2010/main" val="382303948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/>
              <a:t>Similarity/Dissimilarity for Simple Attributes</a:t>
            </a:r>
          </a:p>
        </p:txBody>
      </p:sp>
      <p:sp>
        <p:nvSpPr>
          <p:cNvPr id="62468" name="Text Box 4"/>
          <p:cNvSpPr txBox="1">
            <a:spLocks noChangeArrowheads="1"/>
          </p:cNvSpPr>
          <p:nvPr/>
        </p:nvSpPr>
        <p:spPr bwMode="auto">
          <a:xfrm>
            <a:off x="228600" y="1143000"/>
            <a:ext cx="8686800" cy="12003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400" b="1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sz="2400" b="0" dirty="0"/>
              <a:t>The following table shows the similarity and dissimilarity between two </a:t>
            </a:r>
            <a:r>
              <a:rPr lang="en-US" sz="2400" b="0" dirty="0" smtClean="0"/>
              <a:t>instances</a:t>
            </a:r>
            <a:r>
              <a:rPr lang="en-US" sz="2400" b="0" dirty="0"/>
              <a:t>, </a:t>
            </a:r>
            <a:r>
              <a:rPr lang="en-US" sz="2400" b="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sz="2400" b="0" dirty="0"/>
              <a:t> and </a:t>
            </a:r>
            <a:r>
              <a:rPr lang="en-US" sz="2400" b="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y,</a:t>
            </a:r>
            <a:r>
              <a:rPr lang="en-US" sz="2400" b="0" dirty="0"/>
              <a:t> with respect to a single, simple attribute.</a:t>
            </a:r>
          </a:p>
        </p:txBody>
      </p:sp>
      <p:pic>
        <p:nvPicPr>
          <p:cNvPr id="87042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2592750"/>
            <a:ext cx="9144000" cy="2741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05138791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dirty="0"/>
              <a:t>Euclidean Distance</a:t>
            </a:r>
          </a:p>
        </p:txBody>
      </p:sp>
      <p:sp>
        <p:nvSpPr>
          <p:cNvPr id="63491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411163" y="1143000"/>
            <a:ext cx="8351837" cy="5181600"/>
          </a:xfrm>
        </p:spPr>
        <p:txBody>
          <a:bodyPr/>
          <a:lstStyle/>
          <a:p>
            <a:pPr marL="342900" indent="-342900">
              <a:lnSpc>
                <a:spcPct val="90000"/>
              </a:lnSpc>
              <a:spcBef>
                <a:spcPct val="20000"/>
              </a:spcBef>
            </a:pPr>
            <a:r>
              <a:rPr lang="en-US" sz="2400" dirty="0"/>
              <a:t>Euclidean Distance</a:t>
            </a:r>
          </a:p>
          <a:p>
            <a:pPr marL="742950" lvl="1" indent="-285750">
              <a:lnSpc>
                <a:spcPct val="90000"/>
              </a:lnSpc>
              <a:spcBef>
                <a:spcPct val="20000"/>
              </a:spcBef>
            </a:pPr>
            <a:endParaRPr lang="en-US" dirty="0"/>
          </a:p>
          <a:p>
            <a:pPr marL="342900" indent="-342900">
              <a:lnSpc>
                <a:spcPct val="90000"/>
              </a:lnSpc>
              <a:spcBef>
                <a:spcPct val="20000"/>
              </a:spcBef>
            </a:pPr>
            <a:endParaRPr lang="en-US" sz="2000" dirty="0"/>
          </a:p>
          <a:p>
            <a:pPr marL="342900" indent="-342900">
              <a:lnSpc>
                <a:spcPct val="90000"/>
              </a:lnSpc>
              <a:spcBef>
                <a:spcPct val="20000"/>
              </a:spcBef>
            </a:pPr>
            <a:endParaRPr lang="en-US" sz="2000" dirty="0"/>
          </a:p>
          <a:p>
            <a:pPr marL="742950" lvl="1" indent="-285750">
              <a:lnSpc>
                <a:spcPct val="90000"/>
              </a:lnSpc>
              <a:spcBef>
                <a:spcPct val="20000"/>
              </a:spcBef>
              <a:buFont typeface="Arial" pitchFamily="34" charset="0"/>
              <a:buNone/>
            </a:pPr>
            <a:r>
              <a:rPr lang="en-US" sz="1800" dirty="0"/>
              <a:t>   </a:t>
            </a:r>
          </a:p>
          <a:p>
            <a:pPr marL="742950" lvl="1" indent="0">
              <a:lnSpc>
                <a:spcPct val="90000"/>
              </a:lnSpc>
              <a:spcBef>
                <a:spcPct val="20000"/>
              </a:spcBef>
              <a:buFont typeface="Arial" pitchFamily="34" charset="0"/>
              <a:buNone/>
            </a:pPr>
            <a:r>
              <a:rPr lang="en-US" dirty="0"/>
              <a:t>where </a:t>
            </a:r>
            <a:r>
              <a:rPr lang="en-US" i="1" dirty="0"/>
              <a:t>n</a:t>
            </a:r>
            <a:r>
              <a:rPr lang="en-US" dirty="0"/>
              <a:t> is the number of dimensions (attributes) and </a:t>
            </a:r>
            <a:r>
              <a:rPr lang="en-US" i="1" dirty="0">
                <a:latin typeface="Times New Roman" panose="02020603050405020304" pitchFamily="18" charset="0"/>
              </a:rPr>
              <a:t>x</a:t>
            </a:r>
            <a:r>
              <a:rPr lang="en-US" i="1" baseline="-25000" dirty="0">
                <a:latin typeface="Times New Roman" panose="02020603050405020304" pitchFamily="18" charset="0"/>
              </a:rPr>
              <a:t>k</a:t>
            </a:r>
            <a:r>
              <a:rPr lang="en-US" dirty="0"/>
              <a:t> and </a:t>
            </a:r>
            <a:r>
              <a:rPr lang="en-US" i="1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y</a:t>
            </a:r>
            <a:r>
              <a:rPr lang="en-US" i="1" baseline="-25000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k</a:t>
            </a:r>
            <a:r>
              <a:rPr lang="en-US" i="1" baseline="-25000" dirty="0">
                <a:latin typeface="Times New Roman" panose="02020603050405020304" pitchFamily="18" charset="0"/>
              </a:rPr>
              <a:t> </a:t>
            </a:r>
            <a:r>
              <a:rPr lang="en-US" dirty="0"/>
              <a:t> are, respectively, the </a:t>
            </a:r>
            <a:r>
              <a:rPr lang="en-US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en-US" i="1" baseline="30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</a:t>
            </a:r>
            <a:r>
              <a:rPr lang="en-US" dirty="0"/>
              <a:t> attributes (components) or data </a:t>
            </a:r>
            <a:r>
              <a:rPr lang="en-US" dirty="0" smtClean="0"/>
              <a:t>instances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dirty="0"/>
              <a:t> and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en-US" dirty="0"/>
              <a:t>.</a:t>
            </a:r>
          </a:p>
          <a:p>
            <a:pPr marL="742950" lvl="1" indent="-285750">
              <a:lnSpc>
                <a:spcPct val="90000"/>
              </a:lnSpc>
              <a:spcBef>
                <a:spcPct val="20000"/>
              </a:spcBef>
              <a:buFont typeface="Arial" pitchFamily="34" charset="0"/>
              <a:buNone/>
            </a:pPr>
            <a:endParaRPr lang="en-US" dirty="0"/>
          </a:p>
        </p:txBody>
      </p:sp>
      <p:sp>
        <p:nvSpPr>
          <p:cNvPr id="880645" name="Rectangle 5"/>
          <p:cNvSpPr>
            <a:spLocks noChangeArrowheads="1"/>
          </p:cNvSpPr>
          <p:nvPr/>
        </p:nvSpPr>
        <p:spPr bwMode="auto">
          <a:xfrm>
            <a:off x="761998" y="4876800"/>
            <a:ext cx="7899402" cy="12146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spcBef>
                <a:spcPct val="2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charset="2"/>
              <a:buChar char="l"/>
            </a:pPr>
            <a:r>
              <a:rPr lang="en-US" sz="2400" b="0" dirty="0"/>
              <a:t> Standardization is necessary, if scales differ</a:t>
            </a:r>
            <a:r>
              <a:rPr lang="en-US" sz="2400" b="0" dirty="0" smtClean="0"/>
              <a:t>.</a:t>
            </a:r>
          </a:p>
          <a:p>
            <a:pPr>
              <a:lnSpc>
                <a:spcPct val="90000"/>
              </a:lnSpc>
              <a:spcBef>
                <a:spcPct val="2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charset="2"/>
              <a:buChar char="l"/>
            </a:pPr>
            <a:r>
              <a:rPr lang="en-US" sz="2400" b="0" dirty="0" smtClean="0"/>
              <a:t> Other distances (Manhattan, </a:t>
            </a:r>
            <a:r>
              <a:rPr lang="en-US" sz="2400" b="0" dirty="0" err="1" smtClean="0"/>
              <a:t>Monkowski</a:t>
            </a:r>
            <a:r>
              <a:rPr lang="en-US" sz="2400" b="0" dirty="0" smtClean="0"/>
              <a:t>, </a:t>
            </a:r>
            <a:r>
              <a:rPr lang="en-US" sz="2400" b="0" dirty="0" err="1" smtClean="0"/>
              <a:t>Mahalanabis</a:t>
            </a:r>
            <a:r>
              <a:rPr lang="en-US" sz="2400" b="0" dirty="0" smtClean="0"/>
              <a:t>, etc.) are also used.</a:t>
            </a:r>
            <a:endParaRPr lang="en-US" sz="2400" b="0" dirty="0"/>
          </a:p>
        </p:txBody>
      </p:sp>
      <p:pic>
        <p:nvPicPr>
          <p:cNvPr id="78895" name="Picture 47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86358" y="1600200"/>
            <a:ext cx="4007645" cy="1371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72855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06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80645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2"/>
          <p:cNvSpPr>
            <a:spLocks noGrp="1" noChangeArrowheads="1"/>
          </p:cNvSpPr>
          <p:nvPr>
            <p:ph type="title"/>
          </p:nvPr>
        </p:nvSpPr>
        <p:spPr>
          <a:xfrm>
            <a:off x="381000" y="152400"/>
            <a:ext cx="8280400" cy="552450"/>
          </a:xfrm>
        </p:spPr>
        <p:txBody>
          <a:bodyPr/>
          <a:lstStyle/>
          <a:p>
            <a:r>
              <a:rPr lang="en-US" sz="2800"/>
              <a:t>Euclidean Distance</a:t>
            </a:r>
          </a:p>
        </p:txBody>
      </p:sp>
      <p:graphicFrame>
        <p:nvGraphicFramePr>
          <p:cNvPr id="64515" name="Object 3"/>
          <p:cNvGraphicFramePr>
            <a:graphicFrameLocks noChangeAspect="1"/>
          </p:cNvGraphicFramePr>
          <p:nvPr/>
        </p:nvGraphicFramePr>
        <p:xfrm>
          <a:off x="228600" y="1143000"/>
          <a:ext cx="4378325" cy="3197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0417" name="VISIO" r:id="rId3" imgW="3631692" imgH="2656332" progId="Visio.Drawing.6">
                  <p:embed/>
                </p:oleObj>
              </mc:Choice>
              <mc:Fallback>
                <p:oleObj name="VISIO" r:id="rId3" imgW="3631692" imgH="2656332" progId="Visio.Drawing.6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8600" y="1143000"/>
                        <a:ext cx="4378325" cy="31972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4516" name="Object 4"/>
          <p:cNvGraphicFramePr>
            <a:graphicFrameLocks noChangeAspect="1"/>
          </p:cNvGraphicFramePr>
          <p:nvPr/>
        </p:nvGraphicFramePr>
        <p:xfrm>
          <a:off x="4862513" y="1674813"/>
          <a:ext cx="3976687" cy="18303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0418" name="Worksheet" r:id="rId5" imgW="1836725" imgH="846287" progId="Excel.Sheet.8">
                  <p:embed/>
                </p:oleObj>
              </mc:Choice>
              <mc:Fallback>
                <p:oleObj name="Worksheet" r:id="rId5" imgW="1836725" imgH="846287" progId="Excel.Shee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62513" y="1674813"/>
                        <a:ext cx="3976687" cy="18303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4517" name="Text Box 5"/>
          <p:cNvSpPr txBox="1">
            <a:spLocks noChangeArrowheads="1"/>
          </p:cNvSpPr>
          <p:nvPr/>
        </p:nvSpPr>
        <p:spPr bwMode="auto">
          <a:xfrm>
            <a:off x="3048000" y="5973763"/>
            <a:ext cx="2819400" cy="427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400" b="1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sz="2200"/>
              <a:t>Distance Matrix</a:t>
            </a:r>
          </a:p>
        </p:txBody>
      </p:sp>
      <p:graphicFrame>
        <p:nvGraphicFramePr>
          <p:cNvPr id="64518" name="Object 6"/>
          <p:cNvGraphicFramePr>
            <a:graphicFrameLocks noChangeAspect="1"/>
          </p:cNvGraphicFramePr>
          <p:nvPr/>
        </p:nvGraphicFramePr>
        <p:xfrm>
          <a:off x="1371600" y="4114800"/>
          <a:ext cx="6599238" cy="1828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0419" name="Worksheet" r:id="rId7" imgW="3055925" imgH="846287" progId="Excel.Sheet.8">
                  <p:embed/>
                </p:oleObj>
              </mc:Choice>
              <mc:Fallback>
                <p:oleObj name="Worksheet" r:id="rId7" imgW="3055925" imgH="846287" progId="Excel.Shee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71600" y="4114800"/>
                        <a:ext cx="6599238" cy="1828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48623202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Rectangle 2"/>
          <p:cNvSpPr>
            <a:spLocks noGrp="1" noChangeArrowheads="1"/>
          </p:cNvSpPr>
          <p:nvPr>
            <p:ph type="title"/>
          </p:nvPr>
        </p:nvSpPr>
        <p:spPr>
          <a:xfrm>
            <a:off x="381000" y="152400"/>
            <a:ext cx="8280400" cy="552450"/>
          </a:xfrm>
        </p:spPr>
        <p:txBody>
          <a:bodyPr/>
          <a:lstStyle/>
          <a:p>
            <a:r>
              <a:rPr lang="en-US"/>
              <a:t>Common Properties of a Distance</a:t>
            </a:r>
          </a:p>
        </p:txBody>
      </p:sp>
      <p:sp>
        <p:nvSpPr>
          <p:cNvPr id="7065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39763" y="1143000"/>
            <a:ext cx="8001000" cy="5106988"/>
          </a:xfrm>
        </p:spPr>
        <p:txBody>
          <a:bodyPr/>
          <a:lstStyle/>
          <a:p>
            <a:pPr marL="533400" indent="-533400">
              <a:lnSpc>
                <a:spcPct val="80000"/>
              </a:lnSpc>
              <a:spcBef>
                <a:spcPct val="20000"/>
              </a:spcBef>
            </a:pPr>
            <a:r>
              <a:rPr lang="en-US" dirty="0"/>
              <a:t>Distances, such as the Euclidean distance, have some well known properties.</a:t>
            </a:r>
          </a:p>
          <a:p>
            <a:pPr marL="533400" indent="-533400">
              <a:lnSpc>
                <a:spcPct val="80000"/>
              </a:lnSpc>
              <a:spcBef>
                <a:spcPct val="20000"/>
              </a:spcBef>
            </a:pPr>
            <a:endParaRPr lang="en-US" sz="1400" dirty="0"/>
          </a:p>
          <a:p>
            <a:pPr marL="990600" lvl="1" indent="-533400">
              <a:lnSpc>
                <a:spcPct val="80000"/>
              </a:lnSpc>
              <a:spcBef>
                <a:spcPct val="20000"/>
              </a:spcBef>
              <a:buFont typeface="Arial" pitchFamily="34" charset="0"/>
              <a:buAutoNum type="arabicPeriod"/>
            </a:pP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  <a:sym typeface="Symbol" pitchFamily="18" charset="2"/>
              </a:rPr>
              <a:t>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0   </a:t>
            </a:r>
            <a:r>
              <a:rPr lang="en-US" dirty="0"/>
              <a:t>for all </a:t>
            </a:r>
            <a:r>
              <a:rPr lang="en-US" i="1" dirty="0"/>
              <a:t>x</a:t>
            </a:r>
            <a:r>
              <a:rPr lang="en-US" dirty="0"/>
              <a:t> and </a:t>
            </a:r>
            <a:r>
              <a:rPr lang="en-US" i="1" dirty="0"/>
              <a:t>y</a:t>
            </a:r>
            <a:r>
              <a:rPr lang="en-US" dirty="0"/>
              <a:t> and 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= 0 </a:t>
            </a:r>
            <a:r>
              <a:rPr lang="en-US" dirty="0">
                <a:cs typeface="Times New Roman" panose="02020603050405020304" pitchFamily="18" charset="0"/>
              </a:rPr>
              <a:t>if and </a:t>
            </a:r>
            <a:r>
              <a:rPr lang="en-US" dirty="0"/>
              <a:t>only if 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dirty="0"/>
              <a:t> </a:t>
            </a:r>
            <a:r>
              <a:rPr lang="en-US" i="1" dirty="0"/>
              <a:t>=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en-US" dirty="0"/>
              <a:t>.</a:t>
            </a:r>
          </a:p>
          <a:p>
            <a:pPr marL="990600" lvl="1" indent="-533400">
              <a:lnSpc>
                <a:spcPct val="80000"/>
              </a:lnSpc>
              <a:spcBef>
                <a:spcPct val="20000"/>
              </a:spcBef>
              <a:buFont typeface="Arial" pitchFamily="34" charset="0"/>
              <a:buAutoNum type="arabicPeriod"/>
            </a:pP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= 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  </a:t>
            </a:r>
            <a:r>
              <a:rPr lang="en-US" dirty="0"/>
              <a:t>for all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dirty="0"/>
              <a:t> and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en-US" dirty="0"/>
              <a:t>. (Symmetry)</a:t>
            </a:r>
          </a:p>
          <a:p>
            <a:pPr marL="990600" lvl="1" indent="-533400">
              <a:lnSpc>
                <a:spcPct val="80000"/>
              </a:lnSpc>
              <a:spcBef>
                <a:spcPct val="20000"/>
              </a:spcBef>
              <a:buFont typeface="Arial" pitchFamily="34" charset="0"/>
              <a:buAutoNum type="arabicPeriod"/>
            </a:pP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z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  <a:sym typeface="Symbol" pitchFamily="18" charset="2"/>
              </a:rPr>
              <a:t>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+ 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z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dirty="0"/>
              <a:t>   for all points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dirty="0"/>
              <a:t>,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en-US" dirty="0"/>
              <a:t>, and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z</a:t>
            </a:r>
            <a:r>
              <a:rPr lang="en-US" dirty="0"/>
              <a:t>.  </a:t>
            </a:r>
            <a:br>
              <a:rPr lang="en-US" dirty="0"/>
            </a:br>
            <a:r>
              <a:rPr lang="en-US" dirty="0"/>
              <a:t>(Triangle Inequality)</a:t>
            </a:r>
          </a:p>
          <a:p>
            <a:pPr marL="990600" lvl="1" indent="-533400">
              <a:lnSpc>
                <a:spcPct val="80000"/>
              </a:lnSpc>
              <a:spcBef>
                <a:spcPct val="20000"/>
              </a:spcBef>
              <a:buFont typeface="Arial" pitchFamily="34" charset="0"/>
              <a:buNone/>
            </a:pPr>
            <a:endParaRPr lang="en-US" sz="1200" dirty="0"/>
          </a:p>
          <a:p>
            <a:pPr marL="533400" indent="-533400">
              <a:lnSpc>
                <a:spcPct val="80000"/>
              </a:lnSpc>
              <a:spcBef>
                <a:spcPct val="20000"/>
              </a:spcBef>
              <a:buNone/>
            </a:pPr>
            <a:r>
              <a:rPr lang="en-US" sz="2400" dirty="0"/>
              <a:t>	where </a:t>
            </a:r>
            <a:r>
              <a:rPr 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sz="2400" dirty="0"/>
              <a:t> is the distance (dissimilarity) between points (data </a:t>
            </a:r>
            <a:r>
              <a:rPr lang="en-US" sz="2400" dirty="0" smtClean="0"/>
              <a:t>instances</a:t>
            </a:r>
            <a:r>
              <a:rPr lang="en-US" sz="2400" dirty="0"/>
              <a:t>),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sz="2400" dirty="0"/>
              <a:t> and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en-US" sz="2400" dirty="0"/>
              <a:t>.</a:t>
            </a:r>
          </a:p>
          <a:p>
            <a:pPr marL="533400" indent="-533400">
              <a:lnSpc>
                <a:spcPct val="80000"/>
              </a:lnSpc>
              <a:spcBef>
                <a:spcPct val="20000"/>
              </a:spcBef>
              <a:buFont typeface="Monotype Sorts" charset="2"/>
              <a:buNone/>
            </a:pPr>
            <a:endParaRPr lang="en-US" sz="1400" dirty="0"/>
          </a:p>
          <a:p>
            <a:pPr marL="533400" indent="-533400">
              <a:lnSpc>
                <a:spcPct val="80000"/>
              </a:lnSpc>
              <a:spcBef>
                <a:spcPct val="20000"/>
              </a:spcBef>
            </a:pPr>
            <a:r>
              <a:rPr lang="en-US" dirty="0"/>
              <a:t>A distance that satisfies these properties is a </a:t>
            </a:r>
            <a:r>
              <a:rPr lang="en-US" dirty="0">
                <a:solidFill>
                  <a:srgbClr val="FF0000"/>
                </a:solidFill>
              </a:rPr>
              <a:t>metric</a:t>
            </a:r>
          </a:p>
        </p:txBody>
      </p:sp>
    </p:spTree>
    <p:extLst>
      <p:ext uri="{BB962C8B-B14F-4D97-AF65-F5344CB8AC3E}">
        <p14:creationId xmlns:p14="http://schemas.microsoft.com/office/powerpoint/2010/main" val="66160838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Rectangle 2"/>
          <p:cNvSpPr>
            <a:spLocks noGrp="1" noChangeArrowheads="1"/>
          </p:cNvSpPr>
          <p:nvPr>
            <p:ph type="title"/>
          </p:nvPr>
        </p:nvSpPr>
        <p:spPr>
          <a:xfrm>
            <a:off x="342900" y="381000"/>
            <a:ext cx="8280400" cy="533400"/>
          </a:xfrm>
        </p:spPr>
        <p:txBody>
          <a:bodyPr>
            <a:normAutofit fontScale="90000"/>
          </a:bodyPr>
          <a:lstStyle/>
          <a:p>
            <a:r>
              <a:rPr lang="en-US" sz="2800" dirty="0"/>
              <a:t>Correlation measures the linear relationship between </a:t>
            </a:r>
            <a:r>
              <a:rPr lang="en-US" sz="2800" dirty="0" smtClean="0"/>
              <a:t>instances</a:t>
            </a:r>
            <a:endParaRPr lang="en-US" sz="2800" dirty="0"/>
          </a:p>
        </p:txBody>
      </p:sp>
      <p:pic>
        <p:nvPicPr>
          <p:cNvPr id="85160" name="Picture 168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7267" y="990600"/>
            <a:ext cx="7251990" cy="5257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52397094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Rectangle 2"/>
          <p:cNvSpPr>
            <a:spLocks noGrp="1" noChangeArrowheads="1"/>
          </p:cNvSpPr>
          <p:nvPr>
            <p:ph type="title"/>
          </p:nvPr>
        </p:nvSpPr>
        <p:spPr>
          <a:xfrm>
            <a:off x="381000" y="152400"/>
            <a:ext cx="8280400" cy="552450"/>
          </a:xfrm>
        </p:spPr>
        <p:txBody>
          <a:bodyPr/>
          <a:lstStyle/>
          <a:p>
            <a:r>
              <a:rPr lang="en-US" sz="2800"/>
              <a:t>Visually Evaluating Correlation</a:t>
            </a:r>
          </a:p>
        </p:txBody>
      </p:sp>
      <p:graphicFrame>
        <p:nvGraphicFramePr>
          <p:cNvPr id="77827" name="Object 3"/>
          <p:cNvGraphicFramePr>
            <a:graphicFrameLocks noChangeAspect="1"/>
          </p:cNvGraphicFramePr>
          <p:nvPr/>
        </p:nvGraphicFramePr>
        <p:xfrm>
          <a:off x="228600" y="990600"/>
          <a:ext cx="5915025" cy="5638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6199" name="Bitmap Image" r:id="rId3" imgW="7542857" imgH="7228571" progId="Paint.Picture">
                  <p:embed/>
                </p:oleObj>
              </mc:Choice>
              <mc:Fallback>
                <p:oleObj name="Bitmap Image" r:id="rId3" imgW="7542857" imgH="7228571" progId="Paint.Picture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 l="8243" t="1854" r="5334" b="10373"/>
                      <a:stretch>
                        <a:fillRect/>
                      </a:stretch>
                    </p:blipFill>
                    <p:spPr bwMode="auto">
                      <a:xfrm>
                        <a:off x="228600" y="990600"/>
                        <a:ext cx="5915025" cy="5638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7828" name="Text Box 4"/>
          <p:cNvSpPr txBox="1">
            <a:spLocks noChangeArrowheads="1"/>
          </p:cNvSpPr>
          <p:nvPr/>
        </p:nvSpPr>
        <p:spPr bwMode="auto">
          <a:xfrm>
            <a:off x="6629400" y="2971800"/>
            <a:ext cx="2286000" cy="1431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400" b="1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sz="2200"/>
              <a:t>Scatter plots showing the similarity from –1 to 1.</a:t>
            </a:r>
          </a:p>
        </p:txBody>
      </p:sp>
      <p:grpSp>
        <p:nvGrpSpPr>
          <p:cNvPr id="77829" name="Group 5"/>
          <p:cNvGrpSpPr>
            <a:grpSpLocks/>
          </p:cNvGrpSpPr>
          <p:nvPr/>
        </p:nvGrpSpPr>
        <p:grpSpPr bwMode="auto">
          <a:xfrm>
            <a:off x="304800" y="838200"/>
            <a:ext cx="8534400" cy="152400"/>
            <a:chOff x="264" y="788"/>
            <a:chExt cx="5232" cy="124"/>
          </a:xfrm>
        </p:grpSpPr>
        <p:sp>
          <p:nvSpPr>
            <p:cNvPr id="77830" name="Rectangle 6"/>
            <p:cNvSpPr>
              <a:spLocks noChangeArrowheads="1"/>
            </p:cNvSpPr>
            <p:nvPr/>
          </p:nvSpPr>
          <p:spPr bwMode="auto">
            <a:xfrm>
              <a:off x="264" y="788"/>
              <a:ext cx="5232" cy="61"/>
            </a:xfrm>
            <a:prstGeom prst="rect">
              <a:avLst/>
            </a:prstGeom>
            <a:gradFill rotWithShape="0">
              <a:gsLst>
                <a:gs pos="0">
                  <a:srgbClr val="0E9BBA"/>
                </a:gs>
                <a:gs pos="50000">
                  <a:srgbClr val="12C2E9"/>
                </a:gs>
                <a:gs pos="100000">
                  <a:srgbClr val="0E9BBA"/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7831" name="Rectangle 7"/>
            <p:cNvSpPr>
              <a:spLocks noChangeArrowheads="1"/>
            </p:cNvSpPr>
            <p:nvPr/>
          </p:nvSpPr>
          <p:spPr bwMode="auto">
            <a:xfrm>
              <a:off x="264" y="881"/>
              <a:ext cx="5232" cy="31"/>
            </a:xfrm>
            <a:prstGeom prst="rect">
              <a:avLst/>
            </a:prstGeom>
            <a:gradFill rotWithShape="0">
              <a:gsLst>
                <a:gs pos="0">
                  <a:srgbClr val="B200B2"/>
                </a:gs>
                <a:gs pos="50000">
                  <a:srgbClr val="FF00FF"/>
                </a:gs>
                <a:gs pos="100000">
                  <a:srgbClr val="B200B2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246553988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Data Preprocessing</a:t>
            </a:r>
          </a:p>
        </p:txBody>
      </p:sp>
      <p:sp>
        <p:nvSpPr>
          <p:cNvPr id="3072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120000"/>
              </a:lnSpc>
            </a:pPr>
            <a:r>
              <a:rPr lang="en-US" dirty="0"/>
              <a:t>Aggregation</a:t>
            </a:r>
          </a:p>
          <a:p>
            <a:pPr>
              <a:lnSpc>
                <a:spcPct val="120000"/>
              </a:lnSpc>
            </a:pPr>
            <a:r>
              <a:rPr lang="en-US" dirty="0"/>
              <a:t>Sampling</a:t>
            </a:r>
          </a:p>
          <a:p>
            <a:pPr>
              <a:lnSpc>
                <a:spcPct val="120000"/>
              </a:lnSpc>
            </a:pPr>
            <a:r>
              <a:rPr lang="en-US" dirty="0"/>
              <a:t>Discretization and </a:t>
            </a:r>
            <a:r>
              <a:rPr lang="en-US" dirty="0" err="1"/>
              <a:t>Binarization</a:t>
            </a:r>
            <a:endParaRPr lang="en-US" dirty="0"/>
          </a:p>
          <a:p>
            <a:pPr>
              <a:lnSpc>
                <a:spcPct val="120000"/>
              </a:lnSpc>
            </a:pPr>
            <a:r>
              <a:rPr lang="en-US" dirty="0"/>
              <a:t>Attribute Transformation</a:t>
            </a:r>
          </a:p>
          <a:p>
            <a:pPr>
              <a:lnSpc>
                <a:spcPct val="120000"/>
              </a:lnSpc>
            </a:pPr>
            <a:r>
              <a:rPr lang="en-US" dirty="0"/>
              <a:t>Dimensionality Reduction</a:t>
            </a:r>
          </a:p>
          <a:p>
            <a:pPr>
              <a:lnSpc>
                <a:spcPct val="120000"/>
              </a:lnSpc>
            </a:pPr>
            <a:r>
              <a:rPr lang="en-US" dirty="0"/>
              <a:t>Feature subset selection</a:t>
            </a:r>
          </a:p>
          <a:p>
            <a:pPr>
              <a:lnSpc>
                <a:spcPct val="120000"/>
              </a:lnSpc>
            </a:pPr>
            <a:r>
              <a:rPr lang="en-US" dirty="0"/>
              <a:t>Feature creation</a:t>
            </a:r>
          </a:p>
          <a:p>
            <a:pPr>
              <a:lnSpc>
                <a:spcPct val="120000"/>
              </a:lnSpc>
            </a:pPr>
            <a:endParaRPr lang="en-US" dirty="0"/>
          </a:p>
          <a:p>
            <a:endParaRPr lang="en-US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Aggregation</a:t>
            </a:r>
          </a:p>
        </p:txBody>
      </p:sp>
      <p:sp>
        <p:nvSpPr>
          <p:cNvPr id="3174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78372" y="1143000"/>
            <a:ext cx="8318500" cy="3124200"/>
          </a:xfrm>
        </p:spPr>
        <p:txBody>
          <a:bodyPr/>
          <a:lstStyle/>
          <a:p>
            <a:r>
              <a:rPr lang="en-US" sz="2200" dirty="0"/>
              <a:t>Combining two or more attributes (or </a:t>
            </a:r>
            <a:r>
              <a:rPr lang="en-US" sz="2200" dirty="0" smtClean="0"/>
              <a:t>instances</a:t>
            </a:r>
            <a:r>
              <a:rPr lang="en-US" sz="2200" dirty="0"/>
              <a:t>) into a single attribute (or </a:t>
            </a:r>
            <a:r>
              <a:rPr lang="en-US" sz="2200" dirty="0" smtClean="0"/>
              <a:t>instance)</a:t>
            </a:r>
            <a:endParaRPr lang="en-US" sz="2200" dirty="0"/>
          </a:p>
          <a:p>
            <a:r>
              <a:rPr lang="en-US" sz="2200" dirty="0"/>
              <a:t>Purpose</a:t>
            </a:r>
          </a:p>
          <a:p>
            <a:pPr lvl="1"/>
            <a:r>
              <a:rPr lang="en-US" sz="1600" dirty="0"/>
              <a:t>Data reduction -  reduce the number of attributes or </a:t>
            </a:r>
            <a:r>
              <a:rPr lang="en-US" sz="1600" dirty="0" smtClean="0"/>
              <a:t>instances</a:t>
            </a:r>
            <a:endParaRPr lang="en-US" sz="1600" dirty="0"/>
          </a:p>
          <a:p>
            <a:pPr lvl="1"/>
            <a:r>
              <a:rPr lang="en-US" sz="1600" dirty="0"/>
              <a:t>Change of scale</a:t>
            </a:r>
          </a:p>
          <a:p>
            <a:pPr lvl="2"/>
            <a:r>
              <a:rPr lang="en-US" sz="1600" dirty="0"/>
              <a:t> Cities aggregated into regions, states, countries, etc.</a:t>
            </a:r>
          </a:p>
          <a:p>
            <a:pPr lvl="2"/>
            <a:r>
              <a:rPr lang="en-US" sz="1600" dirty="0"/>
              <a:t> Days aggregated into weeks, months, or years</a:t>
            </a:r>
          </a:p>
          <a:p>
            <a:pPr lvl="1"/>
            <a:r>
              <a:rPr lang="en-US" sz="1600" dirty="0"/>
              <a:t>More “stable” data -  aggregated data tends to have less variability 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xmlns="" id="{0CE508B9-B245-40B3-9120-1E4CFDB877C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4072537"/>
            <a:ext cx="6400800" cy="2175863"/>
          </a:xfrm>
          <a:prstGeom prst="rect">
            <a:avLst/>
          </a:prstGeom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2"/>
          <p:cNvSpPr>
            <a:spLocks noGrp="1" noChangeArrowheads="1"/>
          </p:cNvSpPr>
          <p:nvPr>
            <p:ph type="title"/>
          </p:nvPr>
        </p:nvSpPr>
        <p:spPr>
          <a:xfrm>
            <a:off x="228600" y="0"/>
            <a:ext cx="8585200" cy="685800"/>
          </a:xfrm>
        </p:spPr>
        <p:txBody>
          <a:bodyPr/>
          <a:lstStyle/>
          <a:p>
            <a:r>
              <a:rPr lang="en-US"/>
              <a:t>Sampling </a:t>
            </a:r>
          </a:p>
        </p:txBody>
      </p:sp>
      <p:sp>
        <p:nvSpPr>
          <p:cNvPr id="3481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46050" y="990600"/>
            <a:ext cx="8394700" cy="5029200"/>
          </a:xfrm>
          <a:noFill/>
        </p:spPr>
        <p:txBody>
          <a:bodyPr>
            <a:normAutofit/>
          </a:bodyPr>
          <a:lstStyle/>
          <a:p>
            <a:pPr marL="285750" indent="-285750" algn="just">
              <a:lnSpc>
                <a:spcPct val="95000"/>
              </a:lnSpc>
              <a:spcBef>
                <a:spcPct val="20000"/>
              </a:spcBef>
            </a:pPr>
            <a:r>
              <a:rPr lang="en-US" dirty="0">
                <a:ea typeface="MS Mincho" pitchFamily="49" charset="-128"/>
              </a:rPr>
              <a:t>Sampling is the main technique employed for data reduction.</a:t>
            </a:r>
          </a:p>
          <a:p>
            <a:pPr lvl="1" algn="just">
              <a:lnSpc>
                <a:spcPct val="95000"/>
              </a:lnSpc>
              <a:spcBef>
                <a:spcPct val="20000"/>
              </a:spcBef>
            </a:pPr>
            <a:r>
              <a:rPr lang="en-US" dirty="0">
                <a:ea typeface="MS Mincho" pitchFamily="49" charset="-128"/>
              </a:rPr>
              <a:t>It is often used for both the preliminary investigation of the data and the final data analysis.</a:t>
            </a:r>
          </a:p>
          <a:p>
            <a:pPr lvl="1" algn="just">
              <a:lnSpc>
                <a:spcPct val="95000"/>
              </a:lnSpc>
              <a:spcBef>
                <a:spcPct val="20000"/>
              </a:spcBef>
              <a:buFont typeface="Arial" pitchFamily="34" charset="0"/>
              <a:buNone/>
            </a:pPr>
            <a:r>
              <a:rPr lang="en-US" sz="2000" dirty="0">
                <a:ea typeface="MS Mincho" pitchFamily="49" charset="-128"/>
              </a:rPr>
              <a:t> </a:t>
            </a:r>
            <a:endParaRPr lang="en-US" sz="2000" dirty="0">
              <a:cs typeface="Times New Roman" pitchFamily="18" charset="0"/>
            </a:endParaRPr>
          </a:p>
          <a:p>
            <a:pPr marL="285750" indent="-285750" algn="just">
              <a:lnSpc>
                <a:spcPct val="95000"/>
              </a:lnSpc>
              <a:spcBef>
                <a:spcPct val="20000"/>
              </a:spcBef>
            </a:pPr>
            <a:r>
              <a:rPr lang="en-US" dirty="0">
                <a:cs typeface="Times New Roman" pitchFamily="18" charset="0"/>
              </a:rPr>
              <a:t>Statisticians often sample because </a:t>
            </a:r>
            <a:r>
              <a:rPr lang="en-US" dirty="0">
                <a:solidFill>
                  <a:srgbClr val="CC6600"/>
                </a:solidFill>
                <a:cs typeface="Times New Roman" pitchFamily="18" charset="0"/>
              </a:rPr>
              <a:t>obtaining</a:t>
            </a:r>
            <a:r>
              <a:rPr lang="en-US" dirty="0">
                <a:cs typeface="Times New Roman" pitchFamily="18" charset="0"/>
              </a:rPr>
              <a:t> the entire set of data of interest is too expensive or time consuming</a:t>
            </a:r>
            <a:r>
              <a:rPr lang="en-US" dirty="0" smtClean="0">
                <a:cs typeface="Times New Roman" pitchFamily="18" charset="0"/>
              </a:rPr>
              <a:t>.</a:t>
            </a:r>
          </a:p>
          <a:p>
            <a:pPr marL="285750" indent="-285750" algn="just">
              <a:lnSpc>
                <a:spcPct val="95000"/>
              </a:lnSpc>
              <a:spcBef>
                <a:spcPct val="20000"/>
              </a:spcBef>
            </a:pPr>
            <a:r>
              <a:rPr lang="en-US" dirty="0"/>
              <a:t>Using a sample will work almost as well as using the entire data set, if the sample is </a:t>
            </a:r>
            <a:r>
              <a:rPr lang="en-US" dirty="0">
                <a:solidFill>
                  <a:srgbClr val="CC6600"/>
                </a:solidFill>
              </a:rPr>
              <a:t>representative</a:t>
            </a:r>
            <a:endParaRPr lang="en-US" dirty="0">
              <a:cs typeface="Times New Roman" pitchFamily="18" charset="0"/>
            </a:endParaRPr>
          </a:p>
          <a:p>
            <a:pPr marL="285750" indent="-285750" algn="just">
              <a:lnSpc>
                <a:spcPct val="95000"/>
              </a:lnSpc>
              <a:spcBef>
                <a:spcPct val="20000"/>
              </a:spcBef>
              <a:buFont typeface="Monotype Sorts" charset="2"/>
              <a:buNone/>
            </a:pPr>
            <a:r>
              <a:rPr lang="en-US" sz="2400" dirty="0">
                <a:cs typeface="Times New Roman" pitchFamily="18" charset="0"/>
              </a:rPr>
              <a:t> 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2050"/>
          <p:cNvSpPr>
            <a:spLocks noGrp="1" noChangeArrowheads="1"/>
          </p:cNvSpPr>
          <p:nvPr>
            <p:ph type="title"/>
          </p:nvPr>
        </p:nvSpPr>
        <p:spPr>
          <a:xfrm>
            <a:off x="228600" y="0"/>
            <a:ext cx="8585200" cy="685800"/>
          </a:xfrm>
        </p:spPr>
        <p:txBody>
          <a:bodyPr/>
          <a:lstStyle/>
          <a:p>
            <a:r>
              <a:rPr lang="en-US"/>
              <a:t>Sample Size</a:t>
            </a:r>
          </a:p>
        </p:txBody>
      </p:sp>
      <p:sp>
        <p:nvSpPr>
          <p:cNvPr id="36867" name="Rectangle 2051"/>
          <p:cNvSpPr>
            <a:spLocks noGrp="1" noChangeArrowheads="1"/>
          </p:cNvSpPr>
          <p:nvPr>
            <p:ph type="body" idx="1"/>
          </p:nvPr>
        </p:nvSpPr>
        <p:spPr>
          <a:xfrm>
            <a:off x="146050" y="990600"/>
            <a:ext cx="8394700" cy="5029200"/>
          </a:xfrm>
          <a:noFill/>
        </p:spPr>
        <p:txBody>
          <a:bodyPr/>
          <a:lstStyle/>
          <a:p>
            <a:pPr marL="285750" indent="-285750" algn="just">
              <a:lnSpc>
                <a:spcPct val="95000"/>
              </a:lnSpc>
              <a:spcBef>
                <a:spcPct val="20000"/>
              </a:spcBef>
            </a:pPr>
            <a:endParaRPr lang="en-US" b="1">
              <a:latin typeface="Times New Roman" pitchFamily="18" charset="0"/>
              <a:cs typeface="Times New Roman" pitchFamily="18" charset="0"/>
            </a:endParaRPr>
          </a:p>
          <a:p>
            <a:pPr marL="285750" indent="-285750" algn="just">
              <a:lnSpc>
                <a:spcPct val="95000"/>
              </a:lnSpc>
              <a:spcBef>
                <a:spcPct val="20000"/>
              </a:spcBef>
              <a:buFont typeface="Monotype Sorts" charset="2"/>
              <a:buNone/>
            </a:pPr>
            <a:r>
              <a:rPr lang="en-US" b="1">
                <a:latin typeface="Times New Roman" pitchFamily="18" charset="0"/>
                <a:cs typeface="Times New Roman" pitchFamily="18" charset="0"/>
              </a:rPr>
              <a:t> </a:t>
            </a:r>
          </a:p>
        </p:txBody>
      </p:sp>
      <p:pic>
        <p:nvPicPr>
          <p:cNvPr id="36868" name="Picture 205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356" r="12498"/>
          <a:stretch>
            <a:fillRect/>
          </a:stretch>
        </p:blipFill>
        <p:spPr bwMode="auto">
          <a:xfrm>
            <a:off x="52388" y="1844675"/>
            <a:ext cx="3198812" cy="3108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6869" name="Picture 205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356" t="13811" r="14642" b="10954"/>
          <a:stretch>
            <a:fillRect/>
          </a:stretch>
        </p:blipFill>
        <p:spPr bwMode="auto">
          <a:xfrm>
            <a:off x="3048000" y="2206625"/>
            <a:ext cx="3198813" cy="2406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6870" name="Picture 2054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606" r="13213"/>
          <a:stretch>
            <a:fillRect/>
          </a:stretch>
        </p:blipFill>
        <p:spPr bwMode="auto">
          <a:xfrm>
            <a:off x="5943600" y="1828800"/>
            <a:ext cx="3198813" cy="3189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6871" name="Text Box 2055"/>
          <p:cNvSpPr txBox="1">
            <a:spLocks noChangeArrowheads="1"/>
          </p:cNvSpPr>
          <p:nvPr/>
        </p:nvSpPr>
        <p:spPr bwMode="auto">
          <a:xfrm>
            <a:off x="914400" y="4495800"/>
            <a:ext cx="80772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400" b="1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/>
              <a:t>8000 points		         2000 Points			500 Points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Types of Sampling</a:t>
            </a:r>
          </a:p>
        </p:txBody>
      </p:sp>
      <p:sp>
        <p:nvSpPr>
          <p:cNvPr id="37891" name="Rectangle 5"/>
          <p:cNvSpPr>
            <a:spLocks noGrp="1" noChangeArrowheads="1"/>
          </p:cNvSpPr>
          <p:nvPr>
            <p:ph type="body" idx="1"/>
          </p:nvPr>
        </p:nvSpPr>
        <p:spPr>
          <a:xfrm>
            <a:off x="411163" y="990600"/>
            <a:ext cx="8580437" cy="5181600"/>
          </a:xfrm>
        </p:spPr>
        <p:txBody>
          <a:bodyPr>
            <a:normAutofit lnSpcReduction="10000"/>
          </a:bodyPr>
          <a:lstStyle/>
          <a:p>
            <a:pPr>
              <a:lnSpc>
                <a:spcPct val="90000"/>
              </a:lnSpc>
            </a:pPr>
            <a:r>
              <a:rPr lang="en-US" dirty="0"/>
              <a:t>Simple Random Sampling</a:t>
            </a:r>
          </a:p>
          <a:p>
            <a:pPr marL="749300" lvl="1">
              <a:lnSpc>
                <a:spcPct val="90000"/>
              </a:lnSpc>
            </a:pPr>
            <a:r>
              <a:rPr lang="en-US" dirty="0"/>
              <a:t>There is an equal probability of selecting any particular item</a:t>
            </a:r>
          </a:p>
          <a:p>
            <a:pPr marL="749300" lvl="1">
              <a:lnSpc>
                <a:spcPct val="90000"/>
              </a:lnSpc>
            </a:pPr>
            <a:r>
              <a:rPr lang="en-US" dirty="0"/>
              <a:t>Sampling without replacement</a:t>
            </a:r>
          </a:p>
          <a:p>
            <a:pPr marL="1147763" lvl="2" indent="-284163">
              <a:lnSpc>
                <a:spcPct val="90000"/>
              </a:lnSpc>
            </a:pPr>
            <a:r>
              <a:rPr lang="en-US" sz="2400" dirty="0"/>
              <a:t>As each item is selected, it is removed from the population</a:t>
            </a:r>
          </a:p>
          <a:p>
            <a:pPr marL="749300" lvl="1">
              <a:lnSpc>
                <a:spcPct val="90000"/>
              </a:lnSpc>
            </a:pPr>
            <a:r>
              <a:rPr lang="en-US" dirty="0"/>
              <a:t>Sampling with replacement</a:t>
            </a:r>
          </a:p>
          <a:p>
            <a:pPr marL="1147763" lvl="2" indent="-284163">
              <a:lnSpc>
                <a:spcPct val="90000"/>
              </a:lnSpc>
            </a:pPr>
            <a:r>
              <a:rPr lang="en-US" sz="2400" dirty="0" smtClean="0"/>
              <a:t>instances </a:t>
            </a:r>
            <a:r>
              <a:rPr lang="en-US" sz="2400" dirty="0"/>
              <a:t>are not removed from the population as they are selected for the sample.   </a:t>
            </a:r>
          </a:p>
          <a:p>
            <a:pPr marL="1147763" lvl="2" indent="-284163"/>
            <a:r>
              <a:rPr lang="en-US" sz="2400" dirty="0"/>
              <a:t>In sampling with replacement, the same </a:t>
            </a:r>
            <a:r>
              <a:rPr lang="en-US" sz="2400" dirty="0" smtClean="0"/>
              <a:t>instance </a:t>
            </a:r>
            <a:r>
              <a:rPr lang="en-US" sz="2400" dirty="0"/>
              <a:t>can be picked up more than once</a:t>
            </a:r>
          </a:p>
          <a:p>
            <a:pPr>
              <a:lnSpc>
                <a:spcPct val="90000"/>
              </a:lnSpc>
            </a:pPr>
            <a:r>
              <a:rPr lang="en-US" dirty="0"/>
              <a:t>Stratified sampling</a:t>
            </a:r>
          </a:p>
          <a:p>
            <a:pPr marL="749300" lvl="1">
              <a:lnSpc>
                <a:spcPct val="90000"/>
              </a:lnSpc>
            </a:pPr>
            <a:r>
              <a:rPr lang="en-US" dirty="0"/>
              <a:t>Split the data into several partitions; then draw random samples from each partition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Discretization</a:t>
            </a:r>
          </a:p>
        </p:txBody>
      </p:sp>
      <p:sp>
        <p:nvSpPr>
          <p:cNvPr id="4710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solidFill>
                  <a:srgbClr val="CC6600"/>
                </a:solidFill>
              </a:rPr>
              <a:t>Discretization</a:t>
            </a:r>
            <a:r>
              <a:rPr lang="en-US" dirty="0"/>
              <a:t> is the process of converting a continuous attribute into an ordinal attribute</a:t>
            </a:r>
          </a:p>
          <a:p>
            <a:pPr lvl="1"/>
            <a:r>
              <a:rPr lang="en-US" dirty="0"/>
              <a:t>A potentially infinite number of values are mapped into  a small number of categories</a:t>
            </a:r>
          </a:p>
          <a:p>
            <a:pPr lvl="1"/>
            <a:r>
              <a:rPr lang="en-US" dirty="0"/>
              <a:t>Discretization is  used in both unsupervised and supervised settings</a:t>
            </a:r>
            <a:endParaRPr lang="en-US" sz="26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02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141413"/>
            <a:ext cx="9144000" cy="43862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1203" name="Rectangle 2"/>
          <p:cNvSpPr>
            <a:spLocks noGrp="1" noChangeArrowheads="1"/>
          </p:cNvSpPr>
          <p:nvPr>
            <p:ph type="title"/>
          </p:nvPr>
        </p:nvSpPr>
        <p:spPr>
          <a:xfrm>
            <a:off x="304800" y="0"/>
            <a:ext cx="8686800" cy="685800"/>
          </a:xfrm>
        </p:spPr>
        <p:txBody>
          <a:bodyPr/>
          <a:lstStyle/>
          <a:p>
            <a:r>
              <a:rPr lang="en-US" dirty="0"/>
              <a:t>Unsupervised Discretization</a:t>
            </a:r>
          </a:p>
        </p:txBody>
      </p:sp>
      <p:sp>
        <p:nvSpPr>
          <p:cNvPr id="51204" name="Text Box 6"/>
          <p:cNvSpPr txBox="1">
            <a:spLocks noChangeArrowheads="1"/>
          </p:cNvSpPr>
          <p:nvPr/>
        </p:nvSpPr>
        <p:spPr bwMode="auto">
          <a:xfrm>
            <a:off x="228600" y="5470525"/>
            <a:ext cx="8610600" cy="701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400" b="1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sz="2000"/>
              <a:t>Data consists of four groups of points and two outliers. Data is one-dimensional, but a random y component is added to reduce overlap.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Rectangle 2"/>
          <p:cNvSpPr>
            <a:spLocks noGrp="1" noChangeArrowheads="1"/>
          </p:cNvSpPr>
          <p:nvPr>
            <p:ph type="title"/>
          </p:nvPr>
        </p:nvSpPr>
        <p:spPr>
          <a:xfrm>
            <a:off x="228600" y="0"/>
            <a:ext cx="8763000" cy="685800"/>
          </a:xfrm>
        </p:spPr>
        <p:txBody>
          <a:bodyPr/>
          <a:lstStyle/>
          <a:p>
            <a:r>
              <a:rPr lang="en-US" dirty="0"/>
              <a:t>Unsupervised Discretization</a:t>
            </a:r>
          </a:p>
        </p:txBody>
      </p:sp>
      <p:sp>
        <p:nvSpPr>
          <p:cNvPr id="54275" name="Text Box 9"/>
          <p:cNvSpPr txBox="1">
            <a:spLocks noChangeArrowheads="1"/>
          </p:cNvSpPr>
          <p:nvPr/>
        </p:nvSpPr>
        <p:spPr bwMode="auto">
          <a:xfrm>
            <a:off x="611188" y="5638800"/>
            <a:ext cx="81534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400" b="1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sz="2400">
                <a:solidFill>
                  <a:srgbClr val="CC6600"/>
                </a:solidFill>
              </a:rPr>
              <a:t>K-means</a:t>
            </a:r>
            <a:r>
              <a:rPr lang="en-US" sz="2400"/>
              <a:t> approach to obtain 4 values.</a:t>
            </a:r>
          </a:p>
        </p:txBody>
      </p:sp>
      <p:pic>
        <p:nvPicPr>
          <p:cNvPr id="54276" name="Picture 10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141413"/>
            <a:ext cx="9144000" cy="4387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Binarization</a:t>
            </a:r>
          </a:p>
        </p:txBody>
      </p:sp>
      <p:sp>
        <p:nvSpPr>
          <p:cNvPr id="5529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en-US" dirty="0"/>
              <a:t>Binarization maps a continuous or categorical attribute into one or more binary variables</a:t>
            </a:r>
          </a:p>
          <a:p>
            <a:pPr marL="0" indent="0">
              <a:lnSpc>
                <a:spcPct val="90000"/>
              </a:lnSpc>
              <a:buNone/>
            </a:pPr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xmlns="" id="{42588A01-8704-4203-9A16-AB2253E83F0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000" y="2743200"/>
            <a:ext cx="8229600" cy="2530836"/>
          </a:xfrm>
          <a:prstGeom prst="rect">
            <a:avLst/>
          </a:prstGeom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Attribute Transformation</a:t>
            </a:r>
          </a:p>
        </p:txBody>
      </p:sp>
      <p:sp>
        <p:nvSpPr>
          <p:cNvPr id="5632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11163" y="1066800"/>
            <a:ext cx="8318500" cy="5181600"/>
          </a:xfrm>
        </p:spPr>
        <p:txBody>
          <a:bodyPr>
            <a:normAutofit lnSpcReduction="10000"/>
          </a:bodyPr>
          <a:lstStyle/>
          <a:p>
            <a:r>
              <a:rPr lang="en-US" dirty="0"/>
              <a:t>An </a:t>
            </a:r>
            <a:r>
              <a:rPr lang="en-US" dirty="0">
                <a:solidFill>
                  <a:srgbClr val="CC6600"/>
                </a:solidFill>
              </a:rPr>
              <a:t>attribute transform</a:t>
            </a:r>
            <a:r>
              <a:rPr lang="en-US" dirty="0"/>
              <a:t> is a function that maps the entire set of values of a given attribute to a new set of replacement values such that each old value can be identified with one of the new values</a:t>
            </a:r>
          </a:p>
          <a:p>
            <a:pPr lvl="1"/>
            <a:r>
              <a:rPr lang="en-US" sz="2600" dirty="0"/>
              <a:t>Simple functions: x</a:t>
            </a:r>
            <a:r>
              <a:rPr lang="en-US" sz="2600" baseline="30000" dirty="0"/>
              <a:t>k</a:t>
            </a:r>
            <a:r>
              <a:rPr lang="en-US" sz="2600" dirty="0"/>
              <a:t>, log(x), e</a:t>
            </a:r>
            <a:r>
              <a:rPr lang="en-US" sz="2600" baseline="30000" dirty="0"/>
              <a:t>x</a:t>
            </a:r>
            <a:r>
              <a:rPr lang="en-US" sz="2600" dirty="0"/>
              <a:t>, |x|</a:t>
            </a:r>
          </a:p>
          <a:p>
            <a:pPr lvl="1"/>
            <a:r>
              <a:rPr lang="en-US" sz="2600" dirty="0">
                <a:solidFill>
                  <a:srgbClr val="CC6600"/>
                </a:solidFill>
              </a:rPr>
              <a:t>Normalization</a:t>
            </a:r>
          </a:p>
          <a:p>
            <a:pPr marL="1257300" lvl="2" indent="-279400"/>
            <a:r>
              <a:rPr lang="en-US" sz="2400" dirty="0"/>
              <a:t>Refers to various techniques to adjust to differences among attributes in terms of frequency of occurrence, mean, variance, range</a:t>
            </a:r>
          </a:p>
          <a:p>
            <a:pPr marL="1257300" lvl="2" indent="-279400"/>
            <a:r>
              <a:rPr lang="en-US" sz="2400" dirty="0"/>
              <a:t>Take out unwanted, common signal, e.g., seasonality  </a:t>
            </a:r>
          </a:p>
          <a:p>
            <a:pPr lvl="1"/>
            <a:r>
              <a:rPr lang="en-US" dirty="0"/>
              <a:t>In statistics, </a:t>
            </a:r>
            <a:r>
              <a:rPr lang="en-US" dirty="0">
                <a:solidFill>
                  <a:srgbClr val="CC6600"/>
                </a:solidFill>
              </a:rPr>
              <a:t>standardization</a:t>
            </a:r>
            <a:r>
              <a:rPr lang="en-US" dirty="0"/>
              <a:t> refers to subtracting off the means and dividing by the standard deviation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Attribute Scaling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87042" name="Picture 2" descr="Normalization and Standardization - Naukri Learni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05000" y="1263187"/>
            <a:ext cx="4813301" cy="26230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7046" name="Picture 6" descr="AlgoDaily - Standardization &amp; Normalization - Introduction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99742" y="4308434"/>
            <a:ext cx="6242915" cy="20246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976465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9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Curse of Dimensionality</a:t>
            </a:r>
          </a:p>
        </p:txBody>
      </p:sp>
      <p:sp>
        <p:nvSpPr>
          <p:cNvPr id="39939" name="Rectangle 10"/>
          <p:cNvSpPr>
            <a:spLocks noGrp="1" noChangeArrowheads="1"/>
          </p:cNvSpPr>
          <p:nvPr>
            <p:ph type="body" sz="half" idx="1"/>
          </p:nvPr>
        </p:nvSpPr>
        <p:spPr>
          <a:xfrm>
            <a:off x="76200" y="1143000"/>
            <a:ext cx="4083050" cy="5181600"/>
          </a:xfrm>
        </p:spPr>
        <p:txBody>
          <a:bodyPr/>
          <a:lstStyle/>
          <a:p>
            <a:r>
              <a:rPr lang="en-US" sz="2400" dirty="0"/>
              <a:t>When dimensionality increases, data becomes increasingly sparse in the space that it occupies</a:t>
            </a:r>
          </a:p>
          <a:p>
            <a:endParaRPr lang="en-US" sz="2400" dirty="0"/>
          </a:p>
          <a:p>
            <a:r>
              <a:rPr lang="en-US" sz="2400" dirty="0"/>
              <a:t>Definitions of density and distance between points, which are critical for clustering and outlier detection, become less meaningful</a:t>
            </a:r>
          </a:p>
        </p:txBody>
      </p:sp>
      <p:sp>
        <p:nvSpPr>
          <p:cNvPr id="39940" name="Text Box 4"/>
          <p:cNvSpPr txBox="1">
            <a:spLocks noChangeArrowheads="1"/>
          </p:cNvSpPr>
          <p:nvPr/>
        </p:nvSpPr>
        <p:spPr bwMode="auto">
          <a:xfrm>
            <a:off x="1676400" y="3657600"/>
            <a:ext cx="16002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400" b="1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>
              <a:spcBef>
                <a:spcPct val="50000"/>
              </a:spcBef>
            </a:pPr>
            <a:endParaRPr lang="en-US"/>
          </a:p>
        </p:txBody>
      </p:sp>
      <p:sp>
        <p:nvSpPr>
          <p:cNvPr id="39941" name="Rectangle 5"/>
          <p:cNvSpPr>
            <a:spLocks noChangeArrowheads="1"/>
          </p:cNvSpPr>
          <p:nvPr/>
        </p:nvSpPr>
        <p:spPr bwMode="auto">
          <a:xfrm>
            <a:off x="1717675" y="5984875"/>
            <a:ext cx="18415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>
              <a:spcBef>
                <a:spcPct val="50000"/>
              </a:spcBef>
            </a:pPr>
            <a:endParaRPr lang="en-US"/>
          </a:p>
        </p:txBody>
      </p:sp>
      <p:pic>
        <p:nvPicPr>
          <p:cNvPr id="39942" name="Picture 11"/>
          <p:cNvPicPr>
            <a:picLocks noGrp="1" noChangeAspect="1" noChangeArrowheads="1"/>
          </p:cNvPicPr>
          <p:nvPr>
            <p:ph sz="half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702" r="8356"/>
          <a:stretch>
            <a:fillRect/>
          </a:stretch>
        </p:blipFill>
        <p:spPr>
          <a:xfrm>
            <a:off x="4114800" y="1066800"/>
            <a:ext cx="5029200" cy="3963988"/>
          </a:xfrm>
          <a:noFill/>
        </p:spPr>
      </p:pic>
      <p:sp>
        <p:nvSpPr>
          <p:cNvPr id="39943" name="Text Box 13"/>
          <p:cNvSpPr txBox="1">
            <a:spLocks noChangeArrowheads="1"/>
          </p:cNvSpPr>
          <p:nvPr/>
        </p:nvSpPr>
        <p:spPr bwMode="auto">
          <a:xfrm>
            <a:off x="3733800" y="5105400"/>
            <a:ext cx="5334000" cy="1158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114300" indent="-114300">
              <a:defRPr sz="1400" b="1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>
              <a:spcBef>
                <a:spcPct val="50000"/>
              </a:spcBef>
              <a:buFontTx/>
              <a:buChar char="•"/>
            </a:pPr>
            <a:r>
              <a:rPr lang="en-US" sz="2000"/>
              <a:t>Randomly generate 500 points</a:t>
            </a:r>
          </a:p>
          <a:p>
            <a:pPr>
              <a:spcBef>
                <a:spcPct val="50000"/>
              </a:spcBef>
              <a:buFontTx/>
              <a:buChar char="•"/>
            </a:pPr>
            <a:r>
              <a:rPr lang="en-US" sz="2000"/>
              <a:t>Compute difference between max and min distance between any pair of points</a:t>
            </a:r>
          </a:p>
        </p:txBody>
      </p:sp>
    </p:spTree>
    <p:extLst>
      <p:ext uri="{BB962C8B-B14F-4D97-AF65-F5344CB8AC3E}">
        <p14:creationId xmlns:p14="http://schemas.microsoft.com/office/powerpoint/2010/main" val="24046863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1026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Dimensionality Reduction</a:t>
            </a:r>
          </a:p>
        </p:txBody>
      </p:sp>
      <p:sp>
        <p:nvSpPr>
          <p:cNvPr id="40963" name="Rectangle 1027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en-US" dirty="0"/>
              <a:t>Purpose:</a:t>
            </a:r>
          </a:p>
          <a:p>
            <a:pPr lvl="1">
              <a:lnSpc>
                <a:spcPct val="90000"/>
              </a:lnSpc>
            </a:pPr>
            <a:r>
              <a:rPr lang="en-US" dirty="0"/>
              <a:t>Avoid curse of dimensionality</a:t>
            </a:r>
          </a:p>
          <a:p>
            <a:pPr lvl="1">
              <a:lnSpc>
                <a:spcPct val="90000"/>
              </a:lnSpc>
            </a:pPr>
            <a:r>
              <a:rPr lang="en-US" dirty="0"/>
              <a:t>Reduce amount of time and memory required by data mining algorithms</a:t>
            </a:r>
          </a:p>
          <a:p>
            <a:pPr lvl="1">
              <a:lnSpc>
                <a:spcPct val="90000"/>
              </a:lnSpc>
            </a:pPr>
            <a:r>
              <a:rPr lang="en-US" dirty="0"/>
              <a:t>Allow data to be more easily visualized</a:t>
            </a:r>
          </a:p>
          <a:p>
            <a:pPr lvl="1">
              <a:lnSpc>
                <a:spcPct val="90000"/>
              </a:lnSpc>
            </a:pPr>
            <a:r>
              <a:rPr lang="en-US" dirty="0"/>
              <a:t>May help to eliminate irrelevant features or reduce noise</a:t>
            </a:r>
          </a:p>
          <a:p>
            <a:pPr lvl="4">
              <a:lnSpc>
                <a:spcPct val="90000"/>
              </a:lnSpc>
            </a:pPr>
            <a:endParaRPr lang="en-US" dirty="0"/>
          </a:p>
          <a:p>
            <a:pPr>
              <a:lnSpc>
                <a:spcPct val="90000"/>
              </a:lnSpc>
            </a:pPr>
            <a:r>
              <a:rPr lang="en-US" dirty="0"/>
              <a:t>Techniques</a:t>
            </a:r>
          </a:p>
          <a:p>
            <a:pPr lvl="1">
              <a:lnSpc>
                <a:spcPct val="90000"/>
              </a:lnSpc>
            </a:pPr>
            <a:r>
              <a:rPr lang="en-US" dirty="0"/>
              <a:t>Principal Components Analysis (PCA)</a:t>
            </a:r>
          </a:p>
          <a:p>
            <a:pPr lvl="1">
              <a:lnSpc>
                <a:spcPct val="90000"/>
              </a:lnSpc>
            </a:pPr>
            <a:r>
              <a:rPr lang="en-US" dirty="0"/>
              <a:t>Singular Value </a:t>
            </a:r>
            <a:r>
              <a:rPr lang="en-US" dirty="0" smtClean="0"/>
              <a:t>Decomposition</a:t>
            </a:r>
          </a:p>
          <a:p>
            <a:pPr lvl="1">
              <a:lnSpc>
                <a:spcPct val="90000"/>
              </a:lnSpc>
            </a:pPr>
            <a:r>
              <a:rPr lang="en-US" dirty="0" smtClean="0"/>
              <a:t>T-SNE</a:t>
            </a:r>
            <a:endParaRPr lang="en-US" dirty="0"/>
          </a:p>
          <a:p>
            <a:pPr lvl="1">
              <a:lnSpc>
                <a:spcPct val="90000"/>
              </a:lnSpc>
            </a:pPr>
            <a:r>
              <a:rPr lang="en-US" dirty="0"/>
              <a:t>Others: supervised and non-linear techniques</a:t>
            </a:r>
          </a:p>
        </p:txBody>
      </p:sp>
    </p:spTree>
    <p:extLst>
      <p:ext uri="{BB962C8B-B14F-4D97-AF65-F5344CB8AC3E}">
        <p14:creationId xmlns:p14="http://schemas.microsoft.com/office/powerpoint/2010/main" val="269087257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1056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Dimensionality Reduction: PCA</a:t>
            </a:r>
          </a:p>
        </p:txBody>
      </p:sp>
      <p:sp>
        <p:nvSpPr>
          <p:cNvPr id="41987" name="Rectangle 1057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Goal is to find a projection that captures the largest  amount of variation in data</a:t>
            </a:r>
          </a:p>
          <a:p>
            <a:endParaRPr lang="en-US"/>
          </a:p>
        </p:txBody>
      </p:sp>
      <p:grpSp>
        <p:nvGrpSpPr>
          <p:cNvPr id="41988" name="Group 1088"/>
          <p:cNvGrpSpPr>
            <a:grpSpLocks/>
          </p:cNvGrpSpPr>
          <p:nvPr/>
        </p:nvGrpSpPr>
        <p:grpSpPr bwMode="auto">
          <a:xfrm>
            <a:off x="2057400" y="2286000"/>
            <a:ext cx="3546475" cy="4051300"/>
            <a:chOff x="1498" y="1664"/>
            <a:chExt cx="2234" cy="1950"/>
          </a:xfrm>
        </p:grpSpPr>
        <p:sp>
          <p:nvSpPr>
            <p:cNvPr id="41989" name="Line 1059"/>
            <p:cNvSpPr>
              <a:spLocks noChangeShapeType="1"/>
            </p:cNvSpPr>
            <p:nvPr/>
          </p:nvSpPr>
          <p:spPr bwMode="auto">
            <a:xfrm flipV="1">
              <a:off x="1820" y="1664"/>
              <a:ext cx="0" cy="165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triangl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1990" name="Line 1060"/>
            <p:cNvSpPr>
              <a:spLocks noChangeShapeType="1"/>
            </p:cNvSpPr>
            <p:nvPr/>
          </p:nvSpPr>
          <p:spPr bwMode="auto">
            <a:xfrm>
              <a:off x="1820" y="3320"/>
              <a:ext cx="1712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triangl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1991" name="Line 1061"/>
            <p:cNvSpPr>
              <a:spLocks noChangeShapeType="1"/>
            </p:cNvSpPr>
            <p:nvPr/>
          </p:nvSpPr>
          <p:spPr bwMode="auto">
            <a:xfrm flipV="1">
              <a:off x="1828" y="2429"/>
              <a:ext cx="1632" cy="882"/>
            </a:xfrm>
            <a:prstGeom prst="line">
              <a:avLst/>
            </a:prstGeom>
            <a:noFill/>
            <a:ln w="28575">
              <a:solidFill>
                <a:schemeClr val="tx2"/>
              </a:solidFill>
              <a:round/>
              <a:headEnd type="none" w="sm" len="sm"/>
              <a:tailEnd type="triangl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1992" name="Oval 1063"/>
            <p:cNvSpPr>
              <a:spLocks noChangeArrowheads="1"/>
            </p:cNvSpPr>
            <p:nvPr/>
          </p:nvSpPr>
          <p:spPr bwMode="auto">
            <a:xfrm>
              <a:off x="2164" y="2946"/>
              <a:ext cx="47" cy="49"/>
            </a:xfrm>
            <a:prstGeom prst="ellipse">
              <a:avLst/>
            </a:prstGeom>
            <a:solidFill>
              <a:schemeClr val="accent1"/>
            </a:solidFill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1993" name="Oval 1064"/>
            <p:cNvSpPr>
              <a:spLocks noChangeArrowheads="1"/>
            </p:cNvSpPr>
            <p:nvPr/>
          </p:nvSpPr>
          <p:spPr bwMode="auto">
            <a:xfrm>
              <a:off x="2340" y="2805"/>
              <a:ext cx="47" cy="49"/>
            </a:xfrm>
            <a:prstGeom prst="ellipse">
              <a:avLst/>
            </a:prstGeom>
            <a:solidFill>
              <a:schemeClr val="accent1"/>
            </a:solidFill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1994" name="Oval 1065"/>
            <p:cNvSpPr>
              <a:spLocks noChangeArrowheads="1"/>
            </p:cNvSpPr>
            <p:nvPr/>
          </p:nvSpPr>
          <p:spPr bwMode="auto">
            <a:xfrm>
              <a:off x="2044" y="3129"/>
              <a:ext cx="47" cy="49"/>
            </a:xfrm>
            <a:prstGeom prst="ellipse">
              <a:avLst/>
            </a:prstGeom>
            <a:solidFill>
              <a:schemeClr val="accent1"/>
            </a:solidFill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1995" name="Oval 1066"/>
            <p:cNvSpPr>
              <a:spLocks noChangeArrowheads="1"/>
            </p:cNvSpPr>
            <p:nvPr/>
          </p:nvSpPr>
          <p:spPr bwMode="auto">
            <a:xfrm>
              <a:off x="2428" y="2872"/>
              <a:ext cx="47" cy="48"/>
            </a:xfrm>
            <a:prstGeom prst="ellipse">
              <a:avLst/>
            </a:prstGeom>
            <a:solidFill>
              <a:schemeClr val="accent1"/>
            </a:solidFill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1996" name="Oval 1067"/>
            <p:cNvSpPr>
              <a:spLocks noChangeArrowheads="1"/>
            </p:cNvSpPr>
            <p:nvPr/>
          </p:nvSpPr>
          <p:spPr bwMode="auto">
            <a:xfrm>
              <a:off x="2332" y="2938"/>
              <a:ext cx="47" cy="49"/>
            </a:xfrm>
            <a:prstGeom prst="ellipse">
              <a:avLst/>
            </a:prstGeom>
            <a:solidFill>
              <a:schemeClr val="accent1"/>
            </a:solidFill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1997" name="Oval 1068"/>
            <p:cNvSpPr>
              <a:spLocks noChangeArrowheads="1"/>
            </p:cNvSpPr>
            <p:nvPr/>
          </p:nvSpPr>
          <p:spPr bwMode="auto">
            <a:xfrm>
              <a:off x="2692" y="2930"/>
              <a:ext cx="47" cy="49"/>
            </a:xfrm>
            <a:prstGeom prst="ellipse">
              <a:avLst/>
            </a:prstGeom>
            <a:solidFill>
              <a:schemeClr val="accent1"/>
            </a:solidFill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1998" name="Oval 1069"/>
            <p:cNvSpPr>
              <a:spLocks noChangeArrowheads="1"/>
            </p:cNvSpPr>
            <p:nvPr/>
          </p:nvSpPr>
          <p:spPr bwMode="auto">
            <a:xfrm>
              <a:off x="2612" y="3138"/>
              <a:ext cx="47" cy="49"/>
            </a:xfrm>
            <a:prstGeom prst="ellipse">
              <a:avLst/>
            </a:prstGeom>
            <a:solidFill>
              <a:schemeClr val="accent1"/>
            </a:solidFill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1999" name="Oval 1070"/>
            <p:cNvSpPr>
              <a:spLocks noChangeArrowheads="1"/>
            </p:cNvSpPr>
            <p:nvPr/>
          </p:nvSpPr>
          <p:spPr bwMode="auto">
            <a:xfrm>
              <a:off x="2468" y="3071"/>
              <a:ext cx="47" cy="49"/>
            </a:xfrm>
            <a:prstGeom prst="ellipse">
              <a:avLst/>
            </a:prstGeom>
            <a:solidFill>
              <a:schemeClr val="accent1"/>
            </a:solidFill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2000" name="Oval 1071"/>
            <p:cNvSpPr>
              <a:spLocks noChangeArrowheads="1"/>
            </p:cNvSpPr>
            <p:nvPr/>
          </p:nvSpPr>
          <p:spPr bwMode="auto">
            <a:xfrm>
              <a:off x="2588" y="2730"/>
              <a:ext cx="47" cy="49"/>
            </a:xfrm>
            <a:prstGeom prst="ellipse">
              <a:avLst/>
            </a:prstGeom>
            <a:solidFill>
              <a:schemeClr val="accent1"/>
            </a:solidFill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2001" name="Oval 1072"/>
            <p:cNvSpPr>
              <a:spLocks noChangeArrowheads="1"/>
            </p:cNvSpPr>
            <p:nvPr/>
          </p:nvSpPr>
          <p:spPr bwMode="auto">
            <a:xfrm>
              <a:off x="2964" y="2805"/>
              <a:ext cx="47" cy="49"/>
            </a:xfrm>
            <a:prstGeom prst="ellipse">
              <a:avLst/>
            </a:prstGeom>
            <a:solidFill>
              <a:schemeClr val="accent1"/>
            </a:solidFill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2002" name="Oval 1073"/>
            <p:cNvSpPr>
              <a:spLocks noChangeArrowheads="1"/>
            </p:cNvSpPr>
            <p:nvPr/>
          </p:nvSpPr>
          <p:spPr bwMode="auto">
            <a:xfrm>
              <a:off x="3204" y="2480"/>
              <a:ext cx="47" cy="49"/>
            </a:xfrm>
            <a:prstGeom prst="ellipse">
              <a:avLst/>
            </a:prstGeom>
            <a:solidFill>
              <a:schemeClr val="accent1"/>
            </a:solidFill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2003" name="Oval 1074"/>
            <p:cNvSpPr>
              <a:spLocks noChangeArrowheads="1"/>
            </p:cNvSpPr>
            <p:nvPr/>
          </p:nvSpPr>
          <p:spPr bwMode="auto">
            <a:xfrm>
              <a:off x="2236" y="3154"/>
              <a:ext cx="47" cy="49"/>
            </a:xfrm>
            <a:prstGeom prst="ellipse">
              <a:avLst/>
            </a:prstGeom>
            <a:solidFill>
              <a:schemeClr val="accent1"/>
            </a:solidFill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2004" name="Oval 1075"/>
            <p:cNvSpPr>
              <a:spLocks noChangeArrowheads="1"/>
            </p:cNvSpPr>
            <p:nvPr/>
          </p:nvSpPr>
          <p:spPr bwMode="auto">
            <a:xfrm>
              <a:off x="2756" y="2713"/>
              <a:ext cx="47" cy="49"/>
            </a:xfrm>
            <a:prstGeom prst="ellipse">
              <a:avLst/>
            </a:prstGeom>
            <a:solidFill>
              <a:schemeClr val="accent1"/>
            </a:solidFill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2005" name="Oval 1076"/>
            <p:cNvSpPr>
              <a:spLocks noChangeArrowheads="1"/>
            </p:cNvSpPr>
            <p:nvPr/>
          </p:nvSpPr>
          <p:spPr bwMode="auto">
            <a:xfrm>
              <a:off x="2932" y="2530"/>
              <a:ext cx="47" cy="49"/>
            </a:xfrm>
            <a:prstGeom prst="ellipse">
              <a:avLst/>
            </a:prstGeom>
            <a:solidFill>
              <a:schemeClr val="accent1"/>
            </a:solidFill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2006" name="Oval 1077"/>
            <p:cNvSpPr>
              <a:spLocks noChangeArrowheads="1"/>
            </p:cNvSpPr>
            <p:nvPr/>
          </p:nvSpPr>
          <p:spPr bwMode="auto">
            <a:xfrm>
              <a:off x="2452" y="2738"/>
              <a:ext cx="47" cy="49"/>
            </a:xfrm>
            <a:prstGeom prst="ellipse">
              <a:avLst/>
            </a:prstGeom>
            <a:solidFill>
              <a:schemeClr val="accent1"/>
            </a:solidFill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2007" name="Oval 1078"/>
            <p:cNvSpPr>
              <a:spLocks noChangeArrowheads="1"/>
            </p:cNvSpPr>
            <p:nvPr/>
          </p:nvSpPr>
          <p:spPr bwMode="auto">
            <a:xfrm>
              <a:off x="2836" y="2614"/>
              <a:ext cx="47" cy="48"/>
            </a:xfrm>
            <a:prstGeom prst="ellipse">
              <a:avLst/>
            </a:prstGeom>
            <a:solidFill>
              <a:schemeClr val="accent1"/>
            </a:solidFill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2008" name="Oval 1079"/>
            <p:cNvSpPr>
              <a:spLocks noChangeArrowheads="1"/>
            </p:cNvSpPr>
            <p:nvPr/>
          </p:nvSpPr>
          <p:spPr bwMode="auto">
            <a:xfrm>
              <a:off x="2908" y="2955"/>
              <a:ext cx="47" cy="49"/>
            </a:xfrm>
            <a:prstGeom prst="ellipse">
              <a:avLst/>
            </a:prstGeom>
            <a:solidFill>
              <a:schemeClr val="accent1"/>
            </a:solidFill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2009" name="Freeform 1080"/>
            <p:cNvSpPr>
              <a:spLocks/>
            </p:cNvSpPr>
            <p:nvPr/>
          </p:nvSpPr>
          <p:spPr bwMode="auto">
            <a:xfrm>
              <a:off x="1928" y="2409"/>
              <a:ext cx="1457" cy="1006"/>
            </a:xfrm>
            <a:custGeom>
              <a:avLst/>
              <a:gdLst>
                <a:gd name="T0" fmla="*/ 4 w 1457"/>
                <a:gd name="T1" fmla="*/ 1002 h 968"/>
                <a:gd name="T2" fmla="*/ 212 w 1457"/>
                <a:gd name="T3" fmla="*/ 488 h 968"/>
                <a:gd name="T4" fmla="*/ 716 w 1457"/>
                <a:gd name="T5" fmla="*/ 166 h 968"/>
                <a:gd name="T6" fmla="*/ 1356 w 1457"/>
                <a:gd name="T7" fmla="*/ 26 h 968"/>
                <a:gd name="T8" fmla="*/ 1324 w 1457"/>
                <a:gd name="T9" fmla="*/ 318 h 968"/>
                <a:gd name="T10" fmla="*/ 940 w 1457"/>
                <a:gd name="T11" fmla="*/ 882 h 968"/>
                <a:gd name="T12" fmla="*/ 188 w 1457"/>
                <a:gd name="T13" fmla="*/ 1194 h 968"/>
                <a:gd name="T14" fmla="*/ 4 w 1457"/>
                <a:gd name="T15" fmla="*/ 1002 h 968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1457"/>
                <a:gd name="T25" fmla="*/ 0 h 968"/>
                <a:gd name="T26" fmla="*/ 1457 w 1457"/>
                <a:gd name="T27" fmla="*/ 968 h 968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1457" h="968">
                  <a:moveTo>
                    <a:pt x="4" y="796"/>
                  </a:moveTo>
                  <a:cubicBezTo>
                    <a:pt x="8" y="703"/>
                    <a:pt x="93" y="499"/>
                    <a:pt x="212" y="388"/>
                  </a:cubicBezTo>
                  <a:cubicBezTo>
                    <a:pt x="331" y="277"/>
                    <a:pt x="525" y="193"/>
                    <a:pt x="716" y="132"/>
                  </a:cubicBezTo>
                  <a:cubicBezTo>
                    <a:pt x="907" y="71"/>
                    <a:pt x="1255" y="0"/>
                    <a:pt x="1356" y="20"/>
                  </a:cubicBezTo>
                  <a:cubicBezTo>
                    <a:pt x="1457" y="40"/>
                    <a:pt x="1393" y="139"/>
                    <a:pt x="1324" y="252"/>
                  </a:cubicBezTo>
                  <a:cubicBezTo>
                    <a:pt x="1255" y="365"/>
                    <a:pt x="1129" y="584"/>
                    <a:pt x="940" y="700"/>
                  </a:cubicBezTo>
                  <a:cubicBezTo>
                    <a:pt x="751" y="816"/>
                    <a:pt x="344" y="928"/>
                    <a:pt x="188" y="948"/>
                  </a:cubicBezTo>
                  <a:cubicBezTo>
                    <a:pt x="32" y="968"/>
                    <a:pt x="0" y="889"/>
                    <a:pt x="4" y="796"/>
                  </a:cubicBezTo>
                  <a:close/>
                </a:path>
              </a:pathLst>
            </a:custGeom>
            <a:noFill/>
            <a:ln w="19050">
              <a:solidFill>
                <a:srgbClr val="FF0000"/>
              </a:solidFill>
              <a:prstDash val="dash"/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2010" name="Oval 1081"/>
            <p:cNvSpPr>
              <a:spLocks noChangeArrowheads="1"/>
            </p:cNvSpPr>
            <p:nvPr/>
          </p:nvSpPr>
          <p:spPr bwMode="auto">
            <a:xfrm>
              <a:off x="2124" y="3271"/>
              <a:ext cx="47" cy="49"/>
            </a:xfrm>
            <a:prstGeom prst="ellipse">
              <a:avLst/>
            </a:prstGeom>
            <a:solidFill>
              <a:schemeClr val="accent1"/>
            </a:solidFill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2011" name="Text Box 1085"/>
            <p:cNvSpPr txBox="1">
              <a:spLocks noChangeArrowheads="1"/>
            </p:cNvSpPr>
            <p:nvPr/>
          </p:nvSpPr>
          <p:spPr bwMode="auto">
            <a:xfrm>
              <a:off x="1498" y="1666"/>
              <a:ext cx="276" cy="2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cap="sq">
                  <a:solidFill>
                    <a:srgbClr val="000000"/>
                  </a:solidFill>
                  <a:miter lim="800000"/>
                  <a:headEnd type="none" w="sm" len="sm"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defRPr sz="1400" b="1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/>
              <a:r>
                <a:rPr lang="en-US" sz="2400" b="0">
                  <a:latin typeface="Times New Roman" pitchFamily="18" charset="0"/>
                </a:rPr>
                <a:t>x</a:t>
              </a:r>
              <a:r>
                <a:rPr lang="en-US" sz="2400" b="0" baseline="-25000">
                  <a:latin typeface="Times New Roman" pitchFamily="18" charset="0"/>
                </a:rPr>
                <a:t>2</a:t>
              </a:r>
            </a:p>
          </p:txBody>
        </p:sp>
        <p:sp>
          <p:nvSpPr>
            <p:cNvPr id="42012" name="Text Box 1086"/>
            <p:cNvSpPr txBox="1">
              <a:spLocks noChangeArrowheads="1"/>
            </p:cNvSpPr>
            <p:nvPr/>
          </p:nvSpPr>
          <p:spPr bwMode="auto">
            <a:xfrm>
              <a:off x="3456" y="3394"/>
              <a:ext cx="276" cy="2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cap="sq">
                  <a:solidFill>
                    <a:srgbClr val="000000"/>
                  </a:solidFill>
                  <a:miter lim="800000"/>
                  <a:headEnd type="none" w="sm" len="sm"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defRPr sz="1400" b="1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/>
              <a:r>
                <a:rPr lang="en-US" sz="2400" b="0">
                  <a:latin typeface="Times New Roman" pitchFamily="18" charset="0"/>
                </a:rPr>
                <a:t>x</a:t>
              </a:r>
              <a:r>
                <a:rPr lang="en-US" sz="2400" b="0" baseline="-25000">
                  <a:latin typeface="Times New Roman" pitchFamily="18" charset="0"/>
                </a:rPr>
                <a:t>1</a:t>
              </a:r>
            </a:p>
          </p:txBody>
        </p:sp>
        <p:sp>
          <p:nvSpPr>
            <p:cNvPr id="42013" name="Text Box 1087"/>
            <p:cNvSpPr txBox="1">
              <a:spLocks noChangeArrowheads="1"/>
            </p:cNvSpPr>
            <p:nvPr/>
          </p:nvSpPr>
          <p:spPr bwMode="auto">
            <a:xfrm>
              <a:off x="3504" y="2242"/>
              <a:ext cx="201" cy="2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cap="sq">
                  <a:solidFill>
                    <a:srgbClr val="000000"/>
                  </a:solidFill>
                  <a:miter lim="800000"/>
                  <a:headEnd type="none" w="sm" len="sm"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defRPr sz="1400" b="1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/>
              <a:r>
                <a:rPr lang="en-US" sz="2400" b="0">
                  <a:latin typeface="Times New Roman" pitchFamily="18" charset="0"/>
                </a:rPr>
                <a:t>e</a:t>
              </a:r>
              <a:endParaRPr lang="en-US" sz="2400" b="0" baseline="-25000">
                <a:latin typeface="Times New Roman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858476905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6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Feature Subset Selection</a:t>
            </a:r>
          </a:p>
        </p:txBody>
      </p:sp>
      <p:sp>
        <p:nvSpPr>
          <p:cNvPr id="44035" name="Rectangle 7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en-US"/>
              <a:t>Another way to reduce dimensionality of data</a:t>
            </a:r>
          </a:p>
          <a:p>
            <a:pPr>
              <a:lnSpc>
                <a:spcPct val="90000"/>
              </a:lnSpc>
            </a:pPr>
            <a:r>
              <a:rPr lang="en-US"/>
              <a:t>Redundant features </a:t>
            </a:r>
          </a:p>
          <a:p>
            <a:pPr lvl="1">
              <a:lnSpc>
                <a:spcPct val="90000"/>
              </a:lnSpc>
            </a:pPr>
            <a:r>
              <a:rPr lang="en-US"/>
              <a:t>Duplicate much or all of the information contained in one or more other attributes</a:t>
            </a:r>
          </a:p>
          <a:p>
            <a:pPr lvl="1">
              <a:lnSpc>
                <a:spcPct val="90000"/>
              </a:lnSpc>
            </a:pPr>
            <a:r>
              <a:rPr lang="en-US"/>
              <a:t>Example: purchase price of a product and the amount of sales tax paid</a:t>
            </a:r>
          </a:p>
          <a:p>
            <a:pPr>
              <a:lnSpc>
                <a:spcPct val="90000"/>
              </a:lnSpc>
            </a:pPr>
            <a:r>
              <a:rPr lang="en-US"/>
              <a:t>Irrelevant features</a:t>
            </a:r>
          </a:p>
          <a:p>
            <a:pPr lvl="1">
              <a:lnSpc>
                <a:spcPct val="90000"/>
              </a:lnSpc>
            </a:pPr>
            <a:r>
              <a:rPr lang="en-US"/>
              <a:t>Contain no information that is useful for the data mining task at hand</a:t>
            </a:r>
          </a:p>
          <a:p>
            <a:pPr lvl="1">
              <a:lnSpc>
                <a:spcPct val="90000"/>
              </a:lnSpc>
            </a:pPr>
            <a:r>
              <a:rPr lang="en-US"/>
              <a:t>Example: students' ID is often irrelevant to the task of predicting students' GPA</a:t>
            </a:r>
          </a:p>
          <a:p>
            <a:pPr>
              <a:lnSpc>
                <a:spcPct val="90000"/>
              </a:lnSpc>
            </a:pPr>
            <a:r>
              <a:rPr lang="en-US"/>
              <a:t>Many techniques developed, especially for classification</a:t>
            </a:r>
          </a:p>
        </p:txBody>
      </p:sp>
      <p:sp>
        <p:nvSpPr>
          <p:cNvPr id="44036" name="Text Box 4"/>
          <p:cNvSpPr txBox="1">
            <a:spLocks noChangeArrowheads="1"/>
          </p:cNvSpPr>
          <p:nvPr/>
        </p:nvSpPr>
        <p:spPr bwMode="auto">
          <a:xfrm>
            <a:off x="1676400" y="3657600"/>
            <a:ext cx="16002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400" b="1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>
              <a:spcBef>
                <a:spcPct val="50000"/>
              </a:spcBef>
            </a:pPr>
            <a:endParaRPr lang="en-US"/>
          </a:p>
        </p:txBody>
      </p:sp>
      <p:sp>
        <p:nvSpPr>
          <p:cNvPr id="44037" name="Rectangle 5"/>
          <p:cNvSpPr>
            <a:spLocks noChangeArrowheads="1"/>
          </p:cNvSpPr>
          <p:nvPr/>
        </p:nvSpPr>
        <p:spPr bwMode="auto">
          <a:xfrm>
            <a:off x="1717675" y="5984875"/>
            <a:ext cx="18415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>
              <a:spcBef>
                <a:spcPct val="50000"/>
              </a:spcBef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5755032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1026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Feature Creation</a:t>
            </a:r>
          </a:p>
        </p:txBody>
      </p:sp>
      <p:sp>
        <p:nvSpPr>
          <p:cNvPr id="45059" name="Rectangle 1027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Create new attributes that can capture the important information in a data set much more efficiently than the original attributes</a:t>
            </a:r>
          </a:p>
          <a:p>
            <a:pPr lvl="4"/>
            <a:endParaRPr lang="en-US"/>
          </a:p>
          <a:p>
            <a:r>
              <a:rPr lang="en-US"/>
              <a:t>Three general methodologies:</a:t>
            </a:r>
          </a:p>
          <a:p>
            <a:pPr lvl="1"/>
            <a:r>
              <a:rPr lang="en-US"/>
              <a:t>Feature extraction</a:t>
            </a:r>
          </a:p>
          <a:p>
            <a:pPr marL="1147763" lvl="2" indent="-233363"/>
            <a:r>
              <a:rPr lang="en-US" sz="2400"/>
              <a:t> </a:t>
            </a:r>
            <a:r>
              <a:rPr lang="en-US" sz="2200"/>
              <a:t>Example: extracting edges from images</a:t>
            </a:r>
          </a:p>
          <a:p>
            <a:pPr lvl="1"/>
            <a:r>
              <a:rPr lang="en-US"/>
              <a:t>Feature construction</a:t>
            </a:r>
          </a:p>
          <a:p>
            <a:pPr marL="1147763" lvl="2" indent="-233363"/>
            <a:r>
              <a:rPr lang="en-US" sz="2200"/>
              <a:t> Example: dividing mass by volume to get density</a:t>
            </a:r>
            <a:r>
              <a:rPr lang="en-US" sz="2400"/>
              <a:t> </a:t>
            </a:r>
          </a:p>
          <a:p>
            <a:pPr lvl="1"/>
            <a:r>
              <a:rPr lang="en-US"/>
              <a:t>Mapping data to new space</a:t>
            </a:r>
          </a:p>
          <a:p>
            <a:pPr marL="1147763" lvl="2" indent="-233363"/>
            <a:r>
              <a:rPr lang="en-US" sz="2200"/>
              <a:t> Example: Fourier and wavelet analysis </a:t>
            </a:r>
          </a:p>
        </p:txBody>
      </p:sp>
    </p:spTree>
    <p:extLst>
      <p:ext uri="{BB962C8B-B14F-4D97-AF65-F5344CB8AC3E}">
        <p14:creationId xmlns:p14="http://schemas.microsoft.com/office/powerpoint/2010/main" val="3188242257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2"/>
          <p:cNvSpPr>
            <a:spLocks noGrp="1" noChangeArrowheads="1"/>
          </p:cNvSpPr>
          <p:nvPr>
            <p:ph type="title"/>
          </p:nvPr>
        </p:nvSpPr>
        <p:spPr>
          <a:xfrm>
            <a:off x="228600" y="0"/>
            <a:ext cx="8585200" cy="685800"/>
          </a:xfrm>
        </p:spPr>
        <p:txBody>
          <a:bodyPr/>
          <a:lstStyle/>
          <a:p>
            <a:r>
              <a:rPr lang="en-US"/>
              <a:t>Mapping Data to a New Space</a:t>
            </a:r>
          </a:p>
        </p:txBody>
      </p:sp>
      <p:sp>
        <p:nvSpPr>
          <p:cNvPr id="4608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46050" y="990600"/>
            <a:ext cx="8394700" cy="5029200"/>
          </a:xfrm>
          <a:noFill/>
        </p:spPr>
        <p:txBody>
          <a:bodyPr/>
          <a:lstStyle/>
          <a:p>
            <a:pPr marL="285750" indent="-285750" algn="just">
              <a:lnSpc>
                <a:spcPct val="95000"/>
              </a:lnSpc>
              <a:spcBef>
                <a:spcPct val="20000"/>
              </a:spcBef>
              <a:tabLst>
                <a:tab pos="1198563" algn="l"/>
              </a:tabLst>
            </a:pPr>
            <a:endParaRPr lang="en-US" b="1">
              <a:latin typeface="Times New Roman" pitchFamily="18" charset="0"/>
              <a:cs typeface="Times New Roman" pitchFamily="18" charset="0"/>
            </a:endParaRPr>
          </a:p>
          <a:p>
            <a:pPr marL="285750" indent="-285750" algn="just">
              <a:lnSpc>
                <a:spcPct val="95000"/>
              </a:lnSpc>
              <a:spcBef>
                <a:spcPct val="20000"/>
              </a:spcBef>
              <a:tabLst>
                <a:tab pos="1198563" algn="l"/>
              </a:tabLst>
            </a:pPr>
            <a:endParaRPr lang="en-US" b="1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6084" name="Text Box 4"/>
          <p:cNvSpPr txBox="1">
            <a:spLocks noChangeArrowheads="1"/>
          </p:cNvSpPr>
          <p:nvPr/>
        </p:nvSpPr>
        <p:spPr bwMode="auto">
          <a:xfrm>
            <a:off x="1676400" y="3657600"/>
            <a:ext cx="16002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400" b="1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>
              <a:spcBef>
                <a:spcPct val="50000"/>
              </a:spcBef>
            </a:pPr>
            <a:endParaRPr lang="en-US"/>
          </a:p>
        </p:txBody>
      </p:sp>
      <p:sp>
        <p:nvSpPr>
          <p:cNvPr id="46085" name="Rectangle 5"/>
          <p:cNvSpPr>
            <a:spLocks noChangeArrowheads="1"/>
          </p:cNvSpPr>
          <p:nvPr/>
        </p:nvSpPr>
        <p:spPr bwMode="auto">
          <a:xfrm>
            <a:off x="1717675" y="5984875"/>
            <a:ext cx="18415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>
              <a:spcBef>
                <a:spcPct val="50000"/>
              </a:spcBef>
            </a:pPr>
            <a:endParaRPr lang="en-US"/>
          </a:p>
        </p:txBody>
      </p:sp>
      <p:pic>
        <p:nvPicPr>
          <p:cNvPr id="46086" name="Picture 6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8214"/>
          <a:stretch>
            <a:fillRect/>
          </a:stretch>
        </p:blipFill>
        <p:spPr bwMode="auto">
          <a:xfrm>
            <a:off x="4419600" y="1524000"/>
            <a:ext cx="4699000" cy="3838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6087" name="Picture 8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392" r="6250"/>
          <a:stretch>
            <a:fillRect/>
          </a:stretch>
        </p:blipFill>
        <p:spPr bwMode="auto">
          <a:xfrm>
            <a:off x="76200" y="1366838"/>
            <a:ext cx="4689475" cy="41195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6088" name="Text Box 10"/>
          <p:cNvSpPr txBox="1">
            <a:spLocks noChangeArrowheads="1"/>
          </p:cNvSpPr>
          <p:nvPr/>
        </p:nvSpPr>
        <p:spPr bwMode="auto">
          <a:xfrm>
            <a:off x="914400" y="5715000"/>
            <a:ext cx="3886200" cy="427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400" b="1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sz="2200"/>
              <a:t>Two Sine Waves + Noise</a:t>
            </a:r>
          </a:p>
        </p:txBody>
      </p:sp>
      <p:sp>
        <p:nvSpPr>
          <p:cNvPr id="46089" name="Text Box 11"/>
          <p:cNvSpPr txBox="1">
            <a:spLocks noChangeArrowheads="1"/>
          </p:cNvSpPr>
          <p:nvPr/>
        </p:nvSpPr>
        <p:spPr bwMode="auto">
          <a:xfrm>
            <a:off x="5867400" y="5715000"/>
            <a:ext cx="2514600" cy="427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400" b="1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sz="2200"/>
              <a:t>Frequency</a:t>
            </a:r>
          </a:p>
        </p:txBody>
      </p:sp>
      <p:sp>
        <p:nvSpPr>
          <p:cNvPr id="46090" name="Rectangle 12"/>
          <p:cNvSpPr>
            <a:spLocks noChangeArrowheads="1"/>
          </p:cNvSpPr>
          <p:nvPr/>
        </p:nvSpPr>
        <p:spPr bwMode="auto">
          <a:xfrm>
            <a:off x="298450" y="1143000"/>
            <a:ext cx="8394700" cy="5029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/>
          <a:lstStyle/>
          <a:p>
            <a:pPr marL="285750" indent="-285750" algn="just">
              <a:lnSpc>
                <a:spcPct val="95000"/>
              </a:lnSpc>
              <a:spcBef>
                <a:spcPct val="2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charset="2"/>
              <a:buChar char="l"/>
              <a:tabLst>
                <a:tab pos="1198563" algn="l"/>
              </a:tabLst>
            </a:pPr>
            <a:r>
              <a:rPr lang="en-US" sz="2800">
                <a:latin typeface="Times New Roman" pitchFamily="18" charset="0"/>
                <a:cs typeface="Times New Roman" pitchFamily="18" charset="0"/>
              </a:rPr>
              <a:t>Fourier and wavelet transform</a:t>
            </a:r>
          </a:p>
        </p:txBody>
      </p:sp>
      <p:sp>
        <p:nvSpPr>
          <p:cNvPr id="46091" name="Text Box 13"/>
          <p:cNvSpPr txBox="1">
            <a:spLocks noChangeArrowheads="1"/>
          </p:cNvSpPr>
          <p:nvPr/>
        </p:nvSpPr>
        <p:spPr bwMode="auto">
          <a:xfrm>
            <a:off x="5562600" y="5257800"/>
            <a:ext cx="22860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400" b="1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b="0"/>
              <a:t>Frequency</a:t>
            </a:r>
          </a:p>
        </p:txBody>
      </p:sp>
    </p:spTree>
    <p:extLst>
      <p:ext uri="{BB962C8B-B14F-4D97-AF65-F5344CB8AC3E}">
        <p14:creationId xmlns:p14="http://schemas.microsoft.com/office/powerpoint/2010/main" val="2260939392"/>
      </p:ext>
    </p:extLst>
  </p:cSld>
  <p:clrMapOvr>
    <a:masterClrMapping/>
  </p:clrMapOvr>
</p:sld>
</file>

<file path=ppt/theme/theme1.xml><?xml version="1.0" encoding="utf-8"?>
<a:theme xmlns:a="http://schemas.openxmlformats.org/drawingml/2006/main" name="LC.BRev.FY97">
  <a:themeElements>
    <a:clrScheme name="">
      <a:dk1>
        <a:srgbClr val="000000"/>
      </a:dk1>
      <a:lt1>
        <a:srgbClr val="FFFFFF"/>
      </a:lt1>
      <a:dk2>
        <a:srgbClr val="006B61"/>
      </a:dk2>
      <a:lt2>
        <a:srgbClr val="C0C0C0"/>
      </a:lt2>
      <a:accent1>
        <a:srgbClr val="FF00FF"/>
      </a:accent1>
      <a:accent2>
        <a:srgbClr val="00C0C0"/>
      </a:accent2>
      <a:accent3>
        <a:srgbClr val="FFFFFF"/>
      </a:accent3>
      <a:accent4>
        <a:srgbClr val="000000"/>
      </a:accent4>
      <a:accent5>
        <a:srgbClr val="FFAAFF"/>
      </a:accent5>
      <a:accent6>
        <a:srgbClr val="00AEAE"/>
      </a:accent6>
      <a:hlink>
        <a:srgbClr val="00C000"/>
      </a:hlink>
      <a:folHlink>
        <a:srgbClr val="800080"/>
      </a:folHlink>
    </a:clrScheme>
    <a:fontScheme name="LC.BRev.FY97">
      <a:majorFont>
        <a:latin typeface="Tahoma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4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4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itchFamily="34" charset="0"/>
          </a:defRPr>
        </a:defPPr>
      </a:lstStyle>
    </a:lnDef>
  </a:objectDefaults>
  <a:extraClrSchemeLst>
    <a:extraClrScheme>
      <a:clrScheme name="LC.BRev.FY97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LC.BRev.FY97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LC.BRev.FY97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LC.BRev.FY97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LC.BRev.FY97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LC.BRev.FY97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LC.BRev.FY97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919191"/>
      </a:lt2>
      <a:accent1>
        <a:srgbClr val="618FFD"/>
      </a:accent1>
      <a:accent2>
        <a:srgbClr val="00AE00"/>
      </a:accent2>
      <a:accent3>
        <a:srgbClr val="FFFFFF"/>
      </a:accent3>
      <a:accent4>
        <a:srgbClr val="000000"/>
      </a:accent4>
      <a:accent5>
        <a:srgbClr val="B7C6FE"/>
      </a:accent5>
      <a:accent6>
        <a:srgbClr val="009D00"/>
      </a:accent6>
      <a:hlink>
        <a:srgbClr val="FC0128"/>
      </a:hlink>
      <a:folHlink>
        <a:srgbClr val="CECECE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919191"/>
      </a:lt2>
      <a:accent1>
        <a:srgbClr val="618FFD"/>
      </a:accent1>
      <a:accent2>
        <a:srgbClr val="00AE00"/>
      </a:accent2>
      <a:accent3>
        <a:srgbClr val="FFFFFF"/>
      </a:accent3>
      <a:accent4>
        <a:srgbClr val="000000"/>
      </a:accent4>
      <a:accent5>
        <a:srgbClr val="B7C6FE"/>
      </a:accent5>
      <a:accent6>
        <a:srgbClr val="009D00"/>
      </a:accent6>
      <a:hlink>
        <a:srgbClr val="FC0128"/>
      </a:hlink>
      <a:folHlink>
        <a:srgbClr val="CECECE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Porky:Words:ASCI:PSE:Budgets FY97:LC.BRev.FY97</Template>
  <TotalTime>146481990</TotalTime>
  <Pages>3</Pages>
  <Words>2038</Words>
  <Application>Microsoft Office PowerPoint</Application>
  <PresentationFormat>On-screen Show (4:3)</PresentationFormat>
  <Paragraphs>315</Paragraphs>
  <Slides>49</Slides>
  <Notes>24</Notes>
  <HiddenSlides>0</HiddenSlides>
  <MMClips>0</MMClips>
  <ScaleCrop>false</ScaleCrop>
  <HeadingPairs>
    <vt:vector size="8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5</vt:i4>
      </vt:variant>
      <vt:variant>
        <vt:lpstr>Slide Titles</vt:lpstr>
      </vt:variant>
      <vt:variant>
        <vt:i4>49</vt:i4>
      </vt:variant>
    </vt:vector>
  </HeadingPairs>
  <TitlesOfParts>
    <vt:vector size="63" baseType="lpstr">
      <vt:lpstr>Arial</vt:lpstr>
      <vt:lpstr>Cambria Math</vt:lpstr>
      <vt:lpstr>Monotype Sorts</vt:lpstr>
      <vt:lpstr>MS Mincho</vt:lpstr>
      <vt:lpstr>Symbol</vt:lpstr>
      <vt:lpstr>Tahoma</vt:lpstr>
      <vt:lpstr>Times New Roman</vt:lpstr>
      <vt:lpstr>Wingdings</vt:lpstr>
      <vt:lpstr>LC.BRev.FY97</vt:lpstr>
      <vt:lpstr>Document</vt:lpstr>
      <vt:lpstr>VISIO</vt:lpstr>
      <vt:lpstr>Visio</vt:lpstr>
      <vt:lpstr>Worksheet</vt:lpstr>
      <vt:lpstr>Bitmap Image</vt:lpstr>
      <vt:lpstr>Data Preprocessing</vt:lpstr>
      <vt:lpstr>Outline</vt:lpstr>
      <vt:lpstr>What is Data?</vt:lpstr>
      <vt:lpstr>Attribute Values</vt:lpstr>
      <vt:lpstr>Types of Attributes </vt:lpstr>
      <vt:lpstr>PowerPoint Presentation</vt:lpstr>
      <vt:lpstr>Discrete and Continuous Attributes </vt:lpstr>
      <vt:lpstr>Asymmetric Attributes</vt:lpstr>
      <vt:lpstr>Key Messages for Attribute Types</vt:lpstr>
      <vt:lpstr>Important Characteristics of Data</vt:lpstr>
      <vt:lpstr>Types of data sets </vt:lpstr>
      <vt:lpstr>Record Data </vt:lpstr>
      <vt:lpstr>Data Matrix </vt:lpstr>
      <vt:lpstr>Document Data</vt:lpstr>
      <vt:lpstr>Transaction Data</vt:lpstr>
      <vt:lpstr>Graph Data </vt:lpstr>
      <vt:lpstr>Ordered Data </vt:lpstr>
      <vt:lpstr>Ordered Data </vt:lpstr>
      <vt:lpstr>Ordered Data</vt:lpstr>
      <vt:lpstr>Data Quality </vt:lpstr>
      <vt:lpstr>Data Quality …</vt:lpstr>
      <vt:lpstr>Noise</vt:lpstr>
      <vt:lpstr>Outliers</vt:lpstr>
      <vt:lpstr>Missing Values</vt:lpstr>
      <vt:lpstr>Duplicate Data</vt:lpstr>
      <vt:lpstr>Similarity and Dissimilarity Measures</vt:lpstr>
      <vt:lpstr>Similarity/Dissimilarity for Simple Attributes</vt:lpstr>
      <vt:lpstr>Euclidean Distance</vt:lpstr>
      <vt:lpstr>Euclidean Distance</vt:lpstr>
      <vt:lpstr>Common Properties of a Distance</vt:lpstr>
      <vt:lpstr>Correlation measures the linear relationship between instances</vt:lpstr>
      <vt:lpstr>Visually Evaluating Correlation</vt:lpstr>
      <vt:lpstr>Data Preprocessing</vt:lpstr>
      <vt:lpstr>Aggregation</vt:lpstr>
      <vt:lpstr>Sampling </vt:lpstr>
      <vt:lpstr>Sample Size</vt:lpstr>
      <vt:lpstr>Types of Sampling</vt:lpstr>
      <vt:lpstr>Discretization</vt:lpstr>
      <vt:lpstr>Unsupervised Discretization</vt:lpstr>
      <vt:lpstr>Unsupervised Discretization</vt:lpstr>
      <vt:lpstr>Binarization</vt:lpstr>
      <vt:lpstr>Attribute Transformation</vt:lpstr>
      <vt:lpstr>Attribute Scaling</vt:lpstr>
      <vt:lpstr>Curse of Dimensionality</vt:lpstr>
      <vt:lpstr>Dimensionality Reduction</vt:lpstr>
      <vt:lpstr>Dimensionality Reduction: PCA</vt:lpstr>
      <vt:lpstr>Feature Subset Selection</vt:lpstr>
      <vt:lpstr>Feature Creation</vt:lpstr>
      <vt:lpstr>Mapping Data to a New Space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Steven F. Ashby Center for Applied Scientific Computing  Month DD, 1997</dc:title>
  <dc:creator>Computations</dc:creator>
  <cp:lastModifiedBy>A Kabir</cp:lastModifiedBy>
  <cp:revision>619</cp:revision>
  <cp:lastPrinted>2019-08-22T18:06:35Z</cp:lastPrinted>
  <dcterms:created xsi:type="dcterms:W3CDTF">1998-03-18T13:44:31Z</dcterms:created>
  <dcterms:modified xsi:type="dcterms:W3CDTF">2023-02-09T10:51:43Z</dcterms:modified>
</cp:coreProperties>
</file>