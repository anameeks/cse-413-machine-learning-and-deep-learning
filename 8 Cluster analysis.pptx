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515" r:id="rId2"/>
    <p:sldId id="516" r:id="rId3"/>
    <p:sldId id="545" r:id="rId4"/>
    <p:sldId id="518" r:id="rId5"/>
    <p:sldId id="519" r:id="rId6"/>
    <p:sldId id="520" r:id="rId7"/>
    <p:sldId id="521" r:id="rId8"/>
    <p:sldId id="551" r:id="rId9"/>
    <p:sldId id="555" r:id="rId10"/>
    <p:sldId id="556" r:id="rId11"/>
    <p:sldId id="654" r:id="rId12"/>
    <p:sldId id="658" r:id="rId13"/>
    <p:sldId id="557" r:id="rId14"/>
    <p:sldId id="561" r:id="rId15"/>
    <p:sldId id="558" r:id="rId16"/>
    <p:sldId id="661" r:id="rId17"/>
    <p:sldId id="662" r:id="rId18"/>
    <p:sldId id="569" r:id="rId19"/>
    <p:sldId id="675" r:id="rId20"/>
    <p:sldId id="676" r:id="rId21"/>
    <p:sldId id="677" r:id="rId22"/>
    <p:sldId id="678" r:id="rId23"/>
    <p:sldId id="663" r:id="rId24"/>
    <p:sldId id="664" r:id="rId25"/>
    <p:sldId id="665" r:id="rId26"/>
    <p:sldId id="668" r:id="rId27"/>
    <p:sldId id="586" r:id="rId28"/>
    <p:sldId id="587" r:id="rId29"/>
    <p:sldId id="588" r:id="rId30"/>
    <p:sldId id="589" r:id="rId31"/>
    <p:sldId id="590" r:id="rId32"/>
    <p:sldId id="591" r:id="rId33"/>
    <p:sldId id="592" r:id="rId34"/>
    <p:sldId id="593" r:id="rId35"/>
    <p:sldId id="594" r:id="rId36"/>
    <p:sldId id="669" r:id="rId37"/>
    <p:sldId id="642" r:id="rId38"/>
    <p:sldId id="645" r:id="rId39"/>
    <p:sldId id="646" r:id="rId40"/>
    <p:sldId id="670" r:id="rId41"/>
    <p:sldId id="604" r:id="rId42"/>
    <p:sldId id="605" r:id="rId43"/>
    <p:sldId id="607" r:id="rId44"/>
    <p:sldId id="609" r:id="rId45"/>
    <p:sldId id="690" r:id="rId46"/>
    <p:sldId id="612" r:id="rId47"/>
    <p:sldId id="613" r:id="rId48"/>
    <p:sldId id="691" r:id="rId49"/>
    <p:sldId id="683" r:id="rId50"/>
    <p:sldId id="616" r:id="rId51"/>
    <p:sldId id="617" r:id="rId52"/>
    <p:sldId id="685" r:id="rId53"/>
  </p:sldIdLst>
  <p:sldSz cx="9144000" cy="6858000" type="screen4x3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69" autoAdjust="0"/>
    <p:restoredTop sz="94752" autoAdjust="0"/>
  </p:normalViewPr>
  <p:slideViewPr>
    <p:cSldViewPr>
      <p:cViewPr varScale="1">
        <p:scale>
          <a:sx n="68" d="100"/>
          <a:sy n="68" d="100"/>
        </p:scale>
        <p:origin x="1362" y="60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7.xml"/><Relationship Id="rId18" Type="http://schemas.openxmlformats.org/officeDocument/2006/relationships/slide" Target="slides/slide22.xml"/><Relationship Id="rId26" Type="http://schemas.openxmlformats.org/officeDocument/2006/relationships/slide" Target="slides/slide35.xml"/><Relationship Id="rId3" Type="http://schemas.openxmlformats.org/officeDocument/2006/relationships/slide" Target="slides/slide5.xml"/><Relationship Id="rId21" Type="http://schemas.openxmlformats.org/officeDocument/2006/relationships/slide" Target="slides/slide26.xml"/><Relationship Id="rId34" Type="http://schemas.openxmlformats.org/officeDocument/2006/relationships/slide" Target="slides/slide51.xml"/><Relationship Id="rId7" Type="http://schemas.openxmlformats.org/officeDocument/2006/relationships/slide" Target="slides/slide11.xml"/><Relationship Id="rId12" Type="http://schemas.openxmlformats.org/officeDocument/2006/relationships/slide" Target="slides/slide16.xml"/><Relationship Id="rId17" Type="http://schemas.openxmlformats.org/officeDocument/2006/relationships/slide" Target="slides/slide21.xml"/><Relationship Id="rId25" Type="http://schemas.openxmlformats.org/officeDocument/2006/relationships/slide" Target="slides/slide34.xml"/><Relationship Id="rId33" Type="http://schemas.openxmlformats.org/officeDocument/2006/relationships/slide" Target="slides/slide50.xml"/><Relationship Id="rId2" Type="http://schemas.openxmlformats.org/officeDocument/2006/relationships/slide" Target="slides/slide4.xml"/><Relationship Id="rId16" Type="http://schemas.openxmlformats.org/officeDocument/2006/relationships/slide" Target="slides/slide20.xml"/><Relationship Id="rId20" Type="http://schemas.openxmlformats.org/officeDocument/2006/relationships/slide" Target="slides/slide25.xml"/><Relationship Id="rId29" Type="http://schemas.openxmlformats.org/officeDocument/2006/relationships/slide" Target="slides/slide41.xml"/><Relationship Id="rId1" Type="http://schemas.openxmlformats.org/officeDocument/2006/relationships/slide" Target="slides/slide2.xml"/><Relationship Id="rId6" Type="http://schemas.openxmlformats.org/officeDocument/2006/relationships/slide" Target="slides/slide10.xml"/><Relationship Id="rId11" Type="http://schemas.openxmlformats.org/officeDocument/2006/relationships/slide" Target="slides/slide15.xml"/><Relationship Id="rId24" Type="http://schemas.openxmlformats.org/officeDocument/2006/relationships/slide" Target="slides/slide33.xml"/><Relationship Id="rId32" Type="http://schemas.openxmlformats.org/officeDocument/2006/relationships/slide" Target="slides/slide48.xml"/><Relationship Id="rId5" Type="http://schemas.openxmlformats.org/officeDocument/2006/relationships/slide" Target="slides/slide7.xml"/><Relationship Id="rId15" Type="http://schemas.openxmlformats.org/officeDocument/2006/relationships/slide" Target="slides/slide19.xml"/><Relationship Id="rId23" Type="http://schemas.openxmlformats.org/officeDocument/2006/relationships/slide" Target="slides/slide32.xml"/><Relationship Id="rId28" Type="http://schemas.openxmlformats.org/officeDocument/2006/relationships/slide" Target="slides/slide39.xml"/><Relationship Id="rId10" Type="http://schemas.openxmlformats.org/officeDocument/2006/relationships/slide" Target="slides/slide14.xml"/><Relationship Id="rId19" Type="http://schemas.openxmlformats.org/officeDocument/2006/relationships/slide" Target="slides/slide23.xml"/><Relationship Id="rId31" Type="http://schemas.openxmlformats.org/officeDocument/2006/relationships/slide" Target="slides/slide47.xml"/><Relationship Id="rId4" Type="http://schemas.openxmlformats.org/officeDocument/2006/relationships/slide" Target="slides/slide6.xml"/><Relationship Id="rId9" Type="http://schemas.openxmlformats.org/officeDocument/2006/relationships/slide" Target="slides/slide13.xml"/><Relationship Id="rId14" Type="http://schemas.openxmlformats.org/officeDocument/2006/relationships/slide" Target="slides/slide18.xml"/><Relationship Id="rId22" Type="http://schemas.openxmlformats.org/officeDocument/2006/relationships/slide" Target="slides/slide31.xml"/><Relationship Id="rId27" Type="http://schemas.openxmlformats.org/officeDocument/2006/relationships/slide" Target="slides/slide37.xml"/><Relationship Id="rId30" Type="http://schemas.openxmlformats.org/officeDocument/2006/relationships/slide" Target="slides/slide46.xml"/><Relationship Id="rId35" Type="http://schemas.openxmlformats.org/officeDocument/2006/relationships/slide" Target="slides/slide52.xml"/><Relationship Id="rId8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5406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474" y="4416111"/>
            <a:ext cx="5143848" cy="41808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6805" tIns="48406" rIns="96805" bIns="484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161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3800" y="706438"/>
            <a:ext cx="4625975" cy="3470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3270745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2975"/>
          </a:xfrm>
          <a:solidFill>
            <a:srgbClr val="FFFFFF"/>
          </a:solidFill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078" y="4416111"/>
            <a:ext cx="5142244" cy="418081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572" tIns="45782" rIns="91572" bIns="45782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8802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611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263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02840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337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530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109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1128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1080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028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687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5692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81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5202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7931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1486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1028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9" name="Rectangle 8"/>
          <p:cNvSpPr/>
          <p:nvPr userDrawn="1"/>
        </p:nvSpPr>
        <p:spPr>
          <a:xfrm>
            <a:off x="8454919" y="6400800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fld id="{20C2B3EF-A58E-4072-B0B8-DA68EAC103CC}" type="slidenum">
              <a:rPr lang="en-US" smtClean="0"/>
              <a:pPr>
                <a:spcBef>
                  <a:spcPct val="50000"/>
                </a:spcBef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charset="0"/>
        <a:buChar char="–"/>
        <a:defRPr sz="24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itchFamily="2" charset="2"/>
        <a:buChar char="u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5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9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5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2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49.png"/><Relationship Id="rId4" Type="http://schemas.openxmlformats.org/officeDocument/2006/relationships/oleObject" Target="../embeddings/oleObject1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" y="3733800"/>
            <a:ext cx="8763000" cy="838200"/>
          </a:xfrm>
        </p:spPr>
        <p:txBody>
          <a:bodyPr/>
          <a:lstStyle/>
          <a:p>
            <a:pPr algn="ctr"/>
            <a:br>
              <a:rPr lang="en-US" altLang="en-US" dirty="0"/>
            </a:br>
            <a:r>
              <a:rPr lang="en-US" altLang="en-US" dirty="0"/>
              <a:t>Cluster Analysis: Basic Concepts </a:t>
            </a:r>
            <a:br>
              <a:rPr lang="en-US" altLang="en-US" dirty="0"/>
            </a:br>
            <a:r>
              <a:rPr lang="en-US" altLang="en-US" dirty="0"/>
              <a:t>and Algorithms</a:t>
            </a:r>
            <a:endParaRPr lang="en-US" altLang="en-US" sz="2800" dirty="0"/>
          </a:p>
        </p:txBody>
      </p:sp>
      <p:grpSp>
        <p:nvGrpSpPr>
          <p:cNvPr id="2052" name="Group 7"/>
          <p:cNvGrpSpPr>
            <a:grpSpLocks/>
          </p:cNvGrpSpPr>
          <p:nvPr/>
        </p:nvGrpSpPr>
        <p:grpSpPr bwMode="auto">
          <a:xfrm>
            <a:off x="304800" y="1447800"/>
            <a:ext cx="8534400" cy="152400"/>
            <a:chOff x="264" y="788"/>
            <a:chExt cx="5232" cy="124"/>
          </a:xfrm>
        </p:grpSpPr>
        <p:sp>
          <p:nvSpPr>
            <p:cNvPr id="2053" name="Rectangle 8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54" name="Rectangle 9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Cluster Analysis?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82563" y="1151466"/>
            <a:ext cx="8732837" cy="1286933"/>
          </a:xfrm>
        </p:spPr>
        <p:txBody>
          <a:bodyPr/>
          <a:lstStyle/>
          <a:p>
            <a:r>
              <a:rPr lang="en-US" altLang="en-US" sz="2400" dirty="0"/>
              <a:t>Given a set of objects, place them in groups such that the objects in a group are similar (or related) to one another and different from (or unrelated to) the objects in other groups</a:t>
            </a:r>
          </a:p>
        </p:txBody>
      </p:sp>
      <p:grpSp>
        <p:nvGrpSpPr>
          <p:cNvPr id="3076" name="Group 6"/>
          <p:cNvGrpSpPr>
            <a:grpSpLocks/>
          </p:cNvGrpSpPr>
          <p:nvPr/>
        </p:nvGrpSpPr>
        <p:grpSpPr bwMode="auto">
          <a:xfrm>
            <a:off x="3276600" y="3570288"/>
            <a:ext cx="3048000" cy="2678112"/>
            <a:chOff x="2160" y="2544"/>
            <a:chExt cx="1920" cy="1687"/>
          </a:xfrm>
        </p:grpSpPr>
        <p:sp>
          <p:nvSpPr>
            <p:cNvPr id="3087" name="Line 7"/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8" name="Line 8"/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9" name="Freeform 9"/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0" name="AutoShape 10"/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1" name="AutoShape 11"/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2" name="AutoShape 12"/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3" name="AutoShape 13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4" name="AutoShape 14"/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5" name="AutoShape 15"/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6" name="AutoShape 16"/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7" name="AutoShape 17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8" name="AutoShape 18"/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9" name="AutoShape 19"/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0" name="AutoShape 20"/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1" name="AutoShape 21"/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2" name="AutoShape 22"/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3" name="AutoShape 23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4" name="AutoShape 24"/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5" name="AutoShape 25"/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6" name="AutoShape 26"/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7" name="AutoShape 27"/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8" name="AutoShape 28"/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9" name="AutoShape 29"/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0" name="AutoShape 30"/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1" name="AutoShape 31"/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2" name="AutoShape 32"/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5257800" y="2667000"/>
            <a:ext cx="3048000" cy="2514600"/>
            <a:chOff x="3312" y="1584"/>
            <a:chExt cx="1920" cy="1584"/>
          </a:xfrm>
        </p:grpSpPr>
        <p:sp>
          <p:nvSpPr>
            <p:cNvPr id="3085" name="Line 34"/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44" cy="432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6" name="AutoShape 35"/>
            <p:cNvSpPr>
              <a:spLocks noChangeArrowheads="1"/>
            </p:cNvSpPr>
            <p:nvPr/>
          </p:nvSpPr>
          <p:spPr bwMode="auto">
            <a:xfrm>
              <a:off x="3984" y="1584"/>
              <a:ext cx="1248" cy="672"/>
            </a:xfrm>
            <a:prstGeom prst="wedgeRectCallout">
              <a:avLst>
                <a:gd name="adj1" fmla="val -93509"/>
                <a:gd name="adj2" fmla="val 150894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>
                  <a:latin typeface="Tahoma" pitchFamily="34" charset="0"/>
                </a:rPr>
                <a:t>Inter-cluster distances are maximized</a:t>
              </a: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2895600" y="3657600"/>
            <a:ext cx="3276600" cy="2286000"/>
            <a:chOff x="1824" y="2208"/>
            <a:chExt cx="2064" cy="1440"/>
          </a:xfrm>
        </p:grpSpPr>
        <p:sp>
          <p:nvSpPr>
            <p:cNvPr id="3082" name="Oval 37"/>
            <p:cNvSpPr>
              <a:spLocks noChangeArrowheads="1"/>
            </p:cNvSpPr>
            <p:nvPr/>
          </p:nvSpPr>
          <p:spPr bwMode="auto">
            <a:xfrm>
              <a:off x="1824" y="2592"/>
              <a:ext cx="816" cy="72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3" name="Oval 38"/>
            <p:cNvSpPr>
              <a:spLocks noChangeArrowheads="1"/>
            </p:cNvSpPr>
            <p:nvPr/>
          </p:nvSpPr>
          <p:spPr bwMode="auto">
            <a:xfrm>
              <a:off x="2928" y="2208"/>
              <a:ext cx="720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4" name="Oval 39"/>
            <p:cNvSpPr>
              <a:spLocks noChangeArrowheads="1"/>
            </p:cNvSpPr>
            <p:nvPr/>
          </p:nvSpPr>
          <p:spPr bwMode="auto">
            <a:xfrm>
              <a:off x="3216" y="3024"/>
              <a:ext cx="672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1295400" y="2971800"/>
            <a:ext cx="2286000" cy="1676400"/>
            <a:chOff x="816" y="1776"/>
            <a:chExt cx="1440" cy="1056"/>
          </a:xfrm>
        </p:grpSpPr>
        <p:sp>
          <p:nvSpPr>
            <p:cNvPr id="3080" name="Line 41"/>
            <p:cNvSpPr>
              <a:spLocks noChangeShapeType="1"/>
            </p:cNvSpPr>
            <p:nvPr/>
          </p:nvSpPr>
          <p:spPr bwMode="auto">
            <a:xfrm flipV="1">
              <a:off x="2064" y="2736"/>
              <a:ext cx="192" cy="96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" name="AutoShape 42"/>
            <p:cNvSpPr>
              <a:spLocks noChangeArrowheads="1"/>
            </p:cNvSpPr>
            <p:nvPr/>
          </p:nvSpPr>
          <p:spPr bwMode="auto">
            <a:xfrm>
              <a:off x="816" y="1776"/>
              <a:ext cx="1248" cy="672"/>
            </a:xfrm>
            <a:prstGeom prst="wedgeRectCallout">
              <a:avLst>
                <a:gd name="adj1" fmla="val 56250"/>
                <a:gd name="adj2" fmla="val 92856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>
                  <a:latin typeface="Tahoma" pitchFamily="34" charset="0"/>
                </a:rPr>
                <a:t>Intra-cluster distances are minimized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Cluster Analysis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sz="2400" b="1"/>
              <a:t>Understanding</a:t>
            </a:r>
          </a:p>
          <a:p>
            <a:pPr lvl="1">
              <a:spcBef>
                <a:spcPct val="20000"/>
              </a:spcBef>
            </a:pPr>
            <a:r>
              <a:rPr lang="en-US" altLang="en-US" sz="2000"/>
              <a:t>Group related documents for browsing, group genes and proteins that have similar functionality, or group stocks with similar price fluctuations</a:t>
            </a:r>
            <a:endParaRPr lang="en-US" altLang="en-US" sz="2000" b="1"/>
          </a:p>
          <a:p>
            <a:pPr>
              <a:spcBef>
                <a:spcPct val="20000"/>
              </a:spcBef>
            </a:pPr>
            <a:endParaRPr lang="en-US" altLang="en-US" sz="2400" b="1"/>
          </a:p>
          <a:p>
            <a:pPr>
              <a:spcBef>
                <a:spcPct val="20000"/>
              </a:spcBef>
            </a:pPr>
            <a:r>
              <a:rPr lang="en-US" altLang="en-US" sz="2400" b="1"/>
              <a:t>Summarization</a:t>
            </a:r>
          </a:p>
          <a:p>
            <a:pPr lvl="1">
              <a:spcBef>
                <a:spcPct val="20000"/>
              </a:spcBef>
            </a:pPr>
            <a:r>
              <a:rPr lang="en-US" altLang="en-US" sz="2000"/>
              <a:t>Reduce the size of large data sets</a:t>
            </a:r>
          </a:p>
          <a:p>
            <a:endParaRPr lang="en-US" altLang="en-US" sz="2400"/>
          </a:p>
        </p:txBody>
      </p:sp>
      <p:graphicFrame>
        <p:nvGraphicFramePr>
          <p:cNvPr id="4100" name="Object 102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343400" y="1193800"/>
          <a:ext cx="48006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Document" r:id="rId3" imgW="5620181" imgH="3122232" progId="Word.Document.8">
                  <p:embed/>
                </p:oleObj>
              </mc:Choice>
              <mc:Fallback>
                <p:oleObj name="Document" r:id="rId3" imgW="5620181" imgH="3122232" progId="Word.Document.8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193800"/>
                        <a:ext cx="480060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1" name="Picture 1030" descr="precip_aust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4" t="12122" r="11072" b="18182"/>
          <a:stretch>
            <a:fillRect/>
          </a:stretch>
        </p:blipFill>
        <p:spPr>
          <a:xfrm>
            <a:off x="4953000" y="3886200"/>
            <a:ext cx="3657600" cy="2474913"/>
          </a:xfrm>
          <a:noFill/>
        </p:spPr>
      </p:pic>
      <p:sp>
        <p:nvSpPr>
          <p:cNvPr id="4102" name="Text Box 1032"/>
          <p:cNvSpPr txBox="1">
            <a:spLocks noChangeArrowheads="1"/>
          </p:cNvSpPr>
          <p:nvPr/>
        </p:nvSpPr>
        <p:spPr bwMode="auto">
          <a:xfrm>
            <a:off x="4724400" y="5654675"/>
            <a:ext cx="22098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Clustering precipitation in Australia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Notion of a Cluster can be Ambiguous</a:t>
            </a:r>
          </a:p>
        </p:txBody>
      </p:sp>
      <p:grpSp>
        <p:nvGrpSpPr>
          <p:cNvPr id="6147" name="Group 91"/>
          <p:cNvGrpSpPr>
            <a:grpSpLocks/>
          </p:cNvGrpSpPr>
          <p:nvPr/>
        </p:nvGrpSpPr>
        <p:grpSpPr bwMode="auto">
          <a:xfrm>
            <a:off x="685800" y="1905000"/>
            <a:ext cx="3344863" cy="1509713"/>
            <a:chOff x="432" y="1200"/>
            <a:chExt cx="2107" cy="951"/>
          </a:xfrm>
        </p:grpSpPr>
        <p:grpSp>
          <p:nvGrpSpPr>
            <p:cNvPr id="6217" name="Group 3"/>
            <p:cNvGrpSpPr>
              <a:grpSpLocks noChangeAspect="1"/>
            </p:cNvGrpSpPr>
            <p:nvPr/>
          </p:nvGrpSpPr>
          <p:grpSpPr bwMode="auto">
            <a:xfrm>
              <a:off x="432" y="1200"/>
              <a:ext cx="2107" cy="516"/>
              <a:chOff x="2464" y="2296"/>
              <a:chExt cx="2634" cy="646"/>
            </a:xfrm>
          </p:grpSpPr>
          <p:sp>
            <p:nvSpPr>
              <p:cNvPr id="6219" name="Oval 4"/>
              <p:cNvSpPr>
                <a:spLocks noChangeAspect="1" noChangeArrowheads="1"/>
              </p:cNvSpPr>
              <p:nvPr/>
            </p:nvSpPr>
            <p:spPr bwMode="auto">
              <a:xfrm>
                <a:off x="45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0" name="Oval 5"/>
              <p:cNvSpPr>
                <a:spLocks noChangeAspect="1" noChangeArrowheads="1"/>
              </p:cNvSpPr>
              <p:nvPr/>
            </p:nvSpPr>
            <p:spPr bwMode="auto">
              <a:xfrm>
                <a:off x="4312" y="284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1" name="Oval 6"/>
              <p:cNvSpPr>
                <a:spLocks noChangeAspect="1" noChangeArrowheads="1"/>
              </p:cNvSpPr>
              <p:nvPr/>
            </p:nvSpPr>
            <p:spPr bwMode="auto">
              <a:xfrm>
                <a:off x="4466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2" name="Oval 7"/>
              <p:cNvSpPr>
                <a:spLocks noChangeAspect="1" noChangeArrowheads="1"/>
              </p:cNvSpPr>
              <p:nvPr/>
            </p:nvSpPr>
            <p:spPr bwMode="auto">
              <a:xfrm>
                <a:off x="4410" y="274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3" name="Oval 8"/>
              <p:cNvSpPr>
                <a:spLocks noChangeAspect="1" noChangeArrowheads="1"/>
              </p:cNvSpPr>
              <p:nvPr/>
            </p:nvSpPr>
            <p:spPr bwMode="auto">
              <a:xfrm>
                <a:off x="4326" y="247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4" name="Oval 9"/>
              <p:cNvSpPr>
                <a:spLocks noChangeAspect="1" noChangeArrowheads="1"/>
              </p:cNvSpPr>
              <p:nvPr/>
            </p:nvSpPr>
            <p:spPr bwMode="auto">
              <a:xfrm>
                <a:off x="4158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5" name="Oval 10"/>
              <p:cNvSpPr>
                <a:spLocks noChangeAspect="1" noChangeArrowheads="1"/>
              </p:cNvSpPr>
              <p:nvPr/>
            </p:nvSpPr>
            <p:spPr bwMode="auto">
              <a:xfrm>
                <a:off x="424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6" name="Oval 11"/>
              <p:cNvSpPr>
                <a:spLocks noChangeAspect="1" noChangeArrowheads="1"/>
              </p:cNvSpPr>
              <p:nvPr/>
            </p:nvSpPr>
            <p:spPr bwMode="auto">
              <a:xfrm>
                <a:off x="4788" y="271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7" name="Oval 12"/>
              <p:cNvSpPr>
                <a:spLocks noChangeAspect="1" noChangeArrowheads="1"/>
              </p:cNvSpPr>
              <p:nvPr/>
            </p:nvSpPr>
            <p:spPr bwMode="auto">
              <a:xfrm>
                <a:off x="5012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8" name="Oval 13"/>
              <p:cNvSpPr>
                <a:spLocks noChangeAspect="1" noChangeArrowheads="1"/>
              </p:cNvSpPr>
              <p:nvPr/>
            </p:nvSpPr>
            <p:spPr bwMode="auto">
              <a:xfrm>
                <a:off x="478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9" name="Oval 14"/>
              <p:cNvSpPr>
                <a:spLocks noChangeAspect="1" noChangeArrowheads="1"/>
              </p:cNvSpPr>
              <p:nvPr/>
            </p:nvSpPr>
            <p:spPr bwMode="auto">
              <a:xfrm flipV="1">
                <a:off x="2870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0" name="Oval 15"/>
              <p:cNvSpPr>
                <a:spLocks noChangeAspect="1" noChangeArrowheads="1"/>
              </p:cNvSpPr>
              <p:nvPr/>
            </p:nvSpPr>
            <p:spPr bwMode="auto">
              <a:xfrm flipV="1">
                <a:off x="2618" y="231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1" name="Oval 16"/>
              <p:cNvSpPr>
                <a:spLocks noChangeAspect="1" noChangeArrowheads="1"/>
              </p:cNvSpPr>
              <p:nvPr/>
            </p:nvSpPr>
            <p:spPr bwMode="auto">
              <a:xfrm flipV="1">
                <a:off x="277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2" name="Oval 17"/>
              <p:cNvSpPr>
                <a:spLocks noChangeAspect="1" noChangeArrowheads="1"/>
              </p:cNvSpPr>
              <p:nvPr/>
            </p:nvSpPr>
            <p:spPr bwMode="auto">
              <a:xfrm flipV="1">
                <a:off x="2716" y="240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3" name="Oval 18"/>
              <p:cNvSpPr>
                <a:spLocks noChangeAspect="1" noChangeArrowheads="1"/>
              </p:cNvSpPr>
              <p:nvPr/>
            </p:nvSpPr>
            <p:spPr bwMode="auto">
              <a:xfrm flipV="1">
                <a:off x="2632" y="267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4" name="Oval 19"/>
              <p:cNvSpPr>
                <a:spLocks noChangeAspect="1" noChangeArrowheads="1"/>
              </p:cNvSpPr>
              <p:nvPr/>
            </p:nvSpPr>
            <p:spPr bwMode="auto">
              <a:xfrm flipV="1">
                <a:off x="24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5" name="Oval 20"/>
              <p:cNvSpPr>
                <a:spLocks noChangeAspect="1" noChangeArrowheads="1"/>
              </p:cNvSpPr>
              <p:nvPr/>
            </p:nvSpPr>
            <p:spPr bwMode="auto">
              <a:xfrm flipV="1">
                <a:off x="2548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6" name="Oval 21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43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7" name="Oval 22"/>
              <p:cNvSpPr>
                <a:spLocks noChangeAspect="1" noChangeArrowheads="1"/>
              </p:cNvSpPr>
              <p:nvPr/>
            </p:nvSpPr>
            <p:spPr bwMode="auto">
              <a:xfrm flipV="1">
                <a:off x="331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8" name="Oval 23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218" name="Rectangle 87"/>
            <p:cNvSpPr>
              <a:spLocks noChangeArrowheads="1"/>
            </p:cNvSpPr>
            <p:nvPr/>
          </p:nvSpPr>
          <p:spPr bwMode="auto">
            <a:xfrm>
              <a:off x="624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How many clusters?</a:t>
              </a:r>
              <a:endParaRPr lang="en-US" altLang="en-US" sz="1800" b="0"/>
            </a:p>
          </p:txBody>
        </p:sp>
      </p:grp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4960938" y="4114800"/>
            <a:ext cx="3344862" cy="1401763"/>
            <a:chOff x="3125" y="2592"/>
            <a:chExt cx="2107" cy="883"/>
          </a:xfrm>
        </p:grpSpPr>
        <p:grpSp>
          <p:nvGrpSpPr>
            <p:cNvPr id="6195" name="Group 66"/>
            <p:cNvGrpSpPr>
              <a:grpSpLocks/>
            </p:cNvGrpSpPr>
            <p:nvPr/>
          </p:nvGrpSpPr>
          <p:grpSpPr bwMode="auto">
            <a:xfrm>
              <a:off x="3125" y="2592"/>
              <a:ext cx="2107" cy="518"/>
              <a:chOff x="3125" y="2592"/>
              <a:chExt cx="2107" cy="518"/>
            </a:xfrm>
          </p:grpSpPr>
          <p:sp>
            <p:nvSpPr>
              <p:cNvPr id="6197" name="AutoShape 67"/>
              <p:cNvSpPr>
                <a:spLocks noChangeAspect="1" noChangeArrowheads="1"/>
              </p:cNvSpPr>
              <p:nvPr/>
            </p:nvSpPr>
            <p:spPr bwMode="auto">
              <a:xfrm>
                <a:off x="4805" y="294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8" name="AutoShape 68"/>
              <p:cNvSpPr>
                <a:spLocks noChangeAspect="1" noChangeArrowheads="1"/>
              </p:cNvSpPr>
              <p:nvPr/>
            </p:nvSpPr>
            <p:spPr bwMode="auto">
              <a:xfrm>
                <a:off x="4603" y="303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9" name="AutoShape 69"/>
              <p:cNvSpPr>
                <a:spLocks noChangeAspect="1" noChangeArrowheads="1"/>
              </p:cNvSpPr>
              <p:nvPr/>
            </p:nvSpPr>
            <p:spPr bwMode="auto">
              <a:xfrm>
                <a:off x="4726" y="3041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0" name="AutoShape 70"/>
              <p:cNvSpPr>
                <a:spLocks noChangeAspect="1" noChangeArrowheads="1"/>
              </p:cNvSpPr>
              <p:nvPr/>
            </p:nvSpPr>
            <p:spPr bwMode="auto">
              <a:xfrm>
                <a:off x="4682" y="2951"/>
                <a:ext cx="68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95" name="AutoShape 71"/>
              <p:cNvSpPr>
                <a:spLocks noChangeAspect="1" noChangeArrowheads="1"/>
              </p:cNvSpPr>
              <p:nvPr/>
            </p:nvSpPr>
            <p:spPr bwMode="auto">
              <a:xfrm>
                <a:off x="4614" y="2738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6" name="AutoShape 72"/>
              <p:cNvSpPr>
                <a:spLocks noChangeAspect="1" noChangeArrowheads="1"/>
              </p:cNvSpPr>
              <p:nvPr/>
            </p:nvSpPr>
            <p:spPr bwMode="auto">
              <a:xfrm>
                <a:off x="4480" y="2693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7" name="AutoShape 73"/>
              <p:cNvSpPr>
                <a:spLocks noChangeAspect="1" noChangeArrowheads="1"/>
              </p:cNvSpPr>
              <p:nvPr/>
            </p:nvSpPr>
            <p:spPr bwMode="auto">
              <a:xfrm>
                <a:off x="4547" y="2592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204" name="AutoShape 74"/>
              <p:cNvSpPr>
                <a:spLocks noChangeAspect="1" noChangeArrowheads="1"/>
              </p:cNvSpPr>
              <p:nvPr/>
            </p:nvSpPr>
            <p:spPr bwMode="auto">
              <a:xfrm>
                <a:off x="4984" y="2929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5" name="AutoShape 75"/>
              <p:cNvSpPr>
                <a:spLocks noChangeAspect="1" noChangeArrowheads="1"/>
              </p:cNvSpPr>
              <p:nvPr/>
            </p:nvSpPr>
            <p:spPr bwMode="auto">
              <a:xfrm>
                <a:off x="5163" y="285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6" name="AutoShape 76"/>
              <p:cNvSpPr>
                <a:spLocks noChangeAspect="1" noChangeArrowheads="1"/>
              </p:cNvSpPr>
              <p:nvPr/>
            </p:nvSpPr>
            <p:spPr bwMode="auto">
              <a:xfrm>
                <a:off x="4984" y="2783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7" name="AutoShape 77"/>
              <p:cNvSpPr>
                <a:spLocks noChangeAspect="1" noChangeArrowheads="1"/>
              </p:cNvSpPr>
              <p:nvPr/>
            </p:nvSpPr>
            <p:spPr bwMode="auto">
              <a:xfrm flipV="1">
                <a:off x="3450" y="269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8" name="AutoShape 78"/>
              <p:cNvSpPr>
                <a:spLocks noChangeAspect="1" noChangeArrowheads="1"/>
              </p:cNvSpPr>
              <p:nvPr/>
            </p:nvSpPr>
            <p:spPr bwMode="auto">
              <a:xfrm flipV="1">
                <a:off x="3248" y="260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9" name="AutoShape 79"/>
              <p:cNvSpPr>
                <a:spLocks noChangeAspect="1" noChangeArrowheads="1"/>
              </p:cNvSpPr>
              <p:nvPr/>
            </p:nvSpPr>
            <p:spPr bwMode="auto">
              <a:xfrm flipV="1">
                <a:off x="3371" y="2592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0" name="AutoShape 80"/>
              <p:cNvSpPr>
                <a:spLocks noChangeAspect="1" noChangeArrowheads="1"/>
              </p:cNvSpPr>
              <p:nvPr/>
            </p:nvSpPr>
            <p:spPr bwMode="auto">
              <a:xfrm flipV="1">
                <a:off x="3327" y="2682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1" name="AutoShape 81"/>
              <p:cNvSpPr>
                <a:spLocks noChangeAspect="1" noChangeArrowheads="1"/>
              </p:cNvSpPr>
              <p:nvPr/>
            </p:nvSpPr>
            <p:spPr bwMode="auto">
              <a:xfrm flipV="1">
                <a:off x="3259" y="2895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2" name="AutoShape 82"/>
              <p:cNvSpPr>
                <a:spLocks noChangeAspect="1" noChangeArrowheads="1"/>
              </p:cNvSpPr>
              <p:nvPr/>
            </p:nvSpPr>
            <p:spPr bwMode="auto">
              <a:xfrm flipV="1">
                <a:off x="3125" y="2940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3" name="AutoShape 83"/>
              <p:cNvSpPr>
                <a:spLocks noChangeAspect="1" noChangeArrowheads="1"/>
              </p:cNvSpPr>
              <p:nvPr/>
            </p:nvSpPr>
            <p:spPr bwMode="auto">
              <a:xfrm flipV="1">
                <a:off x="3192" y="3041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4" name="AutoShape 8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704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5" name="AutoShape 85"/>
              <p:cNvSpPr>
                <a:spLocks noChangeAspect="1" noChangeArrowheads="1"/>
              </p:cNvSpPr>
              <p:nvPr/>
            </p:nvSpPr>
            <p:spPr bwMode="auto">
              <a:xfrm flipV="1">
                <a:off x="3808" y="278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6" name="AutoShape 86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85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96" name="Rectangle 88"/>
            <p:cNvSpPr>
              <a:spLocks noChangeArrowheads="1"/>
            </p:cNvSpPr>
            <p:nvPr/>
          </p:nvSpPr>
          <p:spPr bwMode="auto">
            <a:xfrm>
              <a:off x="3413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Four Clusters</a:t>
              </a:r>
              <a:r>
                <a:rPr lang="en-US" altLang="en-US" sz="1800" b="0"/>
                <a:t> </a:t>
              </a:r>
            </a:p>
          </p:txBody>
        </p:sp>
      </p:grpSp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685800" y="4114800"/>
            <a:ext cx="3344863" cy="1401763"/>
            <a:chOff x="432" y="2592"/>
            <a:chExt cx="2107" cy="883"/>
          </a:xfrm>
        </p:grpSpPr>
        <p:grpSp>
          <p:nvGrpSpPr>
            <p:cNvPr id="6173" name="Group 45"/>
            <p:cNvGrpSpPr>
              <a:grpSpLocks/>
            </p:cNvGrpSpPr>
            <p:nvPr/>
          </p:nvGrpSpPr>
          <p:grpSpPr bwMode="auto">
            <a:xfrm>
              <a:off x="432" y="2592"/>
              <a:ext cx="2107" cy="516"/>
              <a:chOff x="432" y="2592"/>
              <a:chExt cx="2107" cy="516"/>
            </a:xfrm>
          </p:grpSpPr>
          <p:sp>
            <p:nvSpPr>
              <p:cNvPr id="6175" name="AutoShape 46"/>
              <p:cNvSpPr>
                <a:spLocks noChangeAspect="1" noChangeArrowheads="1"/>
              </p:cNvSpPr>
              <p:nvPr/>
            </p:nvSpPr>
            <p:spPr bwMode="auto">
              <a:xfrm>
                <a:off x="2112" y="2939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6" name="AutoShape 47"/>
              <p:cNvSpPr>
                <a:spLocks noChangeAspect="1" noChangeArrowheads="1"/>
              </p:cNvSpPr>
              <p:nvPr/>
            </p:nvSpPr>
            <p:spPr bwMode="auto">
              <a:xfrm>
                <a:off x="1910" y="302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7" name="AutoShape 48"/>
              <p:cNvSpPr>
                <a:spLocks noChangeAspect="1" noChangeArrowheads="1"/>
              </p:cNvSpPr>
              <p:nvPr/>
            </p:nvSpPr>
            <p:spPr bwMode="auto">
              <a:xfrm>
                <a:off x="2033" y="303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8" name="AutoShape 49"/>
              <p:cNvSpPr>
                <a:spLocks noChangeAspect="1" noChangeArrowheads="1"/>
              </p:cNvSpPr>
              <p:nvPr/>
            </p:nvSpPr>
            <p:spPr bwMode="auto">
              <a:xfrm>
                <a:off x="1989" y="2950"/>
                <a:ext cx="68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9" name="AutoShape 50"/>
              <p:cNvSpPr>
                <a:spLocks noChangeAspect="1" noChangeArrowheads="1"/>
              </p:cNvSpPr>
              <p:nvPr/>
            </p:nvSpPr>
            <p:spPr bwMode="auto">
              <a:xfrm>
                <a:off x="1921" y="273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0" name="AutoShape 51"/>
              <p:cNvSpPr>
                <a:spLocks noChangeAspect="1" noChangeArrowheads="1"/>
              </p:cNvSpPr>
              <p:nvPr/>
            </p:nvSpPr>
            <p:spPr bwMode="auto">
              <a:xfrm>
                <a:off x="1787" y="2693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1" name="AutoShape 52"/>
              <p:cNvSpPr>
                <a:spLocks noChangeAspect="1" noChangeArrowheads="1"/>
              </p:cNvSpPr>
              <p:nvPr/>
            </p:nvSpPr>
            <p:spPr bwMode="auto">
              <a:xfrm>
                <a:off x="1854" y="259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2" name="AutoShape 53"/>
              <p:cNvSpPr>
                <a:spLocks noChangeAspect="1" noChangeArrowheads="1"/>
              </p:cNvSpPr>
              <p:nvPr/>
            </p:nvSpPr>
            <p:spPr bwMode="auto">
              <a:xfrm>
                <a:off x="2291" y="292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3" name="AutoShape 54"/>
              <p:cNvSpPr>
                <a:spLocks noChangeAspect="1" noChangeArrowheads="1"/>
              </p:cNvSpPr>
              <p:nvPr/>
            </p:nvSpPr>
            <p:spPr bwMode="auto">
              <a:xfrm>
                <a:off x="2470" y="28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4" name="AutoShape 55"/>
              <p:cNvSpPr>
                <a:spLocks noChangeAspect="1" noChangeArrowheads="1"/>
              </p:cNvSpPr>
              <p:nvPr/>
            </p:nvSpPr>
            <p:spPr bwMode="auto">
              <a:xfrm>
                <a:off x="2291" y="278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5" name="Rectangle 56"/>
              <p:cNvSpPr>
                <a:spLocks noChangeAspect="1" noChangeArrowheads="1"/>
              </p:cNvSpPr>
              <p:nvPr/>
            </p:nvSpPr>
            <p:spPr bwMode="auto">
              <a:xfrm flipV="1">
                <a:off x="757" y="2693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6" name="Rectangle 57"/>
              <p:cNvSpPr>
                <a:spLocks noChangeAspect="1" noChangeArrowheads="1"/>
              </p:cNvSpPr>
              <p:nvPr/>
            </p:nvSpPr>
            <p:spPr bwMode="auto">
              <a:xfrm flipV="1">
                <a:off x="555" y="2603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7" name="Rectangle 58"/>
              <p:cNvSpPr>
                <a:spLocks noChangeAspect="1" noChangeArrowheads="1"/>
              </p:cNvSpPr>
              <p:nvPr/>
            </p:nvSpPr>
            <p:spPr bwMode="auto">
              <a:xfrm flipV="1">
                <a:off x="678" y="259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8" name="Rectangle 59"/>
              <p:cNvSpPr>
                <a:spLocks noChangeAspect="1" noChangeArrowheads="1"/>
              </p:cNvSpPr>
              <p:nvPr/>
            </p:nvSpPr>
            <p:spPr bwMode="auto">
              <a:xfrm flipV="1">
                <a:off x="634" y="2681"/>
                <a:ext cx="68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9" name="Rectangle 60"/>
              <p:cNvSpPr>
                <a:spLocks noChangeAspect="1" noChangeArrowheads="1"/>
              </p:cNvSpPr>
              <p:nvPr/>
            </p:nvSpPr>
            <p:spPr bwMode="auto">
              <a:xfrm flipV="1">
                <a:off x="566" y="289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0" name="Rectangle 61"/>
              <p:cNvSpPr>
                <a:spLocks noChangeAspect="1" noChangeArrowheads="1"/>
              </p:cNvSpPr>
              <p:nvPr/>
            </p:nvSpPr>
            <p:spPr bwMode="auto">
              <a:xfrm flipV="1">
                <a:off x="432" y="2939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1" name="Rectangle 62"/>
              <p:cNvSpPr>
                <a:spLocks noChangeAspect="1" noChangeArrowheads="1"/>
              </p:cNvSpPr>
              <p:nvPr/>
            </p:nvSpPr>
            <p:spPr bwMode="auto">
              <a:xfrm flipV="1">
                <a:off x="499" y="303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2" name="Rectangle 63"/>
              <p:cNvSpPr>
                <a:spLocks noChangeAspect="1" noChangeArrowheads="1"/>
              </p:cNvSpPr>
              <p:nvPr/>
            </p:nvSpPr>
            <p:spPr bwMode="auto">
              <a:xfrm flipV="1">
                <a:off x="936" y="270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3" name="Rectangle 64"/>
              <p:cNvSpPr>
                <a:spLocks noChangeAspect="1" noChangeArrowheads="1"/>
              </p:cNvSpPr>
              <p:nvPr/>
            </p:nvSpPr>
            <p:spPr bwMode="auto">
              <a:xfrm flipV="1">
                <a:off x="1115" y="278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4" name="Rectangle 65"/>
              <p:cNvSpPr>
                <a:spLocks noChangeAspect="1" noChangeArrowheads="1"/>
              </p:cNvSpPr>
              <p:nvPr/>
            </p:nvSpPr>
            <p:spPr bwMode="auto">
              <a:xfrm flipV="1">
                <a:off x="936" y="284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74" name="Rectangle 89"/>
            <p:cNvSpPr>
              <a:spLocks noChangeArrowheads="1"/>
            </p:cNvSpPr>
            <p:nvPr/>
          </p:nvSpPr>
          <p:spPr bwMode="auto">
            <a:xfrm>
              <a:off x="624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Two Clusters</a:t>
              </a:r>
              <a:r>
                <a:rPr lang="en-US" altLang="en-US" sz="1800" b="0"/>
                <a:t> </a:t>
              </a:r>
            </a:p>
          </p:txBody>
        </p:sp>
      </p:grpSp>
      <p:grpSp>
        <p:nvGrpSpPr>
          <p:cNvPr id="8" name="Group 92"/>
          <p:cNvGrpSpPr>
            <a:grpSpLocks/>
          </p:cNvGrpSpPr>
          <p:nvPr/>
        </p:nvGrpSpPr>
        <p:grpSpPr bwMode="auto">
          <a:xfrm>
            <a:off x="4960938" y="1905000"/>
            <a:ext cx="3344862" cy="1509713"/>
            <a:chOff x="3125" y="1200"/>
            <a:chExt cx="2107" cy="951"/>
          </a:xfrm>
        </p:grpSpPr>
        <p:grpSp>
          <p:nvGrpSpPr>
            <p:cNvPr id="6151" name="Group 24"/>
            <p:cNvGrpSpPr>
              <a:grpSpLocks/>
            </p:cNvGrpSpPr>
            <p:nvPr/>
          </p:nvGrpSpPr>
          <p:grpSpPr bwMode="auto">
            <a:xfrm>
              <a:off x="3125" y="1200"/>
              <a:ext cx="2107" cy="518"/>
              <a:chOff x="3125" y="1200"/>
              <a:chExt cx="2107" cy="518"/>
            </a:xfrm>
          </p:grpSpPr>
          <p:sp>
            <p:nvSpPr>
              <p:cNvPr id="6153" name="AutoShape 25"/>
              <p:cNvSpPr>
                <a:spLocks noChangeAspect="1" noChangeArrowheads="1"/>
              </p:cNvSpPr>
              <p:nvPr/>
            </p:nvSpPr>
            <p:spPr bwMode="auto">
              <a:xfrm>
                <a:off x="4805" y="154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4" name="AutoShape 26"/>
              <p:cNvSpPr>
                <a:spLocks noChangeAspect="1" noChangeArrowheads="1"/>
              </p:cNvSpPr>
              <p:nvPr/>
            </p:nvSpPr>
            <p:spPr bwMode="auto">
              <a:xfrm>
                <a:off x="4603" y="163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5" name="AutoShape 27"/>
              <p:cNvSpPr>
                <a:spLocks noChangeAspect="1" noChangeArrowheads="1"/>
              </p:cNvSpPr>
              <p:nvPr/>
            </p:nvSpPr>
            <p:spPr bwMode="auto">
              <a:xfrm>
                <a:off x="4726" y="1649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6" name="AutoShape 28"/>
              <p:cNvSpPr>
                <a:spLocks noChangeAspect="1" noChangeArrowheads="1"/>
              </p:cNvSpPr>
              <p:nvPr/>
            </p:nvSpPr>
            <p:spPr bwMode="auto">
              <a:xfrm>
                <a:off x="4682" y="1559"/>
                <a:ext cx="68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53" name="AutoShape 29"/>
              <p:cNvSpPr>
                <a:spLocks noChangeAspect="1" noChangeArrowheads="1"/>
              </p:cNvSpPr>
              <p:nvPr/>
            </p:nvSpPr>
            <p:spPr bwMode="auto">
              <a:xfrm>
                <a:off x="4614" y="1346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54" name="AutoShape 30"/>
              <p:cNvSpPr>
                <a:spLocks noChangeAspect="1" noChangeArrowheads="1"/>
              </p:cNvSpPr>
              <p:nvPr/>
            </p:nvSpPr>
            <p:spPr bwMode="auto">
              <a:xfrm>
                <a:off x="4480" y="1301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55" name="AutoShape 31"/>
              <p:cNvSpPr>
                <a:spLocks noChangeAspect="1" noChangeArrowheads="1"/>
              </p:cNvSpPr>
              <p:nvPr/>
            </p:nvSpPr>
            <p:spPr bwMode="auto">
              <a:xfrm>
                <a:off x="4547" y="1200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160" name="Rectangle 32"/>
              <p:cNvSpPr>
                <a:spLocks noChangeAspect="1" noChangeArrowheads="1"/>
              </p:cNvSpPr>
              <p:nvPr/>
            </p:nvSpPr>
            <p:spPr bwMode="auto">
              <a:xfrm>
                <a:off x="4984" y="1537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1" name="Rectangle 33"/>
              <p:cNvSpPr>
                <a:spLocks noChangeAspect="1" noChangeArrowheads="1"/>
              </p:cNvSpPr>
              <p:nvPr/>
            </p:nvSpPr>
            <p:spPr bwMode="auto">
              <a:xfrm>
                <a:off x="5163" y="1458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2" name="Rectangle 34"/>
              <p:cNvSpPr>
                <a:spLocks noChangeAspect="1" noChangeArrowheads="1"/>
              </p:cNvSpPr>
              <p:nvPr/>
            </p:nvSpPr>
            <p:spPr bwMode="auto">
              <a:xfrm>
                <a:off x="4984" y="1391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3" name="AutoShape 35"/>
              <p:cNvSpPr>
                <a:spLocks noChangeAspect="1" noChangeArrowheads="1"/>
              </p:cNvSpPr>
              <p:nvPr/>
            </p:nvSpPr>
            <p:spPr bwMode="auto">
              <a:xfrm flipV="1">
                <a:off x="3450" y="130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4" name="AutoShape 36"/>
              <p:cNvSpPr>
                <a:spLocks noChangeAspect="1" noChangeArrowheads="1"/>
              </p:cNvSpPr>
              <p:nvPr/>
            </p:nvSpPr>
            <p:spPr bwMode="auto">
              <a:xfrm flipV="1">
                <a:off x="3248" y="121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5" name="AutoShape 37"/>
              <p:cNvSpPr>
                <a:spLocks noChangeAspect="1" noChangeArrowheads="1"/>
              </p:cNvSpPr>
              <p:nvPr/>
            </p:nvSpPr>
            <p:spPr bwMode="auto">
              <a:xfrm flipV="1">
                <a:off x="3371" y="120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6" name="AutoShape 38"/>
              <p:cNvSpPr>
                <a:spLocks noChangeAspect="1" noChangeArrowheads="1"/>
              </p:cNvSpPr>
              <p:nvPr/>
            </p:nvSpPr>
            <p:spPr bwMode="auto">
              <a:xfrm flipV="1">
                <a:off x="3327" y="1290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7" name="AutoShape 39"/>
              <p:cNvSpPr>
                <a:spLocks noChangeAspect="1" noChangeArrowheads="1"/>
              </p:cNvSpPr>
              <p:nvPr/>
            </p:nvSpPr>
            <p:spPr bwMode="auto">
              <a:xfrm flipV="1">
                <a:off x="3259" y="1503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8" name="AutoShape 40"/>
              <p:cNvSpPr>
                <a:spLocks noChangeAspect="1" noChangeArrowheads="1"/>
              </p:cNvSpPr>
              <p:nvPr/>
            </p:nvSpPr>
            <p:spPr bwMode="auto">
              <a:xfrm flipV="1">
                <a:off x="3125" y="154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9" name="AutoShape 41"/>
              <p:cNvSpPr>
                <a:spLocks noChangeAspect="1" noChangeArrowheads="1"/>
              </p:cNvSpPr>
              <p:nvPr/>
            </p:nvSpPr>
            <p:spPr bwMode="auto">
              <a:xfrm flipV="1">
                <a:off x="3192" y="16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0" name="Oval 42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312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1" name="Oval 43"/>
              <p:cNvSpPr>
                <a:spLocks noChangeAspect="1" noChangeArrowheads="1"/>
              </p:cNvSpPr>
              <p:nvPr/>
            </p:nvSpPr>
            <p:spPr bwMode="auto">
              <a:xfrm flipV="1">
                <a:off x="3808" y="1391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2" name="Oval 4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458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52" name="Rectangle 90"/>
            <p:cNvSpPr>
              <a:spLocks noChangeArrowheads="1"/>
            </p:cNvSpPr>
            <p:nvPr/>
          </p:nvSpPr>
          <p:spPr bwMode="auto">
            <a:xfrm>
              <a:off x="3413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Six Clusters</a:t>
              </a:r>
              <a:r>
                <a:rPr lang="en-US" altLang="en-US" sz="1600" b="0">
                  <a:latin typeface="Times New Roman" pitchFamily="18" charset="0"/>
                </a:rPr>
                <a:t>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Types of Clusterings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A </a:t>
            </a:r>
            <a:r>
              <a:rPr lang="en-US" altLang="en-US" dirty="0">
                <a:solidFill>
                  <a:srgbClr val="FF0000"/>
                </a:solidFill>
              </a:rPr>
              <a:t>clustering</a:t>
            </a:r>
            <a:r>
              <a:rPr lang="en-US" altLang="en-US" dirty="0"/>
              <a:t> is a set of clusters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12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Important distinction between </a:t>
            </a:r>
            <a:r>
              <a:rPr lang="en-US" altLang="en-US" dirty="0">
                <a:solidFill>
                  <a:srgbClr val="FF0000"/>
                </a:solidFill>
              </a:rPr>
              <a:t>hierarchical</a:t>
            </a:r>
            <a:r>
              <a:rPr lang="en-US" altLang="en-US" dirty="0"/>
              <a:t> and </a:t>
            </a:r>
            <a:r>
              <a:rPr lang="en-US" altLang="en-US" dirty="0" err="1">
                <a:solidFill>
                  <a:srgbClr val="FF0000"/>
                </a:solidFill>
              </a:rPr>
              <a:t>partitional</a:t>
            </a:r>
            <a:r>
              <a:rPr lang="en-US" altLang="en-US" dirty="0">
                <a:solidFill>
                  <a:srgbClr val="FFCC00"/>
                </a:solidFill>
              </a:rPr>
              <a:t> </a:t>
            </a:r>
            <a:r>
              <a:rPr lang="en-US" altLang="en-US" dirty="0"/>
              <a:t>sets of clusters </a:t>
            </a:r>
            <a:endParaRPr lang="en-US" altLang="en-US" dirty="0">
              <a:solidFill>
                <a:srgbClr val="FFCC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1200" dirty="0">
              <a:solidFill>
                <a:srgbClr val="FFCC00"/>
              </a:solidFill>
            </a:endParaRPr>
          </a:p>
          <a:p>
            <a:pPr marL="850900" lvl="1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 err="1"/>
              <a:t>Partitional</a:t>
            </a:r>
            <a:r>
              <a:rPr lang="en-US" altLang="en-US" dirty="0"/>
              <a:t> Clustering</a:t>
            </a:r>
          </a:p>
          <a:p>
            <a:pPr marL="857250" lvl="2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A division of data objects into non-overlapping subsets (clusters)</a:t>
            </a:r>
          </a:p>
          <a:p>
            <a:pPr marL="857250" lvl="2" indent="-285750">
              <a:lnSpc>
                <a:spcPct val="90000"/>
              </a:lnSpc>
              <a:spcBef>
                <a:spcPct val="20000"/>
              </a:spcBef>
            </a:pPr>
            <a:endParaRPr lang="en-US" altLang="en-US" sz="600" dirty="0">
              <a:solidFill>
                <a:srgbClr val="FFCC00"/>
              </a:solidFill>
            </a:endParaRPr>
          </a:p>
          <a:p>
            <a:pPr marL="850900" lvl="1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Hierarchical clustering</a:t>
            </a:r>
          </a:p>
          <a:p>
            <a:pPr marL="857250" lvl="2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A set of nested clusters organized as a hierarchical tree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Partitional Clustering</a:t>
            </a:r>
          </a:p>
        </p:txBody>
      </p:sp>
      <p:sp>
        <p:nvSpPr>
          <p:cNvPr id="8195" name="Freeform 4"/>
          <p:cNvSpPr>
            <a:spLocks/>
          </p:cNvSpPr>
          <p:nvPr/>
        </p:nvSpPr>
        <p:spPr bwMode="auto">
          <a:xfrm>
            <a:off x="1254125" y="2517775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0"/>
                </a:moveTo>
                <a:lnTo>
                  <a:pt x="55" y="49"/>
                </a:lnTo>
                <a:lnTo>
                  <a:pt x="43" y="61"/>
                </a:lnTo>
                <a:lnTo>
                  <a:pt x="24" y="64"/>
                </a:lnTo>
                <a:lnTo>
                  <a:pt x="9" y="55"/>
                </a:lnTo>
                <a:lnTo>
                  <a:pt x="0" y="39"/>
                </a:lnTo>
                <a:lnTo>
                  <a:pt x="0" y="24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6" name="Freeform 5"/>
          <p:cNvSpPr>
            <a:spLocks/>
          </p:cNvSpPr>
          <p:nvPr/>
        </p:nvSpPr>
        <p:spPr bwMode="auto">
          <a:xfrm>
            <a:off x="1254125" y="2716213"/>
            <a:ext cx="96838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2147483647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62"/>
                </a:lnTo>
                <a:lnTo>
                  <a:pt x="24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7" name="Freeform 6"/>
          <p:cNvSpPr>
            <a:spLocks/>
          </p:cNvSpPr>
          <p:nvPr/>
        </p:nvSpPr>
        <p:spPr bwMode="auto">
          <a:xfrm>
            <a:off x="1951038" y="4711700"/>
            <a:ext cx="96837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0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6"/>
                </a:lnTo>
                <a:lnTo>
                  <a:pt x="43" y="59"/>
                </a:lnTo>
                <a:lnTo>
                  <a:pt x="24" y="62"/>
                </a:lnTo>
                <a:lnTo>
                  <a:pt x="9" y="53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0"/>
                </a:lnTo>
                <a:lnTo>
                  <a:pt x="55" y="13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8" name="Freeform 7"/>
          <p:cNvSpPr>
            <a:spLocks/>
          </p:cNvSpPr>
          <p:nvPr/>
        </p:nvSpPr>
        <p:spPr bwMode="auto">
          <a:xfrm>
            <a:off x="1550988" y="2619375"/>
            <a:ext cx="96837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8" y="46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9" name="Freeform 8"/>
          <p:cNvSpPr>
            <a:spLocks/>
          </p:cNvSpPr>
          <p:nvPr/>
        </p:nvSpPr>
        <p:spPr bwMode="auto">
          <a:xfrm>
            <a:off x="1951038" y="3914775"/>
            <a:ext cx="96837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5" y="46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Freeform 9"/>
          <p:cNvSpPr>
            <a:spLocks/>
          </p:cNvSpPr>
          <p:nvPr/>
        </p:nvSpPr>
        <p:spPr bwMode="auto">
          <a:xfrm>
            <a:off x="2120900" y="1825625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8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6" y="12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1" name="Freeform 10"/>
          <p:cNvSpPr>
            <a:spLocks/>
          </p:cNvSpPr>
          <p:nvPr/>
        </p:nvSpPr>
        <p:spPr bwMode="auto">
          <a:xfrm>
            <a:off x="2351088" y="2020888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5" y="49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2" name="Freeform 11"/>
          <p:cNvSpPr>
            <a:spLocks/>
          </p:cNvSpPr>
          <p:nvPr/>
        </p:nvSpPr>
        <p:spPr bwMode="auto">
          <a:xfrm>
            <a:off x="2447925" y="2317750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8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3" name="Freeform 12"/>
          <p:cNvSpPr>
            <a:spLocks/>
          </p:cNvSpPr>
          <p:nvPr/>
        </p:nvSpPr>
        <p:spPr bwMode="auto">
          <a:xfrm>
            <a:off x="2847975" y="2317750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7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7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4" name="Freeform 13"/>
          <p:cNvSpPr>
            <a:spLocks/>
          </p:cNvSpPr>
          <p:nvPr/>
        </p:nvSpPr>
        <p:spPr bwMode="auto">
          <a:xfrm>
            <a:off x="2647950" y="2117725"/>
            <a:ext cx="96838" cy="103188"/>
          </a:xfrm>
          <a:custGeom>
            <a:avLst/>
            <a:gdLst>
              <a:gd name="T0" fmla="*/ 2147483647 w 61"/>
              <a:gd name="T1" fmla="*/ 2147483647 h 65"/>
              <a:gd name="T2" fmla="*/ 2147483647 w 61"/>
              <a:gd name="T3" fmla="*/ 2147483647 h 65"/>
              <a:gd name="T4" fmla="*/ 2147483647 w 61"/>
              <a:gd name="T5" fmla="*/ 2147483647 h 65"/>
              <a:gd name="T6" fmla="*/ 2147483647 w 61"/>
              <a:gd name="T7" fmla="*/ 2147483647 h 65"/>
              <a:gd name="T8" fmla="*/ 2147483647 w 61"/>
              <a:gd name="T9" fmla="*/ 2147483647 h 65"/>
              <a:gd name="T10" fmla="*/ 0 w 61"/>
              <a:gd name="T11" fmla="*/ 2147483647 h 65"/>
              <a:gd name="T12" fmla="*/ 0 w 61"/>
              <a:gd name="T13" fmla="*/ 2147483647 h 65"/>
              <a:gd name="T14" fmla="*/ 2147483647 w 61"/>
              <a:gd name="T15" fmla="*/ 2147483647 h 65"/>
              <a:gd name="T16" fmla="*/ 2147483647 w 61"/>
              <a:gd name="T17" fmla="*/ 0 h 65"/>
              <a:gd name="T18" fmla="*/ 2147483647 w 61"/>
              <a:gd name="T19" fmla="*/ 2147483647 h 65"/>
              <a:gd name="T20" fmla="*/ 2147483647 w 61"/>
              <a:gd name="T21" fmla="*/ 2147483647 h 65"/>
              <a:gd name="T22" fmla="*/ 2147483647 w 61"/>
              <a:gd name="T23" fmla="*/ 2147483647 h 6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5"/>
              <a:gd name="T38" fmla="*/ 61 w 61"/>
              <a:gd name="T39" fmla="*/ 65 h 6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5">
                <a:moveTo>
                  <a:pt x="61" y="34"/>
                </a:moveTo>
                <a:lnTo>
                  <a:pt x="58" y="49"/>
                </a:lnTo>
                <a:lnTo>
                  <a:pt x="43" y="61"/>
                </a:lnTo>
                <a:lnTo>
                  <a:pt x="28" y="65"/>
                </a:lnTo>
                <a:lnTo>
                  <a:pt x="9" y="55"/>
                </a:lnTo>
                <a:lnTo>
                  <a:pt x="0" y="40"/>
                </a:lnTo>
                <a:lnTo>
                  <a:pt x="0" y="25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6"/>
                </a:lnTo>
                <a:lnTo>
                  <a:pt x="61" y="34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5" name="Freeform 14"/>
          <p:cNvSpPr>
            <a:spLocks/>
          </p:cNvSpPr>
          <p:nvPr/>
        </p:nvSpPr>
        <p:spPr bwMode="auto">
          <a:xfrm>
            <a:off x="2647950" y="1724025"/>
            <a:ext cx="96838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61"/>
                </a:lnTo>
                <a:lnTo>
                  <a:pt x="28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6" name="Freeform 15"/>
          <p:cNvSpPr>
            <a:spLocks/>
          </p:cNvSpPr>
          <p:nvPr/>
        </p:nvSpPr>
        <p:spPr bwMode="auto">
          <a:xfrm>
            <a:off x="3344863" y="4711700"/>
            <a:ext cx="103187" cy="98425"/>
          </a:xfrm>
          <a:custGeom>
            <a:avLst/>
            <a:gdLst>
              <a:gd name="T0" fmla="*/ 2147483647 w 65"/>
              <a:gd name="T1" fmla="*/ 2147483647 h 62"/>
              <a:gd name="T2" fmla="*/ 2147483647 w 65"/>
              <a:gd name="T3" fmla="*/ 2147483647 h 62"/>
              <a:gd name="T4" fmla="*/ 2147483647 w 65"/>
              <a:gd name="T5" fmla="*/ 2147483647 h 62"/>
              <a:gd name="T6" fmla="*/ 2147483647 w 65"/>
              <a:gd name="T7" fmla="*/ 2147483647 h 62"/>
              <a:gd name="T8" fmla="*/ 2147483647 w 65"/>
              <a:gd name="T9" fmla="*/ 2147483647 h 62"/>
              <a:gd name="T10" fmla="*/ 0 w 65"/>
              <a:gd name="T11" fmla="*/ 2147483647 h 62"/>
              <a:gd name="T12" fmla="*/ 0 w 65"/>
              <a:gd name="T13" fmla="*/ 2147483647 h 62"/>
              <a:gd name="T14" fmla="*/ 2147483647 w 65"/>
              <a:gd name="T15" fmla="*/ 2147483647 h 62"/>
              <a:gd name="T16" fmla="*/ 2147483647 w 65"/>
              <a:gd name="T17" fmla="*/ 0 h 62"/>
              <a:gd name="T18" fmla="*/ 2147483647 w 65"/>
              <a:gd name="T19" fmla="*/ 0 h 62"/>
              <a:gd name="T20" fmla="*/ 2147483647 w 65"/>
              <a:gd name="T21" fmla="*/ 2147483647 h 62"/>
              <a:gd name="T22" fmla="*/ 2147483647 w 65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5"/>
              <a:gd name="T37" fmla="*/ 0 h 62"/>
              <a:gd name="T38" fmla="*/ 65 w 65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5" h="62">
                <a:moveTo>
                  <a:pt x="65" y="31"/>
                </a:moveTo>
                <a:lnTo>
                  <a:pt x="58" y="46"/>
                </a:lnTo>
                <a:lnTo>
                  <a:pt x="46" y="59"/>
                </a:lnTo>
                <a:lnTo>
                  <a:pt x="28" y="62"/>
                </a:lnTo>
                <a:lnTo>
                  <a:pt x="12" y="53"/>
                </a:lnTo>
                <a:lnTo>
                  <a:pt x="0" y="40"/>
                </a:lnTo>
                <a:lnTo>
                  <a:pt x="0" y="22"/>
                </a:lnTo>
                <a:lnTo>
                  <a:pt x="12" y="7"/>
                </a:lnTo>
                <a:lnTo>
                  <a:pt x="28" y="0"/>
                </a:lnTo>
                <a:lnTo>
                  <a:pt x="46" y="0"/>
                </a:lnTo>
                <a:lnTo>
                  <a:pt x="58" y="13"/>
                </a:lnTo>
                <a:lnTo>
                  <a:pt x="65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7" name="Freeform 16"/>
          <p:cNvSpPr>
            <a:spLocks/>
          </p:cNvSpPr>
          <p:nvPr/>
        </p:nvSpPr>
        <p:spPr bwMode="auto">
          <a:xfrm>
            <a:off x="1550988" y="2220913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8" name="Freeform 17"/>
          <p:cNvSpPr>
            <a:spLocks/>
          </p:cNvSpPr>
          <p:nvPr/>
        </p:nvSpPr>
        <p:spPr bwMode="auto">
          <a:xfrm>
            <a:off x="1223963" y="4410075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9"/>
                </a:lnTo>
                <a:lnTo>
                  <a:pt x="43" y="62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10"/>
                </a:lnTo>
                <a:lnTo>
                  <a:pt x="25" y="0"/>
                </a:lnTo>
                <a:lnTo>
                  <a:pt x="43" y="3"/>
                </a:lnTo>
                <a:lnTo>
                  <a:pt x="56" y="16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9" name="Freeform 18"/>
          <p:cNvSpPr>
            <a:spLocks/>
          </p:cNvSpPr>
          <p:nvPr/>
        </p:nvSpPr>
        <p:spPr bwMode="auto">
          <a:xfrm>
            <a:off x="1254125" y="5008563"/>
            <a:ext cx="96838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2147483647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59"/>
                </a:lnTo>
                <a:lnTo>
                  <a:pt x="24" y="62"/>
                </a:lnTo>
                <a:lnTo>
                  <a:pt x="9" y="56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0" name="Freeform 19"/>
          <p:cNvSpPr>
            <a:spLocks/>
          </p:cNvSpPr>
          <p:nvPr/>
        </p:nvSpPr>
        <p:spPr bwMode="auto">
          <a:xfrm>
            <a:off x="1720850" y="1990725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9"/>
                </a:lnTo>
                <a:lnTo>
                  <a:pt x="25" y="62"/>
                </a:lnTo>
                <a:lnTo>
                  <a:pt x="10" y="56"/>
                </a:lnTo>
                <a:lnTo>
                  <a:pt x="0" y="40"/>
                </a:lnTo>
                <a:lnTo>
                  <a:pt x="0" y="22"/>
                </a:lnTo>
                <a:lnTo>
                  <a:pt x="10" y="7"/>
                </a:lnTo>
                <a:lnTo>
                  <a:pt x="25" y="0"/>
                </a:lnTo>
                <a:lnTo>
                  <a:pt x="43" y="4"/>
                </a:lnTo>
                <a:lnTo>
                  <a:pt x="56" y="13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1" name="Text Box 20"/>
          <p:cNvSpPr txBox="1">
            <a:spLocks noChangeArrowheads="1"/>
          </p:cNvSpPr>
          <p:nvPr/>
        </p:nvSpPr>
        <p:spPr bwMode="auto">
          <a:xfrm>
            <a:off x="990600" y="5562600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4724400" y="1295400"/>
            <a:ext cx="3581400" cy="4633913"/>
            <a:chOff x="2976" y="816"/>
            <a:chExt cx="2256" cy="2919"/>
          </a:xfrm>
        </p:grpSpPr>
        <p:graphicFrame>
          <p:nvGraphicFramePr>
            <p:cNvPr id="8213" name="Object 1024"/>
            <p:cNvGraphicFramePr>
              <a:graphicFrameLocks noChangeAspect="1"/>
            </p:cNvGraphicFramePr>
            <p:nvPr/>
          </p:nvGraphicFramePr>
          <p:xfrm>
            <a:off x="2976" y="816"/>
            <a:ext cx="2125" cy="28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8" name="VISIO" r:id="rId3" imgW="1547102" imgH="2097084" progId="Visio.Drawing.6">
                    <p:embed/>
                  </p:oleObj>
                </mc:Choice>
                <mc:Fallback>
                  <p:oleObj name="VISIO" r:id="rId3" imgW="1547102" imgH="2097084" progId="Visio.Drawing.6">
                    <p:embed/>
                    <p:pic>
                      <p:nvPicPr>
                        <p:cNvPr id="0" name="Object 10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816"/>
                          <a:ext cx="2125" cy="28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4" name="Text Box 21"/>
            <p:cNvSpPr txBox="1">
              <a:spLocks noChangeArrowheads="1"/>
            </p:cNvSpPr>
            <p:nvPr/>
          </p:nvSpPr>
          <p:spPr bwMode="auto">
            <a:xfrm>
              <a:off x="3456" y="3504"/>
              <a:ext cx="17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A Partitional  Clustering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Hierarchical Clustering</a:t>
            </a:r>
          </a:p>
        </p:txBody>
      </p:sp>
      <p:graphicFrame>
        <p:nvGraphicFramePr>
          <p:cNvPr id="9219" name="Object 1024"/>
          <p:cNvGraphicFramePr>
            <a:graphicFrameLocks noChangeAspect="1"/>
          </p:cNvGraphicFramePr>
          <p:nvPr/>
        </p:nvGraphicFramePr>
        <p:xfrm>
          <a:off x="990600" y="3962400"/>
          <a:ext cx="2752725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VISIO" r:id="rId3" imgW="2747671" imgH="1960706" progId="Visio.Drawing.6">
                  <p:embed/>
                </p:oleObj>
              </mc:Choice>
              <mc:Fallback>
                <p:oleObj name="VISIO" r:id="rId3" imgW="2747671" imgH="1960706" progId="Visio.Drawing.6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962400"/>
                        <a:ext cx="2752725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1025"/>
          <p:cNvGraphicFramePr>
            <a:graphicFrameLocks noChangeAspect="1"/>
          </p:cNvGraphicFramePr>
          <p:nvPr/>
        </p:nvGraphicFramePr>
        <p:xfrm>
          <a:off x="914400" y="1447800"/>
          <a:ext cx="2760663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VISIO" r:id="rId5" imgW="2756614" imgH="1795265" progId="Visio.Drawing.6">
                  <p:embed/>
                </p:oleObj>
              </mc:Choice>
              <mc:Fallback>
                <p:oleObj name="VISIO" r:id="rId5" imgW="2756614" imgH="1795265" progId="Visio.Drawing.6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447800"/>
                        <a:ext cx="2760663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026"/>
          <p:cNvGraphicFramePr>
            <a:graphicFrameLocks noChangeAspect="1"/>
          </p:cNvGraphicFramePr>
          <p:nvPr/>
        </p:nvGraphicFramePr>
        <p:xfrm>
          <a:off x="5400675" y="1066800"/>
          <a:ext cx="1773238" cy="228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VISIO" r:id="rId7" imgW="1379425" imgH="1779615" progId="Visio.Drawing.6">
                  <p:embed/>
                </p:oleObj>
              </mc:Choice>
              <mc:Fallback>
                <p:oleObj name="VISIO" r:id="rId7" imgW="1379425" imgH="1779615" progId="Visio.Drawing.6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1066800"/>
                        <a:ext cx="1773238" cy="228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1027"/>
          <p:cNvGraphicFramePr>
            <a:graphicFrameLocks noChangeAspect="1"/>
          </p:cNvGraphicFramePr>
          <p:nvPr/>
        </p:nvGraphicFramePr>
        <p:xfrm>
          <a:off x="5400675" y="3657600"/>
          <a:ext cx="1909763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VISIO" r:id="rId9" imgW="1471089" imgH="1761729" progId="Visio.Drawing.6">
                  <p:embed/>
                </p:oleObj>
              </mc:Choice>
              <mc:Fallback>
                <p:oleObj name="VISIO" r:id="rId9" imgW="1471089" imgH="1761729" progId="Visio.Drawing.6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3657600"/>
                        <a:ext cx="1909763" cy="228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381000" y="3200400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Hierarchical Clustering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228600" y="5791200"/>
            <a:ext cx="441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Non-traditional Hierarchical Clustering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4800600" y="57912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Non-traditional Dendrogram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4800600" y="3200400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Dendrogram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 dirty="0"/>
              <a:t>Characteristics of the Input Data Are Important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Type of proximity or density measure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Central to clustering 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Depends on data and application </a:t>
            </a:r>
          </a:p>
          <a:p>
            <a:pPr lvl="1">
              <a:lnSpc>
                <a:spcPct val="90000"/>
              </a:lnSpc>
            </a:pP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2200" dirty="0"/>
              <a:t>Data characteristics that affect proximity and/or density are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Dimensionality</a:t>
            </a:r>
          </a:p>
          <a:p>
            <a:pPr marL="1147763" lvl="2" indent="-233363">
              <a:lnSpc>
                <a:spcPct val="90000"/>
              </a:lnSpc>
            </a:pPr>
            <a:r>
              <a:rPr lang="en-US" altLang="en-US" sz="1400" dirty="0"/>
              <a:t>Sparseness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Attribute type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Special relationships in the data</a:t>
            </a:r>
          </a:p>
          <a:p>
            <a:pPr marL="1147763" lvl="2" indent="-233363">
              <a:lnSpc>
                <a:spcPct val="90000"/>
              </a:lnSpc>
            </a:pPr>
            <a:r>
              <a:rPr lang="en-US" altLang="en-US" sz="1400" dirty="0"/>
              <a:t>For example, autocorrelation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Distribution of the data</a:t>
            </a:r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Noise and Outliers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Often interfere with the operation of the clustering algorithm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Clusters of differing sizes, densities, and shapes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 lvl="1">
              <a:lnSpc>
                <a:spcPct val="90000"/>
              </a:lnSpc>
              <a:buFont typeface="Arial" charset="0"/>
              <a:buNone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Clustering Algorithms</a:t>
            </a:r>
          </a:p>
        </p:txBody>
      </p:sp>
      <p:sp>
        <p:nvSpPr>
          <p:cNvPr id="2048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K-means and its variants</a:t>
            </a:r>
          </a:p>
          <a:p>
            <a:pPr lvl="4"/>
            <a:endParaRPr lang="en-US" altLang="en-US"/>
          </a:p>
          <a:p>
            <a:r>
              <a:rPr lang="en-US" altLang="en-US"/>
              <a:t>Hierarchical clustering</a:t>
            </a:r>
          </a:p>
          <a:p>
            <a:pPr lvl="4"/>
            <a:endParaRPr lang="en-US" altLang="en-US"/>
          </a:p>
          <a:p>
            <a:r>
              <a:rPr lang="en-US" altLang="en-US"/>
              <a:t>Density-based clustering</a:t>
            </a:r>
          </a:p>
          <a:p>
            <a:pPr lvl="4"/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K-means Clustering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2514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 err="1"/>
              <a:t>Partitional</a:t>
            </a:r>
            <a:r>
              <a:rPr lang="en-US" altLang="en-US" sz="2200" dirty="0"/>
              <a:t> clustering approach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Number of clusters, K, must be specified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Each cluster is associated with a </a:t>
            </a:r>
            <a:r>
              <a:rPr lang="en-US" altLang="en-US" sz="2200" dirty="0">
                <a:solidFill>
                  <a:srgbClr val="FFCC00"/>
                </a:solidFill>
              </a:rPr>
              <a:t>centroid</a:t>
            </a:r>
            <a:r>
              <a:rPr lang="en-US" altLang="en-US" sz="2200" dirty="0"/>
              <a:t> (center point)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Each point is assigned to the cluster with the closest centroid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The basic algorithm is very simple</a:t>
            </a:r>
          </a:p>
        </p:txBody>
      </p:sp>
      <p:graphicFrame>
        <p:nvGraphicFramePr>
          <p:cNvPr id="21508" name="Object 1024"/>
          <p:cNvGraphicFramePr>
            <a:graphicFrameLocks noChangeAspect="1"/>
          </p:cNvGraphicFramePr>
          <p:nvPr/>
        </p:nvGraphicFramePr>
        <p:xfrm>
          <a:off x="457200" y="4133850"/>
          <a:ext cx="8153400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Bitmap Image" r:id="rId3" imgW="9784928" imgH="3177815" progId="Paint.Picture">
                  <p:embed/>
                </p:oleObj>
              </mc:Choice>
              <mc:Fallback>
                <p:oleObj name="Bitmap Image" r:id="rId3" imgW="9784928" imgH="3177815" progId="Paint.Picture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143"/>
                      <a:stretch>
                        <a:fillRect/>
                      </a:stretch>
                    </p:blipFill>
                    <p:spPr bwMode="auto">
                      <a:xfrm>
                        <a:off x="457200" y="4133850"/>
                        <a:ext cx="8153400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Example of K-means Clustering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Example of K-means Clustering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K-means Clustering – Details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8001000" cy="990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Simple iterative algorithm.</a:t>
            </a:r>
          </a:p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/>
              <a:t>Choose initial centroids; </a:t>
            </a:r>
          </a:p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/>
              <a:t>repeat {assign each point to a nearest centroid; re-compute cluster centroids} </a:t>
            </a:r>
          </a:p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/>
              <a:t>until centroids stop changing.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Initial centroids are often chosen randomly.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Clusters produced can vary from one run to another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The centroid is (typically) the mean of the points in the cluster, but other definitions are possible (see Table 7.2).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K-means will converge for common proximity measures  with appropriately defined centroid (see Table 7.2)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Most of the convergence happens in the first few iterations.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Often the stopping condition is changed to ‘Until relatively few points change clusters’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Complexity is O( n * K * I * d )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n = number of points, K = number of clusters, </a:t>
            </a:r>
            <a:br>
              <a:rPr lang="en-US" altLang="en-US" sz="1600" dirty="0"/>
            </a:br>
            <a:r>
              <a:rPr lang="en-US" altLang="en-US" sz="1600" dirty="0"/>
              <a:t>I = number of iterations, d = number of attributes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K-means Objective Function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A common objective function (used with Euclidean distance measure) is Sum of Squared Error (SSE)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For each point, the error is the distance to the nearest cluster center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To get SSE, we square these errors and sum them.</a:t>
            </a:r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 lvl="1">
              <a:lnSpc>
                <a:spcPct val="90000"/>
              </a:lnSpc>
              <a:buFont typeface="Arial" charset="0"/>
              <a:buNone/>
            </a:pPr>
            <a:endParaRPr lang="en-US" altLang="en-US" sz="2000" dirty="0"/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i="1" dirty="0"/>
              <a:t>x </a:t>
            </a:r>
            <a:r>
              <a:rPr lang="en-US" altLang="en-US" sz="2000" dirty="0"/>
              <a:t>is a data point in cluster </a:t>
            </a:r>
            <a:r>
              <a:rPr lang="en-US" altLang="en-US" sz="2000" i="1" dirty="0"/>
              <a:t>C</a:t>
            </a:r>
            <a:r>
              <a:rPr lang="en-US" altLang="en-US" sz="2000" baseline="-25000" dirty="0"/>
              <a:t>i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m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is the centroid (mean) for cluster </a:t>
            </a:r>
            <a:r>
              <a:rPr lang="en-US" altLang="en-US" sz="2000" i="1" dirty="0"/>
              <a:t>C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SSE improves in each iteration of K-means until it reaches a local or global minima. </a:t>
            </a:r>
          </a:p>
        </p:txBody>
      </p:sp>
      <p:graphicFrame>
        <p:nvGraphicFramePr>
          <p:cNvPr id="25604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216988643"/>
              </p:ext>
            </p:extLst>
          </p:nvPr>
        </p:nvGraphicFramePr>
        <p:xfrm>
          <a:off x="2298700" y="2873415"/>
          <a:ext cx="3175000" cy="936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1511300" imgH="457200" progId="Equation.3">
                  <p:embed/>
                </p:oleObj>
              </mc:Choice>
              <mc:Fallback>
                <p:oleObj name="Equation" r:id="rId3" imgW="15113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2873415"/>
                        <a:ext cx="3175000" cy="936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Two different K-means Clusterings</a:t>
            </a: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963" y="990600"/>
            <a:ext cx="3043237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662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2004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 Box 7"/>
          <p:cNvSpPr txBox="1">
            <a:spLocks noChangeArrowheads="1"/>
          </p:cNvSpPr>
          <p:nvPr/>
        </p:nvSpPr>
        <p:spPr bwMode="auto">
          <a:xfrm>
            <a:off x="5410200" y="5881688"/>
            <a:ext cx="2743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Sub-optimal Clustering</a:t>
            </a:r>
          </a:p>
        </p:txBody>
      </p:sp>
      <p:pic>
        <p:nvPicPr>
          <p:cNvPr id="26631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2004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Text Box 10"/>
          <p:cNvSpPr txBox="1">
            <a:spLocks noChangeArrowheads="1"/>
          </p:cNvSpPr>
          <p:nvPr/>
        </p:nvSpPr>
        <p:spPr bwMode="auto">
          <a:xfrm>
            <a:off x="1447800" y="5881688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Optimal Clustering</a:t>
            </a:r>
          </a:p>
        </p:txBody>
      </p:sp>
      <p:sp>
        <p:nvSpPr>
          <p:cNvPr id="26633" name="Text Box 11"/>
          <p:cNvSpPr txBox="1">
            <a:spLocks noChangeArrowheads="1"/>
          </p:cNvSpPr>
          <p:nvPr/>
        </p:nvSpPr>
        <p:spPr bwMode="auto">
          <a:xfrm>
            <a:off x="5257800" y="15240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Importance of Choosing Initial Centroids …</a:t>
            </a: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Importance of Choosing Initial Centroids …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19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219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810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810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Solutions to Initial Centroids Problem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Multiple runs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Helps, but probability is not on your side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Use some strategy to select the k initial centroids and then select among these initial centroids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Select most widely separated 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/>
              <a:t>K-means++ is a robust way of doing this selection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Use hierarchical clustering to determine initial centroids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Bisecting K-means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Not as susceptible to initialization issues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Limitations of K-means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K-means has problems when clusters are of differing </a:t>
            </a:r>
          </a:p>
          <a:p>
            <a:pPr lvl="1"/>
            <a:r>
              <a:rPr lang="en-US" altLang="en-US" dirty="0"/>
              <a:t>Sizes</a:t>
            </a:r>
          </a:p>
          <a:p>
            <a:pPr lvl="1"/>
            <a:r>
              <a:rPr lang="en-US" altLang="en-US" dirty="0"/>
              <a:t>Densities</a:t>
            </a:r>
          </a:p>
          <a:p>
            <a:pPr lvl="1"/>
            <a:r>
              <a:rPr lang="en-US" altLang="en-US" dirty="0"/>
              <a:t>Non-globular shapes</a:t>
            </a:r>
          </a:p>
          <a:p>
            <a:endParaRPr lang="en-US" altLang="en-US" dirty="0"/>
          </a:p>
          <a:p>
            <a:r>
              <a:rPr lang="en-US" altLang="en-US" dirty="0"/>
              <a:t>K-means has problems when the data contains outliers.</a:t>
            </a:r>
          </a:p>
          <a:p>
            <a:pPr lvl="1"/>
            <a:r>
              <a:rPr lang="en-US" altLang="en-US" dirty="0"/>
              <a:t>One possible solution is to remove outliers before clustering</a:t>
            </a:r>
          </a:p>
        </p:txBody>
      </p:sp>
    </p:spTree>
    <p:extLst>
      <p:ext uri="{BB962C8B-B14F-4D97-AF65-F5344CB8AC3E}">
        <p14:creationId xmlns:p14="http://schemas.microsoft.com/office/powerpoint/2010/main" val="2324461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Limitations of K-means: Differing Sizes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en-US" sz="2000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06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762000" y="49530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1690631" name="Rectangle 7"/>
          <p:cNvSpPr>
            <a:spLocks noChangeArrowheads="1"/>
          </p:cNvSpPr>
          <p:nvPr/>
        </p:nvSpPr>
        <p:spPr bwMode="auto">
          <a:xfrm>
            <a:off x="5334000" y="4902200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34839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063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Limitations of K-means: Differing Density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en-US" sz="2000"/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762000" y="49530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16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1655" name="Rectangle 7"/>
          <p:cNvSpPr>
            <a:spLocks noChangeArrowheads="1"/>
          </p:cNvSpPr>
          <p:nvPr/>
        </p:nvSpPr>
        <p:spPr bwMode="auto">
          <a:xfrm>
            <a:off x="5334000" y="4902200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416306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165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552450"/>
          </a:xfrm>
        </p:spPr>
        <p:txBody>
          <a:bodyPr/>
          <a:lstStyle/>
          <a:p>
            <a:r>
              <a:rPr lang="en-US" altLang="en-US" sz="2800"/>
              <a:t>Limitations of K-means: Non-globular Shapes</a:t>
            </a:r>
          </a:p>
        </p:txBody>
      </p:sp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1143000" y="48768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26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2679" name="Rectangle 7"/>
          <p:cNvSpPr>
            <a:spLocks noChangeArrowheads="1"/>
          </p:cNvSpPr>
          <p:nvPr/>
        </p:nvSpPr>
        <p:spPr bwMode="auto">
          <a:xfrm>
            <a:off x="5334000" y="4902200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(2 Clusters)</a:t>
            </a:r>
          </a:p>
        </p:txBody>
      </p:sp>
    </p:spTree>
    <p:extLst>
      <p:ext uri="{BB962C8B-B14F-4D97-AF65-F5344CB8AC3E}">
        <p14:creationId xmlns:p14="http://schemas.microsoft.com/office/powerpoint/2010/main" val="226977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267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Clustering 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Produces a set of nested clusters organized as a hierarchical tree</a:t>
            </a:r>
          </a:p>
          <a:p>
            <a:r>
              <a:rPr lang="en-US" altLang="en-US"/>
              <a:t>Can be visualized as a dendrogram</a:t>
            </a:r>
          </a:p>
          <a:p>
            <a:pPr lvl="1"/>
            <a:r>
              <a:rPr lang="en-US" altLang="en-US"/>
              <a:t>A tree like diagram that records the sequences of merges or splits</a:t>
            </a:r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859213"/>
            <a:ext cx="3459163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5257800" y="3629025"/>
          <a:ext cx="2319338" cy="236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VISIO" r:id="rId4" imgW="3163511" imgH="3230582" progId="Visio.Drawing.6">
                  <p:embed/>
                </p:oleObj>
              </mc:Choice>
              <mc:Fallback>
                <p:oleObj name="VISIO" r:id="rId4" imgW="3163511" imgH="3230582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629025"/>
                        <a:ext cx="2319338" cy="236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Strengths of Hierarchical Clustering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Do not have to assume any particular number of clusters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Any desired number of clusters can be obtained by ‘cutting’ the dendrogram at the proper level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They may correspond to meaningful taxonomies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Example in biological sciences (e.g., animal kingdom, phylogeny reconstruction, …)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Two main types of hierarchical clustering</a:t>
            </a:r>
          </a:p>
          <a:p>
            <a:pPr lvl="1"/>
            <a:r>
              <a:rPr lang="en-US" altLang="en-US" sz="2000" dirty="0"/>
              <a:t>Agglomerative:  </a:t>
            </a:r>
          </a:p>
          <a:p>
            <a:pPr marL="1146175" lvl="2" indent="-231775"/>
            <a:r>
              <a:rPr lang="en-US" altLang="en-US" sz="1800" dirty="0"/>
              <a:t>Start with the points as individual clusters</a:t>
            </a:r>
          </a:p>
          <a:p>
            <a:pPr marL="1146175" lvl="2" indent="-231775"/>
            <a:r>
              <a:rPr lang="en-US" altLang="en-US" sz="1800" dirty="0"/>
              <a:t>At each step, merge the closest pair of clusters until only one cluster (or k clusters) left</a:t>
            </a:r>
          </a:p>
          <a:p>
            <a:pPr lvl="4"/>
            <a:endParaRPr lang="en-US" altLang="en-US" sz="1800" dirty="0"/>
          </a:p>
          <a:p>
            <a:pPr lvl="1"/>
            <a:r>
              <a:rPr lang="en-US" altLang="en-US" sz="2000" dirty="0"/>
              <a:t>Divisive:  </a:t>
            </a:r>
          </a:p>
          <a:p>
            <a:pPr marL="1146175" lvl="2" indent="-231775"/>
            <a:r>
              <a:rPr lang="en-US" altLang="en-US" sz="1800" dirty="0"/>
              <a:t>Start with one, all-inclusive cluster </a:t>
            </a:r>
          </a:p>
          <a:p>
            <a:pPr marL="1146175" lvl="2" indent="-231775"/>
            <a:r>
              <a:rPr lang="en-US" altLang="en-US" sz="1800" dirty="0"/>
              <a:t>At each step, split a cluster until each cluster contains an individual point (or there are k clusters)</a:t>
            </a:r>
          </a:p>
          <a:p>
            <a:pPr lvl="4"/>
            <a:endParaRPr lang="en-US" altLang="en-US" sz="1800" dirty="0"/>
          </a:p>
          <a:p>
            <a:r>
              <a:rPr lang="en-US" altLang="en-US" sz="2400" dirty="0"/>
              <a:t>Traditional hierarchical algorithms use a similarity or distance matrix</a:t>
            </a:r>
          </a:p>
          <a:p>
            <a:pPr lvl="1"/>
            <a:r>
              <a:rPr lang="en-US" altLang="en-US" sz="2000" dirty="0"/>
              <a:t>Merge or split one cluster at a time</a:t>
            </a:r>
          </a:p>
          <a:p>
            <a:pPr lvl="4"/>
            <a:endParaRPr lang="en-US" alt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Agglomerative Clustering Algorithm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81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b="1" dirty="0"/>
              <a:t>Key Idea: Successively merge closest clusters</a:t>
            </a:r>
          </a:p>
          <a:p>
            <a:pPr marL="2209800" lvl="4" indent="-381000">
              <a:lnSpc>
                <a:spcPct val="90000"/>
              </a:lnSpc>
            </a:pPr>
            <a:endParaRPr lang="en-US" altLang="en-US" sz="8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Basic algorithm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1800" dirty="0"/>
              <a:t>Compute the proximity matrix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1800" dirty="0"/>
              <a:t>Let each data point be a cluster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1800" b="1" dirty="0"/>
              <a:t>Repeat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altLang="en-US" sz="1800" dirty="0"/>
              <a:t>	Merge the two closest clusters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altLang="en-US" sz="1800" dirty="0"/>
              <a:t>	Update the proximity matrix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1800" b="1" dirty="0"/>
              <a:t>Until</a:t>
            </a:r>
            <a:r>
              <a:rPr lang="en-US" altLang="en-US" sz="1800" dirty="0"/>
              <a:t> only a single cluster remains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900" dirty="0"/>
              <a:t>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Key operation is the computation of the proximity of two clusters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/>
              <a:t>Different approaches to defining the distance between clusters distinguish the different algorithms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Steps 1 and 2 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Start with clusters of individual points and a proximity matrix</a:t>
            </a:r>
          </a:p>
          <a:p>
            <a:pPr lvl="1"/>
            <a:endParaRPr lang="en-US" altLang="en-US"/>
          </a:p>
        </p:txBody>
      </p:sp>
      <p:sp>
        <p:nvSpPr>
          <p:cNvPr id="55300" name="Oval 4"/>
          <p:cNvSpPr>
            <a:spLocks noChangeArrowheads="1"/>
          </p:cNvSpPr>
          <p:nvPr/>
        </p:nvSpPr>
        <p:spPr bwMode="auto">
          <a:xfrm>
            <a:off x="685800" y="44037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1" name="Oval 5"/>
          <p:cNvSpPr>
            <a:spLocks noChangeArrowheads="1"/>
          </p:cNvSpPr>
          <p:nvPr/>
        </p:nvSpPr>
        <p:spPr bwMode="auto">
          <a:xfrm>
            <a:off x="2743200" y="5470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2" name="Oval 6"/>
          <p:cNvSpPr>
            <a:spLocks noChangeArrowheads="1"/>
          </p:cNvSpPr>
          <p:nvPr/>
        </p:nvSpPr>
        <p:spPr bwMode="auto">
          <a:xfrm>
            <a:off x="1600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1447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3124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1600200" y="2955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6" name="Oval 10"/>
          <p:cNvSpPr>
            <a:spLocks noChangeArrowheads="1"/>
          </p:cNvSpPr>
          <p:nvPr/>
        </p:nvSpPr>
        <p:spPr bwMode="auto">
          <a:xfrm>
            <a:off x="457200" y="4708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7" name="Oval 11"/>
          <p:cNvSpPr>
            <a:spLocks noChangeArrowheads="1"/>
          </p:cNvSpPr>
          <p:nvPr/>
        </p:nvSpPr>
        <p:spPr bwMode="auto">
          <a:xfrm>
            <a:off x="1828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8" name="Oval 12"/>
          <p:cNvSpPr>
            <a:spLocks noChangeArrowheads="1"/>
          </p:cNvSpPr>
          <p:nvPr/>
        </p:nvSpPr>
        <p:spPr bwMode="auto">
          <a:xfrm>
            <a:off x="3124200" y="5089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9" name="Oval 13"/>
          <p:cNvSpPr>
            <a:spLocks noChangeArrowheads="1"/>
          </p:cNvSpPr>
          <p:nvPr/>
        </p:nvSpPr>
        <p:spPr bwMode="auto">
          <a:xfrm>
            <a:off x="2133600" y="3032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10" name="Oval 14"/>
          <p:cNvSpPr>
            <a:spLocks noChangeArrowheads="1"/>
          </p:cNvSpPr>
          <p:nvPr/>
        </p:nvSpPr>
        <p:spPr bwMode="auto">
          <a:xfrm>
            <a:off x="3200400" y="4098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11" name="Oval 15"/>
          <p:cNvSpPr>
            <a:spLocks noChangeArrowheads="1"/>
          </p:cNvSpPr>
          <p:nvPr/>
        </p:nvSpPr>
        <p:spPr bwMode="auto">
          <a:xfrm>
            <a:off x="3733800" y="3184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grpSp>
        <p:nvGrpSpPr>
          <p:cNvPr id="55312" name="Group 16"/>
          <p:cNvGrpSpPr>
            <a:grpSpLocks/>
          </p:cNvGrpSpPr>
          <p:nvPr/>
        </p:nvGrpSpPr>
        <p:grpSpPr bwMode="auto">
          <a:xfrm>
            <a:off x="5257800" y="1903413"/>
            <a:ext cx="3200400" cy="2789237"/>
            <a:chOff x="3456" y="1622"/>
            <a:chExt cx="2160" cy="2058"/>
          </a:xfrm>
        </p:grpSpPr>
        <p:sp>
          <p:nvSpPr>
            <p:cNvPr id="55315" name="Line 17"/>
            <p:cNvSpPr>
              <a:spLocks noChangeShapeType="1"/>
            </p:cNvSpPr>
            <p:nvPr/>
          </p:nvSpPr>
          <p:spPr bwMode="auto">
            <a:xfrm>
              <a:off x="369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6" name="Line 18"/>
            <p:cNvSpPr>
              <a:spLocks noChangeShapeType="1"/>
            </p:cNvSpPr>
            <p:nvPr/>
          </p:nvSpPr>
          <p:spPr bwMode="auto">
            <a:xfrm>
              <a:off x="3504" y="1814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7" name="Line 19"/>
            <p:cNvSpPr>
              <a:spLocks noChangeShapeType="1"/>
            </p:cNvSpPr>
            <p:nvPr/>
          </p:nvSpPr>
          <p:spPr bwMode="auto">
            <a:xfrm>
              <a:off x="4012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8" name="Line 20"/>
            <p:cNvSpPr>
              <a:spLocks noChangeShapeType="1"/>
            </p:cNvSpPr>
            <p:nvPr/>
          </p:nvSpPr>
          <p:spPr bwMode="auto">
            <a:xfrm>
              <a:off x="4329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9" name="Line 21"/>
            <p:cNvSpPr>
              <a:spLocks noChangeShapeType="1"/>
            </p:cNvSpPr>
            <p:nvPr/>
          </p:nvSpPr>
          <p:spPr bwMode="auto">
            <a:xfrm>
              <a:off x="464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0" name="Line 22"/>
            <p:cNvSpPr>
              <a:spLocks noChangeShapeType="1"/>
            </p:cNvSpPr>
            <p:nvPr/>
          </p:nvSpPr>
          <p:spPr bwMode="auto">
            <a:xfrm>
              <a:off x="4963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1" name="Line 23"/>
            <p:cNvSpPr>
              <a:spLocks noChangeShapeType="1"/>
            </p:cNvSpPr>
            <p:nvPr/>
          </p:nvSpPr>
          <p:spPr bwMode="auto">
            <a:xfrm>
              <a:off x="5280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2" name="Line 24"/>
            <p:cNvSpPr>
              <a:spLocks noChangeShapeType="1"/>
            </p:cNvSpPr>
            <p:nvPr/>
          </p:nvSpPr>
          <p:spPr bwMode="auto">
            <a:xfrm>
              <a:off x="3504" y="2073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3" name="Line 25"/>
            <p:cNvSpPr>
              <a:spLocks noChangeShapeType="1"/>
            </p:cNvSpPr>
            <p:nvPr/>
          </p:nvSpPr>
          <p:spPr bwMode="auto">
            <a:xfrm>
              <a:off x="3504" y="23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4" name="Line 26"/>
            <p:cNvSpPr>
              <a:spLocks noChangeShapeType="1"/>
            </p:cNvSpPr>
            <p:nvPr/>
          </p:nvSpPr>
          <p:spPr bwMode="auto">
            <a:xfrm>
              <a:off x="3504" y="25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5" name="Line 27"/>
            <p:cNvSpPr>
              <a:spLocks noChangeShapeType="1"/>
            </p:cNvSpPr>
            <p:nvPr/>
          </p:nvSpPr>
          <p:spPr bwMode="auto">
            <a:xfrm>
              <a:off x="3504" y="28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6" name="Line 28"/>
            <p:cNvSpPr>
              <a:spLocks noChangeShapeType="1"/>
            </p:cNvSpPr>
            <p:nvPr/>
          </p:nvSpPr>
          <p:spPr bwMode="auto">
            <a:xfrm>
              <a:off x="3504" y="311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7" name="Text Box 29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5328" name="Text Box 30"/>
            <p:cNvSpPr txBox="1">
              <a:spLocks noChangeArrowheads="1"/>
            </p:cNvSpPr>
            <p:nvPr/>
          </p:nvSpPr>
          <p:spPr bwMode="auto">
            <a:xfrm>
              <a:off x="3456" y="2390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5329" name="Text Box 31"/>
            <p:cNvSpPr txBox="1">
              <a:spLocks noChangeArrowheads="1"/>
            </p:cNvSpPr>
            <p:nvPr/>
          </p:nvSpPr>
          <p:spPr bwMode="auto">
            <a:xfrm>
              <a:off x="3456" y="2917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5330" name="Text Box 32"/>
            <p:cNvSpPr txBox="1">
              <a:spLocks noChangeArrowheads="1"/>
            </p:cNvSpPr>
            <p:nvPr/>
          </p:nvSpPr>
          <p:spPr bwMode="auto">
            <a:xfrm>
              <a:off x="3456" y="2679"/>
              <a:ext cx="33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5331" name="Text Box 33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5332" name="Text Box 34"/>
            <p:cNvSpPr txBox="1">
              <a:spLocks noChangeArrowheads="1"/>
            </p:cNvSpPr>
            <p:nvPr/>
          </p:nvSpPr>
          <p:spPr bwMode="auto">
            <a:xfrm>
              <a:off x="3744" y="1622"/>
              <a:ext cx="33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5333" name="Text Box 35"/>
            <p:cNvSpPr txBox="1">
              <a:spLocks noChangeArrowheads="1"/>
            </p:cNvSpPr>
            <p:nvPr/>
          </p:nvSpPr>
          <p:spPr bwMode="auto">
            <a:xfrm>
              <a:off x="4032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5334" name="Text Box 36"/>
            <p:cNvSpPr txBox="1">
              <a:spLocks noChangeArrowheads="1"/>
            </p:cNvSpPr>
            <p:nvPr/>
          </p:nvSpPr>
          <p:spPr bwMode="auto">
            <a:xfrm>
              <a:off x="4368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5335" name="Text Box 37"/>
            <p:cNvSpPr txBox="1">
              <a:spLocks noChangeArrowheads="1"/>
            </p:cNvSpPr>
            <p:nvPr/>
          </p:nvSpPr>
          <p:spPr bwMode="auto">
            <a:xfrm>
              <a:off x="4704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5336" name="Text Box 38"/>
            <p:cNvSpPr txBox="1">
              <a:spLocks noChangeArrowheads="1"/>
            </p:cNvSpPr>
            <p:nvPr/>
          </p:nvSpPr>
          <p:spPr bwMode="auto">
            <a:xfrm>
              <a:off x="4944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5337" name="Text Box 39"/>
            <p:cNvSpPr txBox="1">
              <a:spLocks noChangeArrowheads="1"/>
            </p:cNvSpPr>
            <p:nvPr/>
          </p:nvSpPr>
          <p:spPr bwMode="auto">
            <a:xfrm>
              <a:off x="5280" y="1622"/>
              <a:ext cx="336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55338" name="Text Box 40"/>
            <p:cNvSpPr txBox="1">
              <a:spLocks noChangeArrowheads="1"/>
            </p:cNvSpPr>
            <p:nvPr/>
          </p:nvSpPr>
          <p:spPr bwMode="auto">
            <a:xfrm>
              <a:off x="3504" y="3072"/>
              <a:ext cx="192" cy="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</a:p>
          </p:txBody>
        </p:sp>
      </p:grpSp>
      <p:sp>
        <p:nvSpPr>
          <p:cNvPr id="55313" name="Text Box 41"/>
          <p:cNvSpPr txBox="1">
            <a:spLocks noChangeArrowheads="1"/>
          </p:cNvSpPr>
          <p:nvPr/>
        </p:nvSpPr>
        <p:spPr bwMode="auto">
          <a:xfrm>
            <a:off x="57912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5314" name="Object 4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572000" y="5610225"/>
          <a:ext cx="40560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Visio" r:id="rId3" imgW="7949438" imgH="1399827" progId="Visio.Drawing.6">
                  <p:embed/>
                </p:oleObj>
              </mc:Choice>
              <mc:Fallback>
                <p:oleObj name="Visio" r:id="rId3" imgW="7949438" imgH="1399827" progId="Visio.Drawing.6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610225"/>
                        <a:ext cx="405606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Intermediate Situation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 sz="2200"/>
              <a:t>After some merging steps, we have some clusters </a:t>
            </a:r>
          </a:p>
          <a:p>
            <a:pPr marL="742950" lvl="1" indent="-285750"/>
            <a:endParaRPr lang="en-US" altLang="en-US" sz="2000"/>
          </a:p>
        </p:txBody>
      </p:sp>
      <p:sp>
        <p:nvSpPr>
          <p:cNvPr id="56324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5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6" name="Freeform 6"/>
          <p:cNvSpPr>
            <a:spLocks/>
          </p:cNvSpPr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7" name="Freeform 7"/>
          <p:cNvSpPr>
            <a:spLocks/>
          </p:cNvSpPr>
          <p:nvPr/>
        </p:nvSpPr>
        <p:spPr bwMode="auto">
          <a:xfrm>
            <a:off x="1295400" y="4953000"/>
            <a:ext cx="7747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8" name="Freeform 8"/>
          <p:cNvSpPr>
            <a:spLocks/>
          </p:cNvSpPr>
          <p:nvPr/>
        </p:nvSpPr>
        <p:spPr bwMode="auto">
          <a:xfrm rot="10800000">
            <a:off x="2590800" y="48768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6331" name="Text Box 11"/>
          <p:cNvSpPr txBox="1">
            <a:spLocks noChangeArrowheads="1"/>
          </p:cNvSpPr>
          <p:nvPr/>
        </p:nvSpPr>
        <p:spPr bwMode="auto">
          <a:xfrm>
            <a:off x="1524000" y="5181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</a:t>
            </a:r>
          </a:p>
        </p:txBody>
      </p:sp>
      <p:sp>
        <p:nvSpPr>
          <p:cNvPr id="56332" name="Text Box 12"/>
          <p:cNvSpPr txBox="1">
            <a:spLocks noChangeArrowheads="1"/>
          </p:cNvSpPr>
          <p:nvPr/>
        </p:nvSpPr>
        <p:spPr bwMode="auto">
          <a:xfrm>
            <a:off x="2743200" y="51054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C5</a:t>
            </a:r>
          </a:p>
        </p:txBody>
      </p:sp>
      <p:sp>
        <p:nvSpPr>
          <p:cNvPr id="56333" name="Text Box 13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grpSp>
        <p:nvGrpSpPr>
          <p:cNvPr id="56334" name="Group 14"/>
          <p:cNvGrpSpPr>
            <a:grpSpLocks/>
          </p:cNvGrpSpPr>
          <p:nvPr/>
        </p:nvGrpSpPr>
        <p:grpSpPr bwMode="auto">
          <a:xfrm>
            <a:off x="5486400" y="1660525"/>
            <a:ext cx="2895600" cy="2212975"/>
            <a:chOff x="3456" y="1440"/>
            <a:chExt cx="1872" cy="1503"/>
          </a:xfrm>
        </p:grpSpPr>
        <p:sp>
          <p:nvSpPr>
            <p:cNvPr id="56337" name="Text Box 1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6338" name="Text Box 16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6339" name="Line 17"/>
            <p:cNvSpPr>
              <a:spLocks noChangeShapeType="1"/>
            </p:cNvSpPr>
            <p:nvPr/>
          </p:nvSpPr>
          <p:spPr bwMode="auto">
            <a:xfrm>
              <a:off x="369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0" name="Line 18"/>
            <p:cNvSpPr>
              <a:spLocks noChangeShapeType="1"/>
            </p:cNvSpPr>
            <p:nvPr/>
          </p:nvSpPr>
          <p:spPr bwMode="auto">
            <a:xfrm>
              <a:off x="3504" y="163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1" name="Line 19"/>
            <p:cNvSpPr>
              <a:spLocks noChangeShapeType="1"/>
            </p:cNvSpPr>
            <p:nvPr/>
          </p:nvSpPr>
          <p:spPr bwMode="auto">
            <a:xfrm>
              <a:off x="528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2" name="Line 20"/>
            <p:cNvSpPr>
              <a:spLocks noChangeShapeType="1"/>
            </p:cNvSpPr>
            <p:nvPr/>
          </p:nvSpPr>
          <p:spPr bwMode="auto">
            <a:xfrm>
              <a:off x="3504" y="2928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3" name="Text Box 21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6344" name="Text Box 22"/>
            <p:cNvSpPr txBox="1">
              <a:spLocks noChangeArrowheads="1"/>
            </p:cNvSpPr>
            <p:nvPr/>
          </p:nvSpPr>
          <p:spPr bwMode="auto">
            <a:xfrm>
              <a:off x="3456" y="2207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6345" name="Text Box 23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6346" name="Text Box 24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6347" name="Text Box 25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6348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6349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6350" name="Text Box 28"/>
            <p:cNvSpPr txBox="1">
              <a:spLocks noChangeArrowheads="1"/>
            </p:cNvSpPr>
            <p:nvPr/>
          </p:nvSpPr>
          <p:spPr bwMode="auto">
            <a:xfrm>
              <a:off x="4992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6351" name="Line 29"/>
            <p:cNvSpPr>
              <a:spLocks noChangeShapeType="1"/>
            </p:cNvSpPr>
            <p:nvPr/>
          </p:nvSpPr>
          <p:spPr bwMode="auto">
            <a:xfrm>
              <a:off x="3504" y="187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2" name="Line 30"/>
            <p:cNvSpPr>
              <a:spLocks noChangeShapeType="1"/>
            </p:cNvSpPr>
            <p:nvPr/>
          </p:nvSpPr>
          <p:spPr bwMode="auto">
            <a:xfrm>
              <a:off x="3504" y="240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3" name="Line 31"/>
            <p:cNvSpPr>
              <a:spLocks noChangeShapeType="1"/>
            </p:cNvSpPr>
            <p:nvPr/>
          </p:nvSpPr>
          <p:spPr bwMode="auto">
            <a:xfrm>
              <a:off x="3504" y="216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4" name="Line 32"/>
            <p:cNvSpPr>
              <a:spLocks noChangeShapeType="1"/>
            </p:cNvSpPr>
            <p:nvPr/>
          </p:nvSpPr>
          <p:spPr bwMode="auto">
            <a:xfrm>
              <a:off x="3504" y="264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5" name="Line 33"/>
            <p:cNvSpPr>
              <a:spLocks noChangeShapeType="1"/>
            </p:cNvSpPr>
            <p:nvPr/>
          </p:nvSpPr>
          <p:spPr bwMode="auto">
            <a:xfrm>
              <a:off x="403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6" name="Line 34"/>
            <p:cNvSpPr>
              <a:spLocks noChangeShapeType="1"/>
            </p:cNvSpPr>
            <p:nvPr/>
          </p:nvSpPr>
          <p:spPr bwMode="auto">
            <a:xfrm>
              <a:off x="432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7" name="Line 35"/>
            <p:cNvSpPr>
              <a:spLocks noChangeShapeType="1"/>
            </p:cNvSpPr>
            <p:nvPr/>
          </p:nvSpPr>
          <p:spPr bwMode="auto">
            <a:xfrm>
              <a:off x="465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8" name="Line 36"/>
            <p:cNvSpPr>
              <a:spLocks noChangeShapeType="1"/>
            </p:cNvSpPr>
            <p:nvPr/>
          </p:nvSpPr>
          <p:spPr bwMode="auto">
            <a:xfrm>
              <a:off x="499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335" name="Text Box 37"/>
          <p:cNvSpPr txBox="1">
            <a:spLocks noChangeArrowheads="1"/>
          </p:cNvSpPr>
          <p:nvPr/>
        </p:nvSpPr>
        <p:spPr bwMode="auto">
          <a:xfrm>
            <a:off x="5791200" y="3870325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6336" name="Object 3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713288"/>
          <a:ext cx="408305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Visio" r:id="rId3" imgW="7591349" imgH="2996548" progId="Visio.Drawing.6">
                  <p:embed/>
                </p:oleObj>
              </mc:Choice>
              <mc:Fallback>
                <p:oleObj name="Visio" r:id="rId3" imgW="7591349" imgH="2996548" progId="Visio.Drawing.6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713288"/>
                        <a:ext cx="408305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Step 4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 sz="2200"/>
              <a:t>We want to merge the two closest clusters (C2 and C5)  and update the proximity matrix. </a:t>
            </a:r>
          </a:p>
          <a:p>
            <a:pPr marL="742950" lvl="1" indent="-285750"/>
            <a:endParaRPr lang="en-US" altLang="en-US" sz="2000"/>
          </a:p>
        </p:txBody>
      </p:sp>
      <p:sp>
        <p:nvSpPr>
          <p:cNvPr id="57348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49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0" name="Freeform 6"/>
          <p:cNvSpPr>
            <a:spLocks/>
          </p:cNvSpPr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1" name="Freeform 7"/>
          <p:cNvSpPr>
            <a:spLocks/>
          </p:cNvSpPr>
          <p:nvPr/>
        </p:nvSpPr>
        <p:spPr bwMode="auto">
          <a:xfrm>
            <a:off x="1295400" y="4953000"/>
            <a:ext cx="7747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2" name="Freeform 8"/>
          <p:cNvSpPr>
            <a:spLocks/>
          </p:cNvSpPr>
          <p:nvPr/>
        </p:nvSpPr>
        <p:spPr bwMode="auto">
          <a:xfrm rot="10800000">
            <a:off x="2590800" y="48768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1524000" y="5181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</a:t>
            </a:r>
          </a:p>
        </p:txBody>
      </p:sp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2743200" y="51054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C5</a:t>
            </a:r>
          </a:p>
        </p:txBody>
      </p:sp>
      <p:sp>
        <p:nvSpPr>
          <p:cNvPr id="57357" name="Text Box 13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grpSp>
        <p:nvGrpSpPr>
          <p:cNvPr id="57358" name="Group 14"/>
          <p:cNvGrpSpPr>
            <a:grpSpLocks/>
          </p:cNvGrpSpPr>
          <p:nvPr/>
        </p:nvGrpSpPr>
        <p:grpSpPr bwMode="auto">
          <a:xfrm>
            <a:off x="5486400" y="1676400"/>
            <a:ext cx="2971800" cy="2193925"/>
            <a:chOff x="3456" y="1094"/>
            <a:chExt cx="1920" cy="1503"/>
          </a:xfrm>
        </p:grpSpPr>
        <p:sp>
          <p:nvSpPr>
            <p:cNvPr id="57362" name="Text Box 15"/>
            <p:cNvSpPr txBox="1">
              <a:spLocks noChangeArrowheads="1"/>
            </p:cNvSpPr>
            <p:nvPr/>
          </p:nvSpPr>
          <p:spPr bwMode="auto">
            <a:xfrm>
              <a:off x="4032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7363" name="Text Box 16"/>
            <p:cNvSpPr txBox="1">
              <a:spLocks noChangeArrowheads="1"/>
            </p:cNvSpPr>
            <p:nvPr/>
          </p:nvSpPr>
          <p:spPr bwMode="auto">
            <a:xfrm>
              <a:off x="3744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7364" name="Line 17"/>
            <p:cNvSpPr>
              <a:spLocks noChangeShapeType="1"/>
            </p:cNvSpPr>
            <p:nvPr/>
          </p:nvSpPr>
          <p:spPr bwMode="auto">
            <a:xfrm>
              <a:off x="369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5" name="Line 18"/>
            <p:cNvSpPr>
              <a:spLocks noChangeShapeType="1"/>
            </p:cNvSpPr>
            <p:nvPr/>
          </p:nvSpPr>
          <p:spPr bwMode="auto">
            <a:xfrm>
              <a:off x="3504" y="1286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6" name="Line 19"/>
            <p:cNvSpPr>
              <a:spLocks noChangeShapeType="1"/>
            </p:cNvSpPr>
            <p:nvPr/>
          </p:nvSpPr>
          <p:spPr bwMode="auto">
            <a:xfrm>
              <a:off x="528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7" name="Line 20"/>
            <p:cNvSpPr>
              <a:spLocks noChangeShapeType="1"/>
            </p:cNvSpPr>
            <p:nvPr/>
          </p:nvSpPr>
          <p:spPr bwMode="auto">
            <a:xfrm>
              <a:off x="3504" y="258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8" name="Text Box 21"/>
            <p:cNvSpPr txBox="1">
              <a:spLocks noChangeArrowheads="1"/>
            </p:cNvSpPr>
            <p:nvPr/>
          </p:nvSpPr>
          <p:spPr bwMode="auto">
            <a:xfrm>
              <a:off x="3456" y="133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7369" name="Text Box 22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7370" name="Text Box 23"/>
            <p:cNvSpPr txBox="1">
              <a:spLocks noChangeArrowheads="1"/>
            </p:cNvSpPr>
            <p:nvPr/>
          </p:nvSpPr>
          <p:spPr bwMode="auto">
            <a:xfrm>
              <a:off x="3456" y="2389"/>
              <a:ext cx="33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7371" name="Text Box 24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7372" name="Text Box 25"/>
            <p:cNvSpPr txBox="1">
              <a:spLocks noChangeArrowheads="1"/>
            </p:cNvSpPr>
            <p:nvPr/>
          </p:nvSpPr>
          <p:spPr bwMode="auto">
            <a:xfrm>
              <a:off x="3456" y="1622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7373" name="Text Box 26"/>
            <p:cNvSpPr txBox="1">
              <a:spLocks noChangeArrowheads="1"/>
            </p:cNvSpPr>
            <p:nvPr/>
          </p:nvSpPr>
          <p:spPr bwMode="auto">
            <a:xfrm>
              <a:off x="4368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7374" name="Text Box 27"/>
            <p:cNvSpPr txBox="1">
              <a:spLocks noChangeArrowheads="1"/>
            </p:cNvSpPr>
            <p:nvPr/>
          </p:nvSpPr>
          <p:spPr bwMode="auto">
            <a:xfrm>
              <a:off x="4704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7375" name="Text Box 28"/>
            <p:cNvSpPr txBox="1">
              <a:spLocks noChangeArrowheads="1"/>
            </p:cNvSpPr>
            <p:nvPr/>
          </p:nvSpPr>
          <p:spPr bwMode="auto">
            <a:xfrm>
              <a:off x="4992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7376" name="Line 29"/>
            <p:cNvSpPr>
              <a:spLocks noChangeShapeType="1"/>
            </p:cNvSpPr>
            <p:nvPr/>
          </p:nvSpPr>
          <p:spPr bwMode="auto">
            <a:xfrm>
              <a:off x="3504" y="1526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7" name="Line 30"/>
            <p:cNvSpPr>
              <a:spLocks noChangeShapeType="1"/>
            </p:cNvSpPr>
            <p:nvPr/>
          </p:nvSpPr>
          <p:spPr bwMode="auto">
            <a:xfrm>
              <a:off x="3504" y="205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8" name="Line 31"/>
            <p:cNvSpPr>
              <a:spLocks noChangeShapeType="1"/>
            </p:cNvSpPr>
            <p:nvPr/>
          </p:nvSpPr>
          <p:spPr bwMode="auto">
            <a:xfrm>
              <a:off x="3504" y="181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9" name="Line 32"/>
            <p:cNvSpPr>
              <a:spLocks noChangeShapeType="1"/>
            </p:cNvSpPr>
            <p:nvPr/>
          </p:nvSpPr>
          <p:spPr bwMode="auto">
            <a:xfrm>
              <a:off x="3504" y="229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0" name="Line 33"/>
            <p:cNvSpPr>
              <a:spLocks noChangeShapeType="1"/>
            </p:cNvSpPr>
            <p:nvPr/>
          </p:nvSpPr>
          <p:spPr bwMode="auto">
            <a:xfrm>
              <a:off x="403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1" name="Line 34"/>
            <p:cNvSpPr>
              <a:spLocks noChangeShapeType="1"/>
            </p:cNvSpPr>
            <p:nvPr/>
          </p:nvSpPr>
          <p:spPr bwMode="auto">
            <a:xfrm>
              <a:off x="432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2" name="Line 35"/>
            <p:cNvSpPr>
              <a:spLocks noChangeShapeType="1"/>
            </p:cNvSpPr>
            <p:nvPr/>
          </p:nvSpPr>
          <p:spPr bwMode="auto">
            <a:xfrm>
              <a:off x="465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3" name="Line 36"/>
            <p:cNvSpPr>
              <a:spLocks noChangeShapeType="1"/>
            </p:cNvSpPr>
            <p:nvPr/>
          </p:nvSpPr>
          <p:spPr bwMode="auto">
            <a:xfrm>
              <a:off x="499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4" name="Rectangle 37" descr="Wide downward diagonal"/>
            <p:cNvSpPr>
              <a:spLocks noChangeArrowheads="1"/>
            </p:cNvSpPr>
            <p:nvPr/>
          </p:nvSpPr>
          <p:spPr bwMode="auto">
            <a:xfrm>
              <a:off x="3696" y="1526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5" name="Rectangle 38" descr="Wide downward diagonal"/>
            <p:cNvSpPr>
              <a:spLocks noChangeArrowheads="1"/>
            </p:cNvSpPr>
            <p:nvPr/>
          </p:nvSpPr>
          <p:spPr bwMode="auto">
            <a:xfrm>
              <a:off x="3696" y="2294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6" name="Rectangle 39" descr="Wide downward diagonal"/>
            <p:cNvSpPr>
              <a:spLocks noChangeArrowheads="1"/>
            </p:cNvSpPr>
            <p:nvPr/>
          </p:nvSpPr>
          <p:spPr bwMode="auto">
            <a:xfrm rot="5400000">
              <a:off x="3521" y="1783"/>
              <a:ext cx="1298" cy="299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7" name="Rectangle 40" descr="Wide downward diagonal"/>
            <p:cNvSpPr>
              <a:spLocks noChangeArrowheads="1"/>
            </p:cNvSpPr>
            <p:nvPr/>
          </p:nvSpPr>
          <p:spPr bwMode="auto">
            <a:xfrm rot="5400000">
              <a:off x="4477" y="1778"/>
              <a:ext cx="1297" cy="311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57359" name="Oval 41"/>
          <p:cNvSpPr>
            <a:spLocks noChangeArrowheads="1"/>
          </p:cNvSpPr>
          <p:nvPr/>
        </p:nvSpPr>
        <p:spPr bwMode="auto">
          <a:xfrm>
            <a:off x="990600" y="4648200"/>
            <a:ext cx="2514600" cy="1295400"/>
          </a:xfrm>
          <a:prstGeom prst="ellips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7360" name="Text Box 42"/>
          <p:cNvSpPr txBox="1">
            <a:spLocks noChangeArrowheads="1"/>
          </p:cNvSpPr>
          <p:nvPr/>
        </p:nvSpPr>
        <p:spPr bwMode="auto">
          <a:xfrm>
            <a:off x="5791200" y="3870325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7361" name="Object 4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495800"/>
          <a:ext cx="4083050" cy="18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Visio" r:id="rId3" imgW="7591349" imgH="3431733" progId="Visio.Drawing.6">
                  <p:embed/>
                </p:oleObj>
              </mc:Choice>
              <mc:Fallback>
                <p:oleObj name="Visio" r:id="rId3" imgW="7591349" imgH="3431733" progId="Visio.Drawing.6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495800"/>
                        <a:ext cx="4083050" cy="184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Step 5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 sz="2200"/>
              <a:t>The question is “How do we update the proximity matrix?” </a:t>
            </a:r>
          </a:p>
          <a:p>
            <a:pPr marL="742950" lvl="1" indent="-285750"/>
            <a:endParaRPr lang="en-US" altLang="en-US" sz="2000"/>
          </a:p>
        </p:txBody>
      </p:sp>
      <p:sp>
        <p:nvSpPr>
          <p:cNvPr id="58372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3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4" name="Freeform 6"/>
          <p:cNvSpPr>
            <a:spLocks/>
          </p:cNvSpPr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5" name="Freeform 7"/>
          <p:cNvSpPr>
            <a:spLocks/>
          </p:cNvSpPr>
          <p:nvPr/>
        </p:nvSpPr>
        <p:spPr bwMode="auto">
          <a:xfrm>
            <a:off x="1295400" y="4953000"/>
            <a:ext cx="23622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8377" name="Text Box 9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8378" name="Text Box 10"/>
          <p:cNvSpPr txBox="1">
            <a:spLocks noChangeArrowheads="1"/>
          </p:cNvSpPr>
          <p:nvPr/>
        </p:nvSpPr>
        <p:spPr bwMode="auto">
          <a:xfrm>
            <a:off x="1905000" y="51816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</a:t>
            </a:r>
            <a:r>
              <a:rPr lang="en-US" altLang="en-US"/>
              <a:t> C5</a:t>
            </a: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sp>
        <p:nvSpPr>
          <p:cNvPr id="58380" name="Text Box 12"/>
          <p:cNvSpPr txBox="1">
            <a:spLocks noChangeArrowheads="1"/>
          </p:cNvSpPr>
          <p:nvPr/>
        </p:nvSpPr>
        <p:spPr bwMode="auto">
          <a:xfrm>
            <a:off x="6172200" y="274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        ?        ?        ?    	   </a:t>
            </a:r>
          </a:p>
        </p:txBody>
      </p:sp>
      <p:sp>
        <p:nvSpPr>
          <p:cNvPr id="58381" name="Text Box 13"/>
          <p:cNvSpPr txBox="1">
            <a:spLocks noChangeArrowheads="1"/>
          </p:cNvSpPr>
          <p:nvPr/>
        </p:nvSpPr>
        <p:spPr bwMode="auto">
          <a:xfrm>
            <a:off x="6651625" y="2362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58382" name="Text Box 14"/>
          <p:cNvSpPr txBox="1">
            <a:spLocks noChangeArrowheads="1"/>
          </p:cNvSpPr>
          <p:nvPr/>
        </p:nvSpPr>
        <p:spPr bwMode="auto">
          <a:xfrm>
            <a:off x="6651625" y="3200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58383" name="Text Box 15"/>
          <p:cNvSpPr txBox="1">
            <a:spLocks noChangeArrowheads="1"/>
          </p:cNvSpPr>
          <p:nvPr/>
        </p:nvSpPr>
        <p:spPr bwMode="auto">
          <a:xfrm>
            <a:off x="6651625" y="3581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58384" name="Text Box 16"/>
          <p:cNvSpPr txBox="1">
            <a:spLocks noChangeArrowheads="1"/>
          </p:cNvSpPr>
          <p:nvPr/>
        </p:nvSpPr>
        <p:spPr bwMode="auto">
          <a:xfrm>
            <a:off x="6629400" y="1555750"/>
            <a:ext cx="5334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 </a:t>
            </a:r>
            <a:r>
              <a:rPr lang="en-US" altLang="en-US"/>
              <a:t>C5</a:t>
            </a:r>
          </a:p>
        </p:txBody>
      </p:sp>
      <p:sp>
        <p:nvSpPr>
          <p:cNvPr id="58385" name="Text Box 17"/>
          <p:cNvSpPr txBox="1">
            <a:spLocks noChangeArrowheads="1"/>
          </p:cNvSpPr>
          <p:nvPr/>
        </p:nvSpPr>
        <p:spPr bwMode="auto">
          <a:xfrm>
            <a:off x="60960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8386" name="Line 18"/>
          <p:cNvSpPr>
            <a:spLocks noChangeShapeType="1"/>
          </p:cNvSpPr>
          <p:nvPr/>
        </p:nvSpPr>
        <p:spPr bwMode="auto">
          <a:xfrm>
            <a:off x="6019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5715000" y="2286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8" name="Text Box 20"/>
          <p:cNvSpPr txBox="1">
            <a:spLocks noChangeArrowheads="1"/>
          </p:cNvSpPr>
          <p:nvPr/>
        </p:nvSpPr>
        <p:spPr bwMode="auto">
          <a:xfrm>
            <a:off x="5638800" y="2362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8389" name="Text Box 21"/>
          <p:cNvSpPr txBox="1">
            <a:spLocks noChangeArrowheads="1"/>
          </p:cNvSpPr>
          <p:nvPr/>
        </p:nvSpPr>
        <p:spPr bwMode="auto">
          <a:xfrm>
            <a:off x="5638800" y="3200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5638800" y="36576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5181600" y="28194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 </a:t>
            </a:r>
            <a:r>
              <a:rPr lang="en-US" altLang="en-US"/>
              <a:t>C5</a:t>
            </a:r>
          </a:p>
        </p:txBody>
      </p:sp>
      <p:sp>
        <p:nvSpPr>
          <p:cNvPr id="58392" name="Text Box 24"/>
          <p:cNvSpPr txBox="1">
            <a:spLocks noChangeArrowheads="1"/>
          </p:cNvSpPr>
          <p:nvPr/>
        </p:nvSpPr>
        <p:spPr bwMode="auto">
          <a:xfrm>
            <a:off x="70866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sp>
        <p:nvSpPr>
          <p:cNvPr id="58393" name="Text Box 25"/>
          <p:cNvSpPr txBox="1">
            <a:spLocks noChangeArrowheads="1"/>
          </p:cNvSpPr>
          <p:nvPr/>
        </p:nvSpPr>
        <p:spPr bwMode="auto">
          <a:xfrm>
            <a:off x="76200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8394" name="Line 26"/>
          <p:cNvSpPr>
            <a:spLocks noChangeShapeType="1"/>
          </p:cNvSpPr>
          <p:nvPr/>
        </p:nvSpPr>
        <p:spPr bwMode="auto">
          <a:xfrm>
            <a:off x="5715000" y="2667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5" name="Line 27"/>
          <p:cNvSpPr>
            <a:spLocks noChangeShapeType="1"/>
          </p:cNvSpPr>
          <p:nvPr/>
        </p:nvSpPr>
        <p:spPr bwMode="auto">
          <a:xfrm>
            <a:off x="5715000" y="3505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6" name="Line 28"/>
          <p:cNvSpPr>
            <a:spLocks noChangeShapeType="1"/>
          </p:cNvSpPr>
          <p:nvPr/>
        </p:nvSpPr>
        <p:spPr bwMode="auto">
          <a:xfrm>
            <a:off x="5715000" y="3124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7" name="Line 29"/>
          <p:cNvSpPr>
            <a:spLocks noChangeShapeType="1"/>
          </p:cNvSpPr>
          <p:nvPr/>
        </p:nvSpPr>
        <p:spPr bwMode="auto">
          <a:xfrm>
            <a:off x="5715000" y="3886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8" name="Line 30"/>
          <p:cNvSpPr>
            <a:spLocks noChangeShapeType="1"/>
          </p:cNvSpPr>
          <p:nvPr/>
        </p:nvSpPr>
        <p:spPr bwMode="auto">
          <a:xfrm>
            <a:off x="6553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9" name="Line 31"/>
          <p:cNvSpPr>
            <a:spLocks noChangeShapeType="1"/>
          </p:cNvSpPr>
          <p:nvPr/>
        </p:nvSpPr>
        <p:spPr bwMode="auto">
          <a:xfrm>
            <a:off x="70104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0" name="Line 32"/>
          <p:cNvSpPr>
            <a:spLocks noChangeShapeType="1"/>
          </p:cNvSpPr>
          <p:nvPr/>
        </p:nvSpPr>
        <p:spPr bwMode="auto">
          <a:xfrm>
            <a:off x="7543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1" name="Line 33"/>
          <p:cNvSpPr>
            <a:spLocks noChangeShapeType="1"/>
          </p:cNvSpPr>
          <p:nvPr/>
        </p:nvSpPr>
        <p:spPr bwMode="auto">
          <a:xfrm>
            <a:off x="8077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2" name="Text Box 34"/>
          <p:cNvSpPr txBox="1">
            <a:spLocks noChangeArrowheads="1"/>
          </p:cNvSpPr>
          <p:nvPr/>
        </p:nvSpPr>
        <p:spPr bwMode="auto">
          <a:xfrm>
            <a:off x="5791200" y="3962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8403" name="Object 102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435475"/>
          <a:ext cx="4083050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Visio" r:id="rId3" imgW="7591349" imgH="3654718" progId="Visio.Drawing.6">
                  <p:embed/>
                </p:oleObj>
              </mc:Choice>
              <mc:Fallback>
                <p:oleObj name="Visio" r:id="rId3" imgW="7591349" imgH="3654718" progId="Visio.Drawing.6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435475"/>
                        <a:ext cx="4083050" cy="196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How to Define Inter-Cluster Distance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59396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59411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2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3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4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5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6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7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8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9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0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1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2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3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9424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9425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9426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9427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9428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9429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9430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9431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9432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9433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59434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59397" name="Line 29"/>
          <p:cNvSpPr>
            <a:spLocks noChangeShapeType="1"/>
          </p:cNvSpPr>
          <p:nvPr/>
        </p:nvSpPr>
        <p:spPr bwMode="auto">
          <a:xfrm>
            <a:off x="2209800" y="20574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8" name="Text Box 30"/>
          <p:cNvSpPr txBox="1">
            <a:spLocks noChangeArrowheads="1"/>
          </p:cNvSpPr>
          <p:nvPr/>
        </p:nvSpPr>
        <p:spPr bwMode="auto">
          <a:xfrm>
            <a:off x="2209800" y="1600200"/>
            <a:ext cx="1447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Similarity?</a:t>
            </a:r>
          </a:p>
        </p:txBody>
      </p:sp>
      <p:sp>
        <p:nvSpPr>
          <p:cNvPr id="59399" name="Rectangle 3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  <p:sp>
        <p:nvSpPr>
          <p:cNvPr id="59400" name="Freeform 32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1" name="Oval 33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2" name="Oval 34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3" name="Oval 35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4" name="Oval 36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5" name="Freeform 37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6" name="Oval 38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7" name="Oval 39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8" name="Oval 40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9" name="Oval 41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10" name="Text Box 42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How to Define Inter-Cluster Similarity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60420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60434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5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6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7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8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9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0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1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2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3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4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5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6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0447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0448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0449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0450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0451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0452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0453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0454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0455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0456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0457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0421" name="Freeform 29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2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3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4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5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6" name="Freeform 34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7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8" name="Oval 36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9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30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31" name="Line 39"/>
          <p:cNvSpPr>
            <a:spLocks noChangeShapeType="1"/>
          </p:cNvSpPr>
          <p:nvPr/>
        </p:nvSpPr>
        <p:spPr bwMode="auto">
          <a:xfrm flipV="1">
            <a:off x="1981200" y="1600200"/>
            <a:ext cx="1524000" cy="1524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2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0433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How to Define Inter-Cluster Similarity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61444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61458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59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0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1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2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3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4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5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6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7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8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9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70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1471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1472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1473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1474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1475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1476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1477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1478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1479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1480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1481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1445" name="Freeform 29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6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47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48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49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0" name="Freeform 34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1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2" name="Oval 36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3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4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5" name="Line 39"/>
          <p:cNvSpPr>
            <a:spLocks noChangeShapeType="1"/>
          </p:cNvSpPr>
          <p:nvPr/>
        </p:nvSpPr>
        <p:spPr bwMode="auto">
          <a:xfrm flipV="1">
            <a:off x="914400" y="1676400"/>
            <a:ext cx="3962400" cy="2286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6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1457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How to Define Inter-Cluster Similarity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62468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62497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8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9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0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1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2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3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4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5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6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7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8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9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2510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2511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2512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2513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2514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2515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2516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2517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2518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2519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2520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2469" name="Freeform 29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0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1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2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3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4" name="Freeform 34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5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6" name="Oval 36"/>
          <p:cNvSpPr>
            <a:spLocks noChangeArrowheads="1"/>
          </p:cNvSpPr>
          <p:nvPr/>
        </p:nvSpPr>
        <p:spPr bwMode="auto">
          <a:xfrm rot="5400000" flipV="1">
            <a:off x="3516313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7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8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9" name="Line 39"/>
          <p:cNvSpPr>
            <a:spLocks noChangeShapeType="1"/>
          </p:cNvSpPr>
          <p:nvPr/>
        </p:nvSpPr>
        <p:spPr bwMode="auto">
          <a:xfrm>
            <a:off x="1828800" y="22098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0" name="Line 40"/>
          <p:cNvSpPr>
            <a:spLocks noChangeShapeType="1"/>
          </p:cNvSpPr>
          <p:nvPr/>
        </p:nvSpPr>
        <p:spPr bwMode="auto">
          <a:xfrm flipV="1">
            <a:off x="1828800" y="16764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1" name="Line 41"/>
          <p:cNvSpPr>
            <a:spLocks noChangeShapeType="1"/>
          </p:cNvSpPr>
          <p:nvPr/>
        </p:nvSpPr>
        <p:spPr bwMode="auto">
          <a:xfrm flipV="1">
            <a:off x="1828800" y="12954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2" name="Line 42"/>
          <p:cNvSpPr>
            <a:spLocks noChangeShapeType="1"/>
          </p:cNvSpPr>
          <p:nvPr/>
        </p:nvSpPr>
        <p:spPr bwMode="auto">
          <a:xfrm flipV="1">
            <a:off x="1828800" y="16764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3" name="Line 43"/>
          <p:cNvSpPr>
            <a:spLocks noChangeShapeType="1"/>
          </p:cNvSpPr>
          <p:nvPr/>
        </p:nvSpPr>
        <p:spPr bwMode="auto">
          <a:xfrm>
            <a:off x="1981200" y="18288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4" name="Line 44"/>
          <p:cNvSpPr>
            <a:spLocks noChangeShapeType="1"/>
          </p:cNvSpPr>
          <p:nvPr/>
        </p:nvSpPr>
        <p:spPr bwMode="auto">
          <a:xfrm flipV="1">
            <a:off x="1981200" y="16764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5" name="Line 45"/>
          <p:cNvSpPr>
            <a:spLocks noChangeShapeType="1"/>
          </p:cNvSpPr>
          <p:nvPr/>
        </p:nvSpPr>
        <p:spPr bwMode="auto">
          <a:xfrm flipV="1">
            <a:off x="1981200" y="12954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6" name="Line 46"/>
          <p:cNvSpPr>
            <a:spLocks noChangeShapeType="1"/>
          </p:cNvSpPr>
          <p:nvPr/>
        </p:nvSpPr>
        <p:spPr bwMode="auto">
          <a:xfrm flipV="1">
            <a:off x="1981200" y="16764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7" name="Line 47"/>
          <p:cNvSpPr>
            <a:spLocks noChangeShapeType="1"/>
          </p:cNvSpPr>
          <p:nvPr/>
        </p:nvSpPr>
        <p:spPr bwMode="auto">
          <a:xfrm>
            <a:off x="914400" y="19050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8" name="Line 48"/>
          <p:cNvSpPr>
            <a:spLocks noChangeShapeType="1"/>
          </p:cNvSpPr>
          <p:nvPr/>
        </p:nvSpPr>
        <p:spPr bwMode="auto">
          <a:xfrm flipV="1">
            <a:off x="914400" y="16764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9" name="Line 49"/>
          <p:cNvSpPr>
            <a:spLocks noChangeShapeType="1"/>
          </p:cNvSpPr>
          <p:nvPr/>
        </p:nvSpPr>
        <p:spPr bwMode="auto">
          <a:xfrm flipV="1">
            <a:off x="914400" y="12954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0" name="Line 50"/>
          <p:cNvSpPr>
            <a:spLocks noChangeShapeType="1"/>
          </p:cNvSpPr>
          <p:nvPr/>
        </p:nvSpPr>
        <p:spPr bwMode="auto">
          <a:xfrm flipV="1">
            <a:off x="914400" y="16764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1" name="Line 51"/>
          <p:cNvSpPr>
            <a:spLocks noChangeShapeType="1"/>
          </p:cNvSpPr>
          <p:nvPr/>
        </p:nvSpPr>
        <p:spPr bwMode="auto">
          <a:xfrm>
            <a:off x="1752600" y="14478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2" name="Line 52"/>
          <p:cNvSpPr>
            <a:spLocks noChangeShapeType="1"/>
          </p:cNvSpPr>
          <p:nvPr/>
        </p:nvSpPr>
        <p:spPr bwMode="auto">
          <a:xfrm>
            <a:off x="1752600" y="14478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3" name="Line 53"/>
          <p:cNvSpPr>
            <a:spLocks noChangeShapeType="1"/>
          </p:cNvSpPr>
          <p:nvPr/>
        </p:nvSpPr>
        <p:spPr bwMode="auto">
          <a:xfrm flipV="1">
            <a:off x="1752600" y="12954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4" name="Line 54"/>
          <p:cNvSpPr>
            <a:spLocks noChangeShapeType="1"/>
          </p:cNvSpPr>
          <p:nvPr/>
        </p:nvSpPr>
        <p:spPr bwMode="auto">
          <a:xfrm>
            <a:off x="1752600" y="14478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5" name="Text Box 55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2496" name="Rectangle 56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Line 2"/>
          <p:cNvSpPr>
            <a:spLocks noChangeShapeType="1"/>
          </p:cNvSpPr>
          <p:nvPr/>
        </p:nvSpPr>
        <p:spPr bwMode="auto">
          <a:xfrm flipV="1">
            <a:off x="1371600" y="1981200"/>
            <a:ext cx="289560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1" name="Freeform 3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How to Define Inter-Cluster Similarity</a:t>
            </a: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63494" name="Group 6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63508" name="Line 7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09" name="Line 8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0" name="Line 9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1" name="Line 10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2" name="Line 11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3" name="Line 12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4" name="Line 13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5" name="Line 14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6" name="Line 15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7" name="Line 16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8" name="Line 17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9" name="Line 18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20" name="Text Box 19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3521" name="Text Box 20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3522" name="Text Box 21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3523" name="Text Box 22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3524" name="Text Box 23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3525" name="Text Box 24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3526" name="Text Box 2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3527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3528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3529" name="Text Box 28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3530" name="Text Box 29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3531" name="Text Box 30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3495" name="Oval 31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6" name="Oval 32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7" name="Oval 33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8" name="Oval 34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9" name="Freeform 35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0" name="Oval 36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1" name="Oval 37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2" name="Oval 38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3" name="Oval 39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4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3505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  <p:sp>
        <p:nvSpPr>
          <p:cNvPr id="63506" name="Text Box 42"/>
          <p:cNvSpPr txBox="1">
            <a:spLocks noChangeArrowheads="1"/>
          </p:cNvSpPr>
          <p:nvPr/>
        </p:nvSpPr>
        <p:spPr bwMode="auto">
          <a:xfrm>
            <a:off x="1219200" y="18288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  <p:sp>
        <p:nvSpPr>
          <p:cNvPr id="63507" name="Text Box 43"/>
          <p:cNvSpPr txBox="1">
            <a:spLocks noChangeArrowheads="1"/>
          </p:cNvSpPr>
          <p:nvPr/>
        </p:nvSpPr>
        <p:spPr bwMode="auto">
          <a:xfrm>
            <a:off x="4114800" y="18288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 or Single Link 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r>
              <a:rPr lang="en-US" altLang="en-US"/>
              <a:t>Proximity of two clusters is based on the two closest points in the different clusters</a:t>
            </a:r>
          </a:p>
          <a:p>
            <a:pPr lvl="1"/>
            <a:r>
              <a:rPr lang="en-US" altLang="en-US"/>
              <a:t>Determined by one pair of points, i.e., by one link in the proximity graph</a:t>
            </a:r>
          </a:p>
          <a:p>
            <a:r>
              <a:rPr lang="en-US" altLang="en-US"/>
              <a:t>Example:</a:t>
            </a:r>
          </a:p>
        </p:txBody>
      </p:sp>
      <p:pic>
        <p:nvPicPr>
          <p:cNvPr id="64516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 b="3334"/>
          <a:stretch>
            <a:fillRect/>
          </a:stretch>
        </p:blipFill>
        <p:spPr>
          <a:xfrm>
            <a:off x="838200" y="3810000"/>
            <a:ext cx="3276600" cy="2500313"/>
          </a:xfrm>
          <a:noFill/>
        </p:spPr>
      </p:pic>
      <p:pic>
        <p:nvPicPr>
          <p:cNvPr id="64517" name="Picture 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4114800"/>
            <a:ext cx="4000500" cy="1836738"/>
          </a:xfrm>
          <a:noFill/>
        </p:spPr>
      </p:pic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5715000" y="36576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Distance Matrix: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Hierarchical Clustering: MIN</a:t>
            </a:r>
          </a:p>
        </p:txBody>
      </p:sp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914400" y="5715000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Nested Clusters</a:t>
            </a:r>
          </a:p>
        </p:txBody>
      </p:sp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5791200" y="57150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Dendrogram</a:t>
            </a:r>
          </a:p>
        </p:txBody>
      </p:sp>
      <p:grpSp>
        <p:nvGrpSpPr>
          <p:cNvPr id="65541" name="Group 5"/>
          <p:cNvGrpSpPr>
            <a:grpSpLocks/>
          </p:cNvGrpSpPr>
          <p:nvPr/>
        </p:nvGrpSpPr>
        <p:grpSpPr bwMode="auto">
          <a:xfrm>
            <a:off x="747713" y="1773238"/>
            <a:ext cx="3175000" cy="2790825"/>
            <a:chOff x="471" y="1117"/>
            <a:chExt cx="2000" cy="1758"/>
          </a:xfrm>
        </p:grpSpPr>
        <p:sp>
          <p:nvSpPr>
            <p:cNvPr id="65558" name="Freeform 6"/>
            <p:cNvSpPr>
              <a:spLocks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7"/>
                <a:gd name="T53" fmla="*/ 89 w 89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59" name="Freeform 7"/>
            <p:cNvSpPr>
              <a:spLocks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6"/>
                <a:gd name="T53" fmla="*/ 89 w 89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0" name="Freeform 8"/>
            <p:cNvSpPr>
              <a:spLocks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1" name="Freeform 9"/>
            <p:cNvSpPr>
              <a:spLocks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2" name="Freeform 10"/>
            <p:cNvSpPr>
              <a:spLocks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3" name="Freeform 11"/>
            <p:cNvSpPr>
              <a:spLocks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4" name="Rectangle 12"/>
            <p:cNvSpPr>
              <a:spLocks noChangeArrowheads="1"/>
            </p:cNvSpPr>
            <p:nvPr/>
          </p:nvSpPr>
          <p:spPr bwMode="auto">
            <a:xfrm>
              <a:off x="2032" y="1117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/>
            </a:p>
          </p:txBody>
        </p:sp>
        <p:sp>
          <p:nvSpPr>
            <p:cNvPr id="65565" name="Rectangle 13"/>
            <p:cNvSpPr>
              <a:spLocks noChangeArrowheads="1"/>
            </p:cNvSpPr>
            <p:nvPr/>
          </p:nvSpPr>
          <p:spPr bwMode="auto">
            <a:xfrm>
              <a:off x="1256" y="1764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/>
            </a:p>
          </p:txBody>
        </p:sp>
        <p:sp>
          <p:nvSpPr>
            <p:cNvPr id="65566" name="Rectangle 14"/>
            <p:cNvSpPr>
              <a:spLocks noChangeArrowheads="1"/>
            </p:cNvSpPr>
            <p:nvPr/>
          </p:nvSpPr>
          <p:spPr bwMode="auto">
            <a:xfrm>
              <a:off x="1810" y="2069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/>
            </a:p>
          </p:txBody>
        </p:sp>
        <p:sp>
          <p:nvSpPr>
            <p:cNvPr id="65567" name="Rectangle 15"/>
            <p:cNvSpPr>
              <a:spLocks noChangeArrowheads="1"/>
            </p:cNvSpPr>
            <p:nvPr/>
          </p:nvSpPr>
          <p:spPr bwMode="auto">
            <a:xfrm>
              <a:off x="1422" y="2635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/>
            </a:p>
          </p:txBody>
        </p:sp>
        <p:sp>
          <p:nvSpPr>
            <p:cNvPr id="65568" name="Rectangle 16"/>
            <p:cNvSpPr>
              <a:spLocks noChangeArrowheads="1"/>
            </p:cNvSpPr>
            <p:nvPr/>
          </p:nvSpPr>
          <p:spPr bwMode="auto">
            <a:xfrm>
              <a:off x="648" y="1626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/>
            </a:p>
          </p:txBody>
        </p:sp>
        <p:sp>
          <p:nvSpPr>
            <p:cNvPr id="65569" name="Rectangle 17"/>
            <p:cNvSpPr>
              <a:spLocks noChangeArrowheads="1"/>
            </p:cNvSpPr>
            <p:nvPr/>
          </p:nvSpPr>
          <p:spPr bwMode="auto">
            <a:xfrm>
              <a:off x="2307" y="2125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/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2495550" y="2863850"/>
            <a:ext cx="1423988" cy="914400"/>
            <a:chOff x="1572" y="1804"/>
            <a:chExt cx="897" cy="576"/>
          </a:xfrm>
        </p:grpSpPr>
        <p:sp>
          <p:nvSpPr>
            <p:cNvPr id="65556" name="Freeform 19"/>
            <p:cNvSpPr>
              <a:spLocks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7"/>
                <a:gd name="T142" fmla="*/ 0 h 375"/>
                <a:gd name="T143" fmla="*/ 897 w 897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57" name="Rectangle 20"/>
            <p:cNvSpPr>
              <a:spLocks noChangeArrowheads="1"/>
            </p:cNvSpPr>
            <p:nvPr/>
          </p:nvSpPr>
          <p:spPr bwMode="auto">
            <a:xfrm>
              <a:off x="1944" y="1804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1</a:t>
              </a:r>
              <a:endParaRPr lang="en-US" altLang="en-US"/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527050" y="2489200"/>
            <a:ext cx="1735138" cy="1158875"/>
            <a:chOff x="332" y="1568"/>
            <a:chExt cx="1093" cy="730"/>
          </a:xfrm>
        </p:grpSpPr>
        <p:sp>
          <p:nvSpPr>
            <p:cNvPr id="65554" name="Freeform 22"/>
            <p:cNvSpPr>
              <a:spLocks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93"/>
                <a:gd name="T154" fmla="*/ 0 h 497"/>
                <a:gd name="T155" fmla="*/ 1093 w 1093"/>
                <a:gd name="T156" fmla="*/ 497 h 4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55" name="Rectangle 23"/>
            <p:cNvSpPr>
              <a:spLocks noChangeArrowheads="1"/>
            </p:cNvSpPr>
            <p:nvPr/>
          </p:nvSpPr>
          <p:spPr bwMode="auto">
            <a:xfrm>
              <a:off x="949" y="2052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2</a:t>
              </a:r>
              <a:endParaRPr lang="en-US" altLang="en-US"/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444500" y="2071688"/>
            <a:ext cx="3675063" cy="2097087"/>
            <a:chOff x="280" y="1305"/>
            <a:chExt cx="2315" cy="1321"/>
          </a:xfrm>
        </p:grpSpPr>
        <p:sp>
          <p:nvSpPr>
            <p:cNvPr id="65552" name="Freeform 25"/>
            <p:cNvSpPr>
              <a:spLocks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15"/>
                <a:gd name="T112" fmla="*/ 0 h 1312"/>
                <a:gd name="T113" fmla="*/ 2315 w 2315"/>
                <a:gd name="T114" fmla="*/ 1312 h 131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53" name="Rectangle 26"/>
            <p:cNvSpPr>
              <a:spLocks noChangeArrowheads="1"/>
            </p:cNvSpPr>
            <p:nvPr/>
          </p:nvSpPr>
          <p:spPr bwMode="auto">
            <a:xfrm>
              <a:off x="1390" y="130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3</a:t>
              </a:r>
              <a:endParaRPr lang="en-US" altLang="en-US"/>
            </a:p>
          </p:txBody>
        </p:sp>
      </p:grp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382588" y="1951038"/>
            <a:ext cx="3795712" cy="2924175"/>
            <a:chOff x="241" y="1229"/>
            <a:chExt cx="2391" cy="1842"/>
          </a:xfrm>
        </p:grpSpPr>
        <p:sp>
          <p:nvSpPr>
            <p:cNvPr id="65550" name="Freeform 28"/>
            <p:cNvSpPr>
              <a:spLocks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91"/>
                <a:gd name="T112" fmla="*/ 0 h 1611"/>
                <a:gd name="T113" fmla="*/ 2391 w 2391"/>
                <a:gd name="T114" fmla="*/ 1611 h 161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51" name="Rectangle 29"/>
            <p:cNvSpPr>
              <a:spLocks noChangeArrowheads="1"/>
            </p:cNvSpPr>
            <p:nvPr/>
          </p:nvSpPr>
          <p:spPr bwMode="auto">
            <a:xfrm>
              <a:off x="1239" y="282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4</a:t>
              </a:r>
              <a:endParaRPr lang="en-US" altLang="en-US"/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307975" y="1547813"/>
            <a:ext cx="4003675" cy="3530600"/>
            <a:chOff x="194" y="975"/>
            <a:chExt cx="2522" cy="2224"/>
          </a:xfrm>
        </p:grpSpPr>
        <p:sp>
          <p:nvSpPr>
            <p:cNvPr id="65548" name="Rectangle 31"/>
            <p:cNvSpPr>
              <a:spLocks noChangeArrowheads="1"/>
            </p:cNvSpPr>
            <p:nvPr/>
          </p:nvSpPr>
          <p:spPr bwMode="auto">
            <a:xfrm>
              <a:off x="2138" y="97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5</a:t>
              </a:r>
              <a:endParaRPr lang="en-US" altLang="en-US"/>
            </a:p>
          </p:txBody>
        </p:sp>
        <p:sp>
          <p:nvSpPr>
            <p:cNvPr id="65549" name="Freeform 32"/>
            <p:cNvSpPr>
              <a:spLocks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2"/>
                <a:gd name="T115" fmla="*/ 0 h 2211"/>
                <a:gd name="T116" fmla="*/ 2522 w 2522"/>
                <a:gd name="T117" fmla="*/ 2211 h 22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5547" name="Picture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098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MAX or Complete Linkage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Proximity of two clusters is based on the two most distant points in the different clusters</a:t>
            </a:r>
          </a:p>
          <a:p>
            <a:pPr lvl="1"/>
            <a:r>
              <a:rPr lang="en-US" altLang="en-US"/>
              <a:t>Determined by all pairs of points in the two clusters</a:t>
            </a:r>
          </a:p>
          <a:p>
            <a:endParaRPr lang="en-US" altLang="en-US"/>
          </a:p>
        </p:txBody>
      </p:sp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 b="3334"/>
          <a:stretch>
            <a:fillRect/>
          </a:stretch>
        </p:blipFill>
        <p:spPr bwMode="auto">
          <a:xfrm>
            <a:off x="152400" y="2819400"/>
            <a:ext cx="4195763" cy="320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886200"/>
            <a:ext cx="4000500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5486400" y="34290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Distance Matrix: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Hierarchical Clustering: MAX</a:t>
            </a:r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1098550" y="5348288"/>
            <a:ext cx="3352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Nested Clusters</a:t>
            </a:r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5670550" y="5348288"/>
            <a:ext cx="179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Dendrogram</a:t>
            </a:r>
          </a:p>
        </p:txBody>
      </p:sp>
      <p:pic>
        <p:nvPicPr>
          <p:cNvPr id="6963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21336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9638" name="Group 6"/>
          <p:cNvGrpSpPr>
            <a:grpSpLocks/>
          </p:cNvGrpSpPr>
          <p:nvPr/>
        </p:nvGrpSpPr>
        <p:grpSpPr bwMode="auto">
          <a:xfrm>
            <a:off x="792163" y="1824038"/>
            <a:ext cx="2998787" cy="2687637"/>
            <a:chOff x="383" y="1437"/>
            <a:chExt cx="1889" cy="1693"/>
          </a:xfrm>
        </p:grpSpPr>
        <p:sp>
          <p:nvSpPr>
            <p:cNvPr id="69654" name="Freeform 7"/>
            <p:cNvSpPr>
              <a:spLocks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5" name="Freeform 8"/>
            <p:cNvSpPr>
              <a:spLocks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6" name="Freeform 9"/>
            <p:cNvSpPr>
              <a:spLocks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7" name="Freeform 10"/>
            <p:cNvSpPr>
              <a:spLocks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8" name="Freeform 11"/>
            <p:cNvSpPr>
              <a:spLocks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9" name="Freeform 12"/>
            <p:cNvSpPr>
              <a:spLocks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60" name="Rectangle 13"/>
            <p:cNvSpPr>
              <a:spLocks noChangeArrowheads="1"/>
            </p:cNvSpPr>
            <p:nvPr/>
          </p:nvSpPr>
          <p:spPr bwMode="auto">
            <a:xfrm>
              <a:off x="1890" y="143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/>
            </a:p>
          </p:txBody>
        </p:sp>
        <p:sp>
          <p:nvSpPr>
            <p:cNvPr id="69661" name="Rectangle 14"/>
            <p:cNvSpPr>
              <a:spLocks noChangeArrowheads="1"/>
            </p:cNvSpPr>
            <p:nvPr/>
          </p:nvSpPr>
          <p:spPr bwMode="auto">
            <a:xfrm>
              <a:off x="1089" y="206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/>
            </a:p>
          </p:txBody>
        </p:sp>
        <p:sp>
          <p:nvSpPr>
            <p:cNvPr id="69662" name="Rectangle 15"/>
            <p:cNvSpPr>
              <a:spLocks noChangeArrowheads="1"/>
            </p:cNvSpPr>
            <p:nvPr/>
          </p:nvSpPr>
          <p:spPr bwMode="auto">
            <a:xfrm>
              <a:off x="1699" y="2373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/>
            </a:p>
          </p:txBody>
        </p:sp>
        <p:sp>
          <p:nvSpPr>
            <p:cNvPr id="69663" name="Rectangle 16"/>
            <p:cNvSpPr>
              <a:spLocks noChangeArrowheads="1"/>
            </p:cNvSpPr>
            <p:nvPr/>
          </p:nvSpPr>
          <p:spPr bwMode="auto">
            <a:xfrm>
              <a:off x="1319" y="29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/>
            </a:p>
          </p:txBody>
        </p:sp>
        <p:sp>
          <p:nvSpPr>
            <p:cNvPr id="69664" name="Rectangle 17"/>
            <p:cNvSpPr>
              <a:spLocks noChangeArrowheads="1"/>
            </p:cNvSpPr>
            <p:nvPr/>
          </p:nvSpPr>
          <p:spPr bwMode="auto">
            <a:xfrm>
              <a:off x="517" y="1940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/>
            </a:p>
          </p:txBody>
        </p:sp>
        <p:sp>
          <p:nvSpPr>
            <p:cNvPr id="69665" name="Rectangle 18"/>
            <p:cNvSpPr>
              <a:spLocks noChangeArrowheads="1"/>
            </p:cNvSpPr>
            <p:nvPr/>
          </p:nvSpPr>
          <p:spPr bwMode="auto">
            <a:xfrm>
              <a:off x="2188" y="24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2509838" y="3208338"/>
            <a:ext cx="1401762" cy="890587"/>
            <a:chOff x="1465" y="2309"/>
            <a:chExt cx="883" cy="561"/>
          </a:xfrm>
        </p:grpSpPr>
        <p:sp>
          <p:nvSpPr>
            <p:cNvPr id="69652" name="Freeform 20"/>
            <p:cNvSpPr>
              <a:spLocks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83"/>
                <a:gd name="T142" fmla="*/ 0 h 369"/>
                <a:gd name="T143" fmla="*/ 883 w 883"/>
                <a:gd name="T144" fmla="*/ 369 h 36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3" name="Rectangle 21"/>
            <p:cNvSpPr>
              <a:spLocks noChangeArrowheads="1"/>
            </p:cNvSpPr>
            <p:nvPr/>
          </p:nvSpPr>
          <p:spPr bwMode="auto">
            <a:xfrm>
              <a:off x="1831" y="2668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1</a:t>
              </a:r>
              <a:endParaRPr lang="en-US" altLang="en-US"/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704850" y="2249488"/>
            <a:ext cx="1579563" cy="889000"/>
            <a:chOff x="328" y="1705"/>
            <a:chExt cx="995" cy="560"/>
          </a:xfrm>
        </p:grpSpPr>
        <p:sp>
          <p:nvSpPr>
            <p:cNvPr id="69650" name="Freeform 23"/>
            <p:cNvSpPr>
              <a:spLocks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95"/>
                <a:gd name="T154" fmla="*/ 0 h 384"/>
                <a:gd name="T155" fmla="*/ 995 w 995"/>
                <a:gd name="T156" fmla="*/ 384 h 38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1" name="Rectangle 24"/>
            <p:cNvSpPr>
              <a:spLocks noChangeArrowheads="1"/>
            </p:cNvSpPr>
            <p:nvPr/>
          </p:nvSpPr>
          <p:spPr bwMode="auto">
            <a:xfrm>
              <a:off x="853" y="170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2</a:t>
              </a:r>
              <a:endParaRPr lang="en-US" altLang="en-US"/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60363" y="1582738"/>
            <a:ext cx="3935412" cy="3487737"/>
            <a:chOff x="111" y="1285"/>
            <a:chExt cx="2479" cy="2197"/>
          </a:xfrm>
        </p:grpSpPr>
        <p:sp>
          <p:nvSpPr>
            <p:cNvPr id="69648" name="Rectangle 26"/>
            <p:cNvSpPr>
              <a:spLocks noChangeArrowheads="1"/>
            </p:cNvSpPr>
            <p:nvPr/>
          </p:nvSpPr>
          <p:spPr bwMode="auto">
            <a:xfrm>
              <a:off x="2484" y="170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5</a:t>
              </a:r>
              <a:endParaRPr lang="en-US" altLang="en-US"/>
            </a:p>
          </p:txBody>
        </p:sp>
        <p:sp>
          <p:nvSpPr>
            <p:cNvPr id="69649" name="Freeform 27"/>
            <p:cNvSpPr>
              <a:spLocks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79"/>
                <a:gd name="T115" fmla="*/ 0 h 2197"/>
                <a:gd name="T116" fmla="*/ 2479 w 2479"/>
                <a:gd name="T117" fmla="*/ 2197 h 21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1882775" y="2982913"/>
            <a:ext cx="2160588" cy="1652587"/>
            <a:chOff x="1070" y="2167"/>
            <a:chExt cx="1361" cy="1041"/>
          </a:xfrm>
        </p:grpSpPr>
        <p:sp>
          <p:nvSpPr>
            <p:cNvPr id="69646" name="Rectangle 29"/>
            <p:cNvSpPr>
              <a:spLocks noChangeArrowheads="1"/>
            </p:cNvSpPr>
            <p:nvPr/>
          </p:nvSpPr>
          <p:spPr bwMode="auto">
            <a:xfrm>
              <a:off x="1070" y="256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3</a:t>
              </a:r>
              <a:endParaRPr lang="en-US" altLang="en-US"/>
            </a:p>
          </p:txBody>
        </p:sp>
        <p:sp>
          <p:nvSpPr>
            <p:cNvPr id="69647" name="Freeform 30"/>
            <p:cNvSpPr>
              <a:spLocks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17"/>
                <a:gd name="T184" fmla="*/ 0 h 1041"/>
                <a:gd name="T185" fmla="*/ 1317 w 1317"/>
                <a:gd name="T186" fmla="*/ 1041 h 10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615950" y="1720850"/>
            <a:ext cx="2906713" cy="1520825"/>
            <a:chOff x="272" y="1372"/>
            <a:chExt cx="1831" cy="958"/>
          </a:xfrm>
        </p:grpSpPr>
        <p:sp>
          <p:nvSpPr>
            <p:cNvPr id="69644" name="Rectangle 32"/>
            <p:cNvSpPr>
              <a:spLocks noChangeArrowheads="1"/>
            </p:cNvSpPr>
            <p:nvPr/>
          </p:nvSpPr>
          <p:spPr bwMode="auto">
            <a:xfrm>
              <a:off x="1165" y="138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4</a:t>
              </a:r>
              <a:endParaRPr lang="en-US" altLang="en-US"/>
            </a:p>
          </p:txBody>
        </p:sp>
        <p:sp>
          <p:nvSpPr>
            <p:cNvPr id="69645" name="Freeform 33"/>
            <p:cNvSpPr>
              <a:spLocks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31"/>
                <a:gd name="T100" fmla="*/ 0 h 958"/>
                <a:gd name="T101" fmla="*/ 1831 w 1831"/>
                <a:gd name="T102" fmla="*/ 958 h 9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Group Average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3505200"/>
          </a:xfrm>
        </p:spPr>
        <p:txBody>
          <a:bodyPr/>
          <a:lstStyle/>
          <a:p>
            <a:r>
              <a:rPr lang="en-US" altLang="en-US" sz="2200" dirty="0"/>
              <a:t>Proximity of two clusters is the average of pairwise proximity between points in the two clusters.</a:t>
            </a:r>
          </a:p>
          <a:p>
            <a:endParaRPr lang="en-US" altLang="en-US" sz="2200" dirty="0"/>
          </a:p>
          <a:p>
            <a:endParaRPr lang="en-US" altLang="en-US" sz="2200" dirty="0"/>
          </a:p>
          <a:p>
            <a:pPr lvl="4"/>
            <a:endParaRPr lang="en-US" altLang="en-US" sz="1800" dirty="0"/>
          </a:p>
          <a:p>
            <a:endParaRPr lang="en-US" altLang="en-US" sz="2200" dirty="0"/>
          </a:p>
        </p:txBody>
      </p:sp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2057400" y="1905000"/>
          <a:ext cx="557530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3873500" imgH="698500" progId="Equation.3">
                  <p:embed/>
                </p:oleObj>
              </mc:Choice>
              <mc:Fallback>
                <p:oleObj name="Equation" r:id="rId3" imgW="3873500" imgH="698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05000"/>
                        <a:ext cx="557530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70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 b="3334"/>
          <a:stretch>
            <a:fillRect/>
          </a:stretch>
        </p:blipFill>
        <p:spPr bwMode="auto">
          <a:xfrm>
            <a:off x="838200" y="3810000"/>
            <a:ext cx="3276600" cy="250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411663"/>
            <a:ext cx="4000500" cy="183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5715000" y="3954463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Distance Matrix: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Hierarchical Clustering: Group Average</a:t>
            </a:r>
          </a:p>
        </p:txBody>
      </p:sp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914400" y="5562600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Nested Clusters</a:t>
            </a: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5562600" y="55626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Dendrogram</a:t>
            </a:r>
          </a:p>
        </p:txBody>
      </p:sp>
      <p:pic>
        <p:nvPicPr>
          <p:cNvPr id="7373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0574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3734" name="Group 6"/>
          <p:cNvGrpSpPr>
            <a:grpSpLocks/>
          </p:cNvGrpSpPr>
          <p:nvPr/>
        </p:nvGrpSpPr>
        <p:grpSpPr bwMode="auto">
          <a:xfrm>
            <a:off x="808038" y="1987550"/>
            <a:ext cx="2901950" cy="2544763"/>
            <a:chOff x="509" y="1252"/>
            <a:chExt cx="1828" cy="1603"/>
          </a:xfrm>
        </p:grpSpPr>
        <p:sp>
          <p:nvSpPr>
            <p:cNvPr id="73750" name="Freeform 7"/>
            <p:cNvSpPr>
              <a:spLocks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9"/>
                <a:gd name="T52" fmla="*/ 0 h 81"/>
                <a:gd name="T53" fmla="*/ 79 w 79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1" name="Freeform 8"/>
            <p:cNvSpPr>
              <a:spLocks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2" name="Freeform 9"/>
            <p:cNvSpPr>
              <a:spLocks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3" name="Freeform 10"/>
            <p:cNvSpPr>
              <a:spLocks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4" name="Freeform 11"/>
            <p:cNvSpPr>
              <a:spLocks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79"/>
                <a:gd name="T53" fmla="*/ 81 w 81"/>
                <a:gd name="T54" fmla="*/ 79 h 7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5" name="Freeform 12"/>
            <p:cNvSpPr>
              <a:spLocks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6" name="Rectangle 13"/>
            <p:cNvSpPr>
              <a:spLocks noChangeArrowheads="1"/>
            </p:cNvSpPr>
            <p:nvPr/>
          </p:nvSpPr>
          <p:spPr bwMode="auto">
            <a:xfrm>
              <a:off x="1908" y="1252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/>
            </a:p>
          </p:txBody>
        </p:sp>
        <p:sp>
          <p:nvSpPr>
            <p:cNvPr id="73757" name="Rectangle 14"/>
            <p:cNvSpPr>
              <a:spLocks noChangeArrowheads="1"/>
            </p:cNvSpPr>
            <p:nvPr/>
          </p:nvSpPr>
          <p:spPr bwMode="auto">
            <a:xfrm>
              <a:off x="1163" y="1832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/>
            </a:p>
          </p:txBody>
        </p:sp>
        <p:sp>
          <p:nvSpPr>
            <p:cNvPr id="73758" name="Rectangle 15"/>
            <p:cNvSpPr>
              <a:spLocks noChangeArrowheads="1"/>
            </p:cNvSpPr>
            <p:nvPr/>
          </p:nvSpPr>
          <p:spPr bwMode="auto">
            <a:xfrm>
              <a:off x="1732" y="2121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/>
            </a:p>
          </p:txBody>
        </p:sp>
        <p:sp>
          <p:nvSpPr>
            <p:cNvPr id="73759" name="Rectangle 16"/>
            <p:cNvSpPr>
              <a:spLocks noChangeArrowheads="1"/>
            </p:cNvSpPr>
            <p:nvPr/>
          </p:nvSpPr>
          <p:spPr bwMode="auto">
            <a:xfrm>
              <a:off x="1379" y="2638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/>
            </a:p>
          </p:txBody>
        </p:sp>
        <p:sp>
          <p:nvSpPr>
            <p:cNvPr id="73760" name="Rectangle 17"/>
            <p:cNvSpPr>
              <a:spLocks noChangeArrowheads="1"/>
            </p:cNvSpPr>
            <p:nvPr/>
          </p:nvSpPr>
          <p:spPr bwMode="auto">
            <a:xfrm>
              <a:off x="631" y="1719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/>
            </a:p>
          </p:txBody>
        </p:sp>
        <p:sp>
          <p:nvSpPr>
            <p:cNvPr id="73761" name="Rectangle 18"/>
            <p:cNvSpPr>
              <a:spLocks noChangeArrowheads="1"/>
            </p:cNvSpPr>
            <p:nvPr/>
          </p:nvSpPr>
          <p:spPr bwMode="auto">
            <a:xfrm>
              <a:off x="2187" y="2173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2405063" y="3273425"/>
            <a:ext cx="1301750" cy="889000"/>
            <a:chOff x="1515" y="2062"/>
            <a:chExt cx="820" cy="560"/>
          </a:xfrm>
        </p:grpSpPr>
        <p:sp>
          <p:nvSpPr>
            <p:cNvPr id="73748" name="Freeform 20"/>
            <p:cNvSpPr>
              <a:spLocks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20"/>
                <a:gd name="T142" fmla="*/ 0 h 343"/>
                <a:gd name="T143" fmla="*/ 820 w 820"/>
                <a:gd name="T144" fmla="*/ 343 h 343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49" name="Rectangle 21"/>
            <p:cNvSpPr>
              <a:spLocks noChangeArrowheads="1"/>
            </p:cNvSpPr>
            <p:nvPr/>
          </p:nvSpPr>
          <p:spPr bwMode="auto">
            <a:xfrm>
              <a:off x="1855" y="2395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1</a:t>
              </a:r>
              <a:endParaRPr lang="en-US" altLang="en-US"/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717550" y="2382838"/>
            <a:ext cx="1323975" cy="985837"/>
            <a:chOff x="452" y="1501"/>
            <a:chExt cx="834" cy="621"/>
          </a:xfrm>
        </p:grpSpPr>
        <p:sp>
          <p:nvSpPr>
            <p:cNvPr id="73746" name="Freeform 23"/>
            <p:cNvSpPr>
              <a:spLocks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34"/>
                <a:gd name="T142" fmla="*/ 0 h 460"/>
                <a:gd name="T143" fmla="*/ 834 w 834"/>
                <a:gd name="T144" fmla="*/ 460 h 46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47" name="Rectangle 24"/>
            <p:cNvSpPr>
              <a:spLocks noChangeArrowheads="1"/>
            </p:cNvSpPr>
            <p:nvPr/>
          </p:nvSpPr>
          <p:spPr bwMode="auto">
            <a:xfrm>
              <a:off x="944" y="1501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2</a:t>
              </a:r>
              <a:endParaRPr lang="en-US" altLang="en-US"/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403225" y="1622425"/>
            <a:ext cx="3659188" cy="3460750"/>
            <a:chOff x="254" y="1022"/>
            <a:chExt cx="2305" cy="2180"/>
          </a:xfrm>
        </p:grpSpPr>
        <p:sp>
          <p:nvSpPr>
            <p:cNvPr id="73744" name="Rectangle 26"/>
            <p:cNvSpPr>
              <a:spLocks noChangeArrowheads="1"/>
            </p:cNvSpPr>
            <p:nvPr/>
          </p:nvSpPr>
          <p:spPr bwMode="auto">
            <a:xfrm>
              <a:off x="564" y="1148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5</a:t>
              </a:r>
              <a:endParaRPr lang="en-US" altLang="en-US"/>
            </a:p>
          </p:txBody>
        </p:sp>
        <p:sp>
          <p:nvSpPr>
            <p:cNvPr id="73745" name="Freeform 27"/>
            <p:cNvSpPr>
              <a:spLocks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05"/>
                <a:gd name="T115" fmla="*/ 0 h 2180"/>
                <a:gd name="T116" fmla="*/ 2305 w 2305"/>
                <a:gd name="T117" fmla="*/ 2180 h 218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1931988" y="3101975"/>
            <a:ext cx="1800225" cy="1720850"/>
            <a:chOff x="1217" y="1954"/>
            <a:chExt cx="1134" cy="1084"/>
          </a:xfrm>
        </p:grpSpPr>
        <p:sp>
          <p:nvSpPr>
            <p:cNvPr id="73742" name="Rectangle 29"/>
            <p:cNvSpPr>
              <a:spLocks noChangeArrowheads="1"/>
            </p:cNvSpPr>
            <p:nvPr/>
          </p:nvSpPr>
          <p:spPr bwMode="auto">
            <a:xfrm>
              <a:off x="1665" y="2811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3</a:t>
              </a:r>
              <a:endParaRPr lang="en-US" altLang="en-US"/>
            </a:p>
          </p:txBody>
        </p:sp>
        <p:sp>
          <p:nvSpPr>
            <p:cNvPr id="73743" name="Freeform 30"/>
            <p:cNvSpPr>
              <a:spLocks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34"/>
                <a:gd name="T178" fmla="*/ 0 h 909"/>
                <a:gd name="T179" fmla="*/ 1134 w 1134"/>
                <a:gd name="T180" fmla="*/ 909 h 90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1893888" y="1922463"/>
            <a:ext cx="1933575" cy="3097212"/>
            <a:chOff x="1193" y="1211"/>
            <a:chExt cx="1218" cy="1951"/>
          </a:xfrm>
        </p:grpSpPr>
        <p:sp>
          <p:nvSpPr>
            <p:cNvPr id="73740" name="Rectangle 32"/>
            <p:cNvSpPr>
              <a:spLocks noChangeArrowheads="1"/>
            </p:cNvSpPr>
            <p:nvPr/>
          </p:nvSpPr>
          <p:spPr bwMode="auto">
            <a:xfrm>
              <a:off x="1602" y="1211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4</a:t>
              </a:r>
              <a:endParaRPr lang="en-US" altLang="en-US"/>
            </a:p>
          </p:txBody>
        </p:sp>
        <p:sp>
          <p:nvSpPr>
            <p:cNvPr id="73741" name="Freeform 33"/>
            <p:cNvSpPr>
              <a:spLocks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18"/>
                <a:gd name="T109" fmla="*/ 0 h 1916"/>
                <a:gd name="T110" fmla="*/ 1218 w 1218"/>
                <a:gd name="T111" fmla="*/ 1916 h 191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Clustering: Group Average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 altLang="en-US" sz="3100" dirty="0"/>
              <a:t>Compromise between Single and Complete Link</a:t>
            </a:r>
          </a:p>
          <a:p>
            <a:pPr marL="533400" indent="-533400"/>
            <a:endParaRPr lang="en-US" altLang="en-US" sz="3100" dirty="0"/>
          </a:p>
          <a:p>
            <a:pPr marL="533400" indent="-533400"/>
            <a:r>
              <a:rPr lang="en-US" altLang="en-US" sz="3100" dirty="0"/>
              <a:t>Strengths</a:t>
            </a:r>
          </a:p>
          <a:p>
            <a:pPr marL="914400" lvl="1" indent="-457200"/>
            <a:r>
              <a:rPr lang="en-US" altLang="en-US" sz="2700"/>
              <a:t>Less susceptible to noise</a:t>
            </a:r>
          </a:p>
          <a:p>
            <a:pPr marL="533400" indent="-533400"/>
            <a:endParaRPr lang="en-US" altLang="en-US" sz="3100" dirty="0"/>
          </a:p>
          <a:p>
            <a:pPr marL="533400" indent="-533400"/>
            <a:r>
              <a:rPr lang="en-US" altLang="en-US" sz="3100" dirty="0"/>
              <a:t>Limitations</a:t>
            </a:r>
          </a:p>
          <a:p>
            <a:pPr marL="914400" lvl="1" indent="-457200"/>
            <a:r>
              <a:rPr lang="en-US" altLang="en-US" sz="2700" dirty="0"/>
              <a:t>Biased towards globular clusters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Hierarchical Clustering: Comparison</a:t>
            </a: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3235325" y="49530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Group Average</a:t>
            </a: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4530725" y="45720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Ward’s Method</a:t>
            </a:r>
          </a:p>
        </p:txBody>
      </p:sp>
      <p:grpSp>
        <p:nvGrpSpPr>
          <p:cNvPr id="76805" name="Group 5"/>
          <p:cNvGrpSpPr>
            <a:grpSpLocks noChangeAspect="1"/>
          </p:cNvGrpSpPr>
          <p:nvPr/>
        </p:nvGrpSpPr>
        <p:grpSpPr bwMode="auto">
          <a:xfrm>
            <a:off x="6270625" y="4132263"/>
            <a:ext cx="1858963" cy="1693862"/>
            <a:chOff x="509" y="1253"/>
            <a:chExt cx="1776" cy="1618"/>
          </a:xfrm>
        </p:grpSpPr>
        <p:sp>
          <p:nvSpPr>
            <p:cNvPr id="76907" name="Freeform 6"/>
            <p:cNvSpPr>
              <a:spLocks noChangeAspect="1"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9"/>
                <a:gd name="T52" fmla="*/ 0 h 81"/>
                <a:gd name="T53" fmla="*/ 79 w 79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908" name="Freeform 7"/>
            <p:cNvSpPr>
              <a:spLocks noChangeAspect="1"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909" name="Freeform 8"/>
            <p:cNvSpPr>
              <a:spLocks noChangeAspect="1"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910" name="Freeform 9"/>
            <p:cNvSpPr>
              <a:spLocks noChangeAspect="1"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911" name="Freeform 10"/>
            <p:cNvSpPr>
              <a:spLocks noChangeAspect="1"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79"/>
                <a:gd name="T53" fmla="*/ 81 w 81"/>
                <a:gd name="T54" fmla="*/ 79 h 7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912" name="Freeform 11"/>
            <p:cNvSpPr>
              <a:spLocks noChangeAspect="1"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913" name="Rectangle 12"/>
            <p:cNvSpPr>
              <a:spLocks noChangeAspect="1" noChangeArrowheads="1"/>
            </p:cNvSpPr>
            <p:nvPr/>
          </p:nvSpPr>
          <p:spPr bwMode="auto">
            <a:xfrm>
              <a:off x="1909" y="1253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76914" name="Rectangle 13"/>
            <p:cNvSpPr>
              <a:spLocks noChangeAspect="1" noChangeArrowheads="1"/>
            </p:cNvSpPr>
            <p:nvPr/>
          </p:nvSpPr>
          <p:spPr bwMode="auto">
            <a:xfrm>
              <a:off x="1163" y="1832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 sz="1600"/>
            </a:p>
          </p:txBody>
        </p:sp>
        <p:sp>
          <p:nvSpPr>
            <p:cNvPr id="76915" name="Rectangle 14"/>
            <p:cNvSpPr>
              <a:spLocks noChangeAspect="1" noChangeArrowheads="1"/>
            </p:cNvSpPr>
            <p:nvPr/>
          </p:nvSpPr>
          <p:spPr bwMode="auto">
            <a:xfrm>
              <a:off x="1733" y="2122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76916" name="Rectangle 15"/>
            <p:cNvSpPr>
              <a:spLocks noChangeAspect="1" noChangeArrowheads="1"/>
            </p:cNvSpPr>
            <p:nvPr/>
          </p:nvSpPr>
          <p:spPr bwMode="auto">
            <a:xfrm>
              <a:off x="1379" y="263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 sz="1600"/>
            </a:p>
          </p:txBody>
        </p:sp>
        <p:sp>
          <p:nvSpPr>
            <p:cNvPr id="76917" name="Rectangle 16"/>
            <p:cNvSpPr>
              <a:spLocks noChangeAspect="1" noChangeArrowheads="1"/>
            </p:cNvSpPr>
            <p:nvPr/>
          </p:nvSpPr>
          <p:spPr bwMode="auto">
            <a:xfrm>
              <a:off x="630" y="1720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 sz="1600"/>
            </a:p>
          </p:txBody>
        </p:sp>
        <p:sp>
          <p:nvSpPr>
            <p:cNvPr id="76918" name="Rectangle 17"/>
            <p:cNvSpPr>
              <a:spLocks noChangeAspect="1" noChangeArrowheads="1"/>
            </p:cNvSpPr>
            <p:nvPr/>
          </p:nvSpPr>
          <p:spPr bwMode="auto">
            <a:xfrm>
              <a:off x="2188" y="2173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 sz="1600"/>
            </a:p>
          </p:txBody>
        </p:sp>
      </p:grpSp>
      <p:grpSp>
        <p:nvGrpSpPr>
          <p:cNvPr id="3" name="Group 18"/>
          <p:cNvGrpSpPr>
            <a:grpSpLocks noChangeAspect="1"/>
          </p:cNvGrpSpPr>
          <p:nvPr/>
        </p:nvGrpSpPr>
        <p:grpSpPr bwMode="auto">
          <a:xfrm>
            <a:off x="7324725" y="4979988"/>
            <a:ext cx="857250" cy="592137"/>
            <a:chOff x="1515" y="2062"/>
            <a:chExt cx="820" cy="566"/>
          </a:xfrm>
        </p:grpSpPr>
        <p:sp>
          <p:nvSpPr>
            <p:cNvPr id="76905" name="Freeform 19"/>
            <p:cNvSpPr>
              <a:spLocks noChangeAspect="1"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20"/>
                <a:gd name="T142" fmla="*/ 0 h 343"/>
                <a:gd name="T143" fmla="*/ 820 w 820"/>
                <a:gd name="T144" fmla="*/ 343 h 343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906" name="Rectangle 20"/>
            <p:cNvSpPr>
              <a:spLocks noChangeAspect="1" noChangeArrowheads="1"/>
            </p:cNvSpPr>
            <p:nvPr/>
          </p:nvSpPr>
          <p:spPr bwMode="auto">
            <a:xfrm>
              <a:off x="1855" y="2394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1</a:t>
              </a:r>
              <a:endParaRPr lang="en-US" altLang="en-US" sz="1600"/>
            </a:p>
          </p:txBody>
        </p:sp>
      </p:grpSp>
      <p:grpSp>
        <p:nvGrpSpPr>
          <p:cNvPr id="4" name="Group 21"/>
          <p:cNvGrpSpPr>
            <a:grpSpLocks noChangeAspect="1"/>
          </p:cNvGrpSpPr>
          <p:nvPr/>
        </p:nvGrpSpPr>
        <p:grpSpPr bwMode="auto">
          <a:xfrm>
            <a:off x="6211888" y="4392613"/>
            <a:ext cx="873125" cy="649287"/>
            <a:chOff x="452" y="1501"/>
            <a:chExt cx="834" cy="621"/>
          </a:xfrm>
        </p:grpSpPr>
        <p:sp>
          <p:nvSpPr>
            <p:cNvPr id="76903" name="Freeform 22"/>
            <p:cNvSpPr>
              <a:spLocks noChangeAspect="1"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34"/>
                <a:gd name="T142" fmla="*/ 0 h 460"/>
                <a:gd name="T143" fmla="*/ 834 w 834"/>
                <a:gd name="T144" fmla="*/ 460 h 46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904" name="Rectangle 23"/>
            <p:cNvSpPr>
              <a:spLocks noChangeAspect="1" noChangeArrowheads="1"/>
            </p:cNvSpPr>
            <p:nvPr/>
          </p:nvSpPr>
          <p:spPr bwMode="auto">
            <a:xfrm>
              <a:off x="943" y="1501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2</a:t>
              </a:r>
              <a:endParaRPr lang="en-US" altLang="en-US" sz="1600"/>
            </a:p>
          </p:txBody>
        </p:sp>
      </p:grpSp>
      <p:grpSp>
        <p:nvGrpSpPr>
          <p:cNvPr id="5" name="Group 24"/>
          <p:cNvGrpSpPr>
            <a:grpSpLocks noChangeAspect="1"/>
          </p:cNvGrpSpPr>
          <p:nvPr/>
        </p:nvGrpSpPr>
        <p:grpSpPr bwMode="auto">
          <a:xfrm>
            <a:off x="6003925" y="3890963"/>
            <a:ext cx="2413000" cy="2281237"/>
            <a:chOff x="254" y="1022"/>
            <a:chExt cx="2305" cy="2180"/>
          </a:xfrm>
        </p:grpSpPr>
        <p:sp>
          <p:nvSpPr>
            <p:cNvPr id="76901" name="Rectangle 25"/>
            <p:cNvSpPr>
              <a:spLocks noChangeAspect="1" noChangeArrowheads="1"/>
            </p:cNvSpPr>
            <p:nvPr/>
          </p:nvSpPr>
          <p:spPr bwMode="auto">
            <a:xfrm>
              <a:off x="563" y="1148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76902" name="Freeform 26"/>
            <p:cNvSpPr>
              <a:spLocks noChangeAspect="1"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05"/>
                <a:gd name="T115" fmla="*/ 0 h 2180"/>
                <a:gd name="T116" fmla="*/ 2305 w 2305"/>
                <a:gd name="T117" fmla="*/ 2180 h 218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7"/>
          <p:cNvGrpSpPr>
            <a:grpSpLocks noChangeAspect="1"/>
          </p:cNvGrpSpPr>
          <p:nvPr/>
        </p:nvGrpSpPr>
        <p:grpSpPr bwMode="auto">
          <a:xfrm>
            <a:off x="7011988" y="4865688"/>
            <a:ext cx="1187450" cy="1141412"/>
            <a:chOff x="1217" y="1954"/>
            <a:chExt cx="1134" cy="1090"/>
          </a:xfrm>
        </p:grpSpPr>
        <p:sp>
          <p:nvSpPr>
            <p:cNvPr id="76899" name="Rectangle 28"/>
            <p:cNvSpPr>
              <a:spLocks noChangeAspect="1" noChangeArrowheads="1"/>
            </p:cNvSpPr>
            <p:nvPr/>
          </p:nvSpPr>
          <p:spPr bwMode="auto">
            <a:xfrm>
              <a:off x="1666" y="2811"/>
              <a:ext cx="1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3</a:t>
              </a:r>
              <a:endParaRPr lang="en-US" altLang="en-US" sz="1600"/>
            </a:p>
          </p:txBody>
        </p:sp>
        <p:sp>
          <p:nvSpPr>
            <p:cNvPr id="76900" name="Freeform 29"/>
            <p:cNvSpPr>
              <a:spLocks noChangeAspect="1"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34"/>
                <a:gd name="T178" fmla="*/ 0 h 909"/>
                <a:gd name="T179" fmla="*/ 1134 w 1134"/>
                <a:gd name="T180" fmla="*/ 909 h 90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0"/>
          <p:cNvGrpSpPr>
            <a:grpSpLocks noChangeAspect="1"/>
          </p:cNvGrpSpPr>
          <p:nvPr/>
        </p:nvGrpSpPr>
        <p:grpSpPr bwMode="auto">
          <a:xfrm>
            <a:off x="6986588" y="4089400"/>
            <a:ext cx="1274762" cy="2041525"/>
            <a:chOff x="1193" y="1212"/>
            <a:chExt cx="1218" cy="1950"/>
          </a:xfrm>
        </p:grpSpPr>
        <p:sp>
          <p:nvSpPr>
            <p:cNvPr id="76897" name="Rectangle 31"/>
            <p:cNvSpPr>
              <a:spLocks noChangeAspect="1" noChangeArrowheads="1"/>
            </p:cNvSpPr>
            <p:nvPr/>
          </p:nvSpPr>
          <p:spPr bwMode="auto">
            <a:xfrm>
              <a:off x="1603" y="1212"/>
              <a:ext cx="10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4</a:t>
              </a:r>
              <a:endParaRPr lang="en-US" altLang="en-US" sz="1600"/>
            </a:p>
          </p:txBody>
        </p:sp>
        <p:sp>
          <p:nvSpPr>
            <p:cNvPr id="76898" name="Freeform 32"/>
            <p:cNvSpPr>
              <a:spLocks noChangeAspect="1"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18"/>
                <a:gd name="T109" fmla="*/ 0 h 1916"/>
                <a:gd name="T110" fmla="*/ 1218 w 1218"/>
                <a:gd name="T111" fmla="*/ 1916 h 191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6811" name="Text Box 33"/>
          <p:cNvSpPr txBox="1">
            <a:spLocks noChangeArrowheads="1"/>
          </p:cNvSpPr>
          <p:nvPr/>
        </p:nvSpPr>
        <p:spPr bwMode="auto">
          <a:xfrm>
            <a:off x="3387725" y="21336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MIN</a:t>
            </a:r>
          </a:p>
        </p:txBody>
      </p:sp>
      <p:sp>
        <p:nvSpPr>
          <p:cNvPr id="76812" name="Text Box 34"/>
          <p:cNvSpPr txBox="1">
            <a:spLocks noChangeArrowheads="1"/>
          </p:cNvSpPr>
          <p:nvPr/>
        </p:nvSpPr>
        <p:spPr bwMode="auto">
          <a:xfrm>
            <a:off x="5292725" y="21336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MAX</a:t>
            </a:r>
          </a:p>
        </p:txBody>
      </p:sp>
      <p:grpSp>
        <p:nvGrpSpPr>
          <p:cNvPr id="76813" name="Group 35"/>
          <p:cNvGrpSpPr>
            <a:grpSpLocks noChangeAspect="1"/>
          </p:cNvGrpSpPr>
          <p:nvPr/>
        </p:nvGrpSpPr>
        <p:grpSpPr bwMode="auto">
          <a:xfrm>
            <a:off x="954088" y="4044950"/>
            <a:ext cx="1978025" cy="1795463"/>
            <a:chOff x="438" y="1309"/>
            <a:chExt cx="1937" cy="1757"/>
          </a:xfrm>
        </p:grpSpPr>
        <p:sp>
          <p:nvSpPr>
            <p:cNvPr id="76885" name="Freeform 36"/>
            <p:cNvSpPr>
              <a:spLocks noChangeAspect="1"/>
            </p:cNvSpPr>
            <p:nvPr/>
          </p:nvSpPr>
          <p:spPr bwMode="auto">
            <a:xfrm>
              <a:off x="1038" y="2002"/>
              <a:ext cx="88" cy="87"/>
            </a:xfrm>
            <a:custGeom>
              <a:avLst/>
              <a:gdLst>
                <a:gd name="T0" fmla="*/ 0 w 88"/>
                <a:gd name="T1" fmla="*/ 43 h 87"/>
                <a:gd name="T2" fmla="*/ 4 w 88"/>
                <a:gd name="T3" fmla="*/ 26 h 87"/>
                <a:gd name="T4" fmla="*/ 13 w 88"/>
                <a:gd name="T5" fmla="*/ 13 h 87"/>
                <a:gd name="T6" fmla="*/ 28 w 88"/>
                <a:gd name="T7" fmla="*/ 2 h 87"/>
                <a:gd name="T8" fmla="*/ 45 w 88"/>
                <a:gd name="T9" fmla="*/ 0 h 87"/>
                <a:gd name="T10" fmla="*/ 62 w 88"/>
                <a:gd name="T11" fmla="*/ 2 h 87"/>
                <a:gd name="T12" fmla="*/ 75 w 88"/>
                <a:gd name="T13" fmla="*/ 13 h 87"/>
                <a:gd name="T14" fmla="*/ 86 w 88"/>
                <a:gd name="T15" fmla="*/ 26 h 87"/>
                <a:gd name="T16" fmla="*/ 88 w 88"/>
                <a:gd name="T17" fmla="*/ 43 h 87"/>
                <a:gd name="T18" fmla="*/ 86 w 88"/>
                <a:gd name="T19" fmla="*/ 61 h 87"/>
                <a:gd name="T20" fmla="*/ 75 w 88"/>
                <a:gd name="T21" fmla="*/ 74 h 87"/>
                <a:gd name="T22" fmla="*/ 62 w 88"/>
                <a:gd name="T23" fmla="*/ 84 h 87"/>
                <a:gd name="T24" fmla="*/ 45 w 88"/>
                <a:gd name="T25" fmla="*/ 87 h 87"/>
                <a:gd name="T26" fmla="*/ 28 w 88"/>
                <a:gd name="T27" fmla="*/ 84 h 87"/>
                <a:gd name="T28" fmla="*/ 13 w 88"/>
                <a:gd name="T29" fmla="*/ 74 h 87"/>
                <a:gd name="T30" fmla="*/ 4 w 88"/>
                <a:gd name="T31" fmla="*/ 61 h 87"/>
                <a:gd name="T32" fmla="*/ 0 w 88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7"/>
                <a:gd name="T53" fmla="*/ 88 w 88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6" y="26"/>
                  </a:lnTo>
                  <a:lnTo>
                    <a:pt x="88" y="43"/>
                  </a:lnTo>
                  <a:lnTo>
                    <a:pt x="86" y="61"/>
                  </a:lnTo>
                  <a:lnTo>
                    <a:pt x="75" y="74"/>
                  </a:lnTo>
                  <a:lnTo>
                    <a:pt x="62" y="84"/>
                  </a:lnTo>
                  <a:lnTo>
                    <a:pt x="45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86" name="Freeform 37"/>
            <p:cNvSpPr>
              <a:spLocks noChangeAspect="1"/>
            </p:cNvSpPr>
            <p:nvPr/>
          </p:nvSpPr>
          <p:spPr bwMode="auto">
            <a:xfrm>
              <a:off x="1860" y="1361"/>
              <a:ext cx="89" cy="88"/>
            </a:xfrm>
            <a:custGeom>
              <a:avLst/>
              <a:gdLst>
                <a:gd name="T0" fmla="*/ 0 w 89"/>
                <a:gd name="T1" fmla="*/ 43 h 88"/>
                <a:gd name="T2" fmla="*/ 4 w 89"/>
                <a:gd name="T3" fmla="*/ 26 h 88"/>
                <a:gd name="T4" fmla="*/ 13 w 89"/>
                <a:gd name="T5" fmla="*/ 13 h 88"/>
                <a:gd name="T6" fmla="*/ 28 w 89"/>
                <a:gd name="T7" fmla="*/ 2 h 88"/>
                <a:gd name="T8" fmla="*/ 45 w 89"/>
                <a:gd name="T9" fmla="*/ 0 h 88"/>
                <a:gd name="T10" fmla="*/ 63 w 89"/>
                <a:gd name="T11" fmla="*/ 2 h 88"/>
                <a:gd name="T12" fmla="*/ 76 w 89"/>
                <a:gd name="T13" fmla="*/ 13 h 88"/>
                <a:gd name="T14" fmla="*/ 86 w 89"/>
                <a:gd name="T15" fmla="*/ 26 h 88"/>
                <a:gd name="T16" fmla="*/ 89 w 89"/>
                <a:gd name="T17" fmla="*/ 43 h 88"/>
                <a:gd name="T18" fmla="*/ 86 w 89"/>
                <a:gd name="T19" fmla="*/ 60 h 88"/>
                <a:gd name="T20" fmla="*/ 76 w 89"/>
                <a:gd name="T21" fmla="*/ 76 h 88"/>
                <a:gd name="T22" fmla="*/ 63 w 89"/>
                <a:gd name="T23" fmla="*/ 84 h 88"/>
                <a:gd name="T24" fmla="*/ 45 w 89"/>
                <a:gd name="T25" fmla="*/ 88 h 88"/>
                <a:gd name="T26" fmla="*/ 28 w 89"/>
                <a:gd name="T27" fmla="*/ 84 h 88"/>
                <a:gd name="T28" fmla="*/ 13 w 89"/>
                <a:gd name="T29" fmla="*/ 76 h 88"/>
                <a:gd name="T30" fmla="*/ 4 w 89"/>
                <a:gd name="T31" fmla="*/ 60 h 88"/>
                <a:gd name="T32" fmla="*/ 0 w 89"/>
                <a:gd name="T33" fmla="*/ 43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6" y="26"/>
                  </a:lnTo>
                  <a:lnTo>
                    <a:pt x="89" y="43"/>
                  </a:lnTo>
                  <a:lnTo>
                    <a:pt x="86" y="60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8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87" name="Freeform 38"/>
            <p:cNvSpPr>
              <a:spLocks noChangeAspect="1"/>
            </p:cNvSpPr>
            <p:nvPr/>
          </p:nvSpPr>
          <p:spPr bwMode="auto">
            <a:xfrm>
              <a:off x="1260" y="2875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2 h 88"/>
                <a:gd name="T6" fmla="*/ 29 w 89"/>
                <a:gd name="T7" fmla="*/ 4 h 88"/>
                <a:gd name="T8" fmla="*/ 46 w 89"/>
                <a:gd name="T9" fmla="*/ 0 h 88"/>
                <a:gd name="T10" fmla="*/ 63 w 89"/>
                <a:gd name="T11" fmla="*/ 4 h 88"/>
                <a:gd name="T12" fmla="*/ 76 w 89"/>
                <a:gd name="T13" fmla="*/ 12 h 88"/>
                <a:gd name="T14" fmla="*/ 87 w 89"/>
                <a:gd name="T15" fmla="*/ 28 h 88"/>
                <a:gd name="T16" fmla="*/ 89 w 89"/>
                <a:gd name="T17" fmla="*/ 45 h 88"/>
                <a:gd name="T18" fmla="*/ 87 w 89"/>
                <a:gd name="T19" fmla="*/ 62 h 88"/>
                <a:gd name="T20" fmla="*/ 76 w 89"/>
                <a:gd name="T21" fmla="*/ 75 h 88"/>
                <a:gd name="T22" fmla="*/ 63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2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3" y="4"/>
                  </a:lnTo>
                  <a:lnTo>
                    <a:pt x="76" y="12"/>
                  </a:lnTo>
                  <a:lnTo>
                    <a:pt x="87" y="28"/>
                  </a:lnTo>
                  <a:lnTo>
                    <a:pt x="89" y="45"/>
                  </a:lnTo>
                  <a:lnTo>
                    <a:pt x="87" y="62"/>
                  </a:lnTo>
                  <a:lnTo>
                    <a:pt x="76" y="75"/>
                  </a:lnTo>
                  <a:lnTo>
                    <a:pt x="63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88" name="Freeform 39"/>
            <p:cNvSpPr>
              <a:spLocks noChangeAspect="1"/>
            </p:cNvSpPr>
            <p:nvPr/>
          </p:nvSpPr>
          <p:spPr bwMode="auto">
            <a:xfrm>
              <a:off x="438" y="1875"/>
              <a:ext cx="87" cy="88"/>
            </a:xfrm>
            <a:custGeom>
              <a:avLst/>
              <a:gdLst>
                <a:gd name="T0" fmla="*/ 0 w 87"/>
                <a:gd name="T1" fmla="*/ 45 h 88"/>
                <a:gd name="T2" fmla="*/ 2 w 87"/>
                <a:gd name="T3" fmla="*/ 28 h 88"/>
                <a:gd name="T4" fmla="*/ 11 w 87"/>
                <a:gd name="T5" fmla="*/ 13 h 88"/>
                <a:gd name="T6" fmla="*/ 26 w 87"/>
                <a:gd name="T7" fmla="*/ 4 h 88"/>
                <a:gd name="T8" fmla="*/ 44 w 87"/>
                <a:gd name="T9" fmla="*/ 0 h 88"/>
                <a:gd name="T10" fmla="*/ 61 w 87"/>
                <a:gd name="T11" fmla="*/ 4 h 88"/>
                <a:gd name="T12" fmla="*/ 74 w 87"/>
                <a:gd name="T13" fmla="*/ 13 h 88"/>
                <a:gd name="T14" fmla="*/ 85 w 87"/>
                <a:gd name="T15" fmla="*/ 28 h 88"/>
                <a:gd name="T16" fmla="*/ 87 w 87"/>
                <a:gd name="T17" fmla="*/ 45 h 88"/>
                <a:gd name="T18" fmla="*/ 85 w 87"/>
                <a:gd name="T19" fmla="*/ 62 h 88"/>
                <a:gd name="T20" fmla="*/ 74 w 87"/>
                <a:gd name="T21" fmla="*/ 75 h 88"/>
                <a:gd name="T22" fmla="*/ 61 w 87"/>
                <a:gd name="T23" fmla="*/ 86 h 88"/>
                <a:gd name="T24" fmla="*/ 44 w 87"/>
                <a:gd name="T25" fmla="*/ 88 h 88"/>
                <a:gd name="T26" fmla="*/ 26 w 87"/>
                <a:gd name="T27" fmla="*/ 86 h 88"/>
                <a:gd name="T28" fmla="*/ 11 w 87"/>
                <a:gd name="T29" fmla="*/ 75 h 88"/>
                <a:gd name="T30" fmla="*/ 2 w 87"/>
                <a:gd name="T31" fmla="*/ 62 h 88"/>
                <a:gd name="T32" fmla="*/ 0 w 87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8"/>
                <a:gd name="T53" fmla="*/ 87 w 87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8">
                  <a:moveTo>
                    <a:pt x="0" y="45"/>
                  </a:moveTo>
                  <a:lnTo>
                    <a:pt x="2" y="28"/>
                  </a:lnTo>
                  <a:lnTo>
                    <a:pt x="11" y="13"/>
                  </a:lnTo>
                  <a:lnTo>
                    <a:pt x="26" y="4"/>
                  </a:lnTo>
                  <a:lnTo>
                    <a:pt x="44" y="0"/>
                  </a:lnTo>
                  <a:lnTo>
                    <a:pt x="61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5"/>
                  </a:lnTo>
                  <a:lnTo>
                    <a:pt x="61" y="86"/>
                  </a:lnTo>
                  <a:lnTo>
                    <a:pt x="44" y="88"/>
                  </a:lnTo>
                  <a:lnTo>
                    <a:pt x="26" y="86"/>
                  </a:lnTo>
                  <a:lnTo>
                    <a:pt x="11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89" name="Freeform 40"/>
            <p:cNvSpPr>
              <a:spLocks noChangeAspect="1"/>
            </p:cNvSpPr>
            <p:nvPr/>
          </p:nvSpPr>
          <p:spPr bwMode="auto">
            <a:xfrm>
              <a:off x="1617" y="2309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3 h 88"/>
                <a:gd name="T6" fmla="*/ 29 w 89"/>
                <a:gd name="T7" fmla="*/ 4 h 88"/>
                <a:gd name="T8" fmla="*/ 46 w 89"/>
                <a:gd name="T9" fmla="*/ 0 h 88"/>
                <a:gd name="T10" fmla="*/ 61 w 89"/>
                <a:gd name="T11" fmla="*/ 4 h 88"/>
                <a:gd name="T12" fmla="*/ 76 w 89"/>
                <a:gd name="T13" fmla="*/ 13 h 88"/>
                <a:gd name="T14" fmla="*/ 85 w 89"/>
                <a:gd name="T15" fmla="*/ 28 h 88"/>
                <a:gd name="T16" fmla="*/ 89 w 89"/>
                <a:gd name="T17" fmla="*/ 45 h 88"/>
                <a:gd name="T18" fmla="*/ 85 w 89"/>
                <a:gd name="T19" fmla="*/ 62 h 88"/>
                <a:gd name="T20" fmla="*/ 76 w 89"/>
                <a:gd name="T21" fmla="*/ 75 h 88"/>
                <a:gd name="T22" fmla="*/ 61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3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1" y="4"/>
                  </a:lnTo>
                  <a:lnTo>
                    <a:pt x="76" y="13"/>
                  </a:lnTo>
                  <a:lnTo>
                    <a:pt x="85" y="28"/>
                  </a:lnTo>
                  <a:lnTo>
                    <a:pt x="89" y="45"/>
                  </a:lnTo>
                  <a:lnTo>
                    <a:pt x="85" y="62"/>
                  </a:lnTo>
                  <a:lnTo>
                    <a:pt x="76" y="75"/>
                  </a:lnTo>
                  <a:lnTo>
                    <a:pt x="61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90" name="Freeform 41"/>
            <p:cNvSpPr>
              <a:spLocks noChangeAspect="1"/>
            </p:cNvSpPr>
            <p:nvPr/>
          </p:nvSpPr>
          <p:spPr bwMode="auto">
            <a:xfrm>
              <a:off x="2100" y="2369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5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5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91" name="Rectangle 42"/>
            <p:cNvSpPr>
              <a:spLocks noChangeAspect="1" noChangeArrowheads="1"/>
            </p:cNvSpPr>
            <p:nvPr/>
          </p:nvSpPr>
          <p:spPr bwMode="auto">
            <a:xfrm>
              <a:off x="1971" y="1309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76892" name="Rectangle 43"/>
            <p:cNvSpPr>
              <a:spLocks noChangeAspect="1" noChangeArrowheads="1"/>
            </p:cNvSpPr>
            <p:nvPr/>
          </p:nvSpPr>
          <p:spPr bwMode="auto">
            <a:xfrm>
              <a:off x="1155" y="1945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 sz="1600"/>
            </a:p>
          </p:txBody>
        </p:sp>
        <p:sp>
          <p:nvSpPr>
            <p:cNvPr id="76893" name="Rectangle 44"/>
            <p:cNvSpPr>
              <a:spLocks noChangeAspect="1" noChangeArrowheads="1"/>
            </p:cNvSpPr>
            <p:nvPr/>
          </p:nvSpPr>
          <p:spPr bwMode="auto">
            <a:xfrm>
              <a:off x="1775" y="2262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76894" name="Rectangle 45"/>
            <p:cNvSpPr>
              <a:spLocks noChangeAspect="1" noChangeArrowheads="1"/>
            </p:cNvSpPr>
            <p:nvPr/>
          </p:nvSpPr>
          <p:spPr bwMode="auto">
            <a:xfrm>
              <a:off x="1388" y="2827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 sz="1600"/>
            </a:p>
          </p:txBody>
        </p:sp>
        <p:sp>
          <p:nvSpPr>
            <p:cNvPr id="76895" name="Rectangle 46"/>
            <p:cNvSpPr>
              <a:spLocks noChangeAspect="1" noChangeArrowheads="1"/>
            </p:cNvSpPr>
            <p:nvPr/>
          </p:nvSpPr>
          <p:spPr bwMode="auto">
            <a:xfrm>
              <a:off x="572" y="1817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 sz="1600"/>
            </a:p>
          </p:txBody>
        </p:sp>
        <p:sp>
          <p:nvSpPr>
            <p:cNvPr id="76896" name="Rectangle 47"/>
            <p:cNvSpPr>
              <a:spLocks noChangeAspect="1" noChangeArrowheads="1"/>
            </p:cNvSpPr>
            <p:nvPr/>
          </p:nvSpPr>
          <p:spPr bwMode="auto">
            <a:xfrm>
              <a:off x="2275" y="2316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 sz="1600"/>
            </a:p>
          </p:txBody>
        </p:sp>
      </p:grpSp>
      <p:grpSp>
        <p:nvGrpSpPr>
          <p:cNvPr id="9" name="Group 48"/>
          <p:cNvGrpSpPr>
            <a:grpSpLocks noChangeAspect="1"/>
          </p:cNvGrpSpPr>
          <p:nvPr/>
        </p:nvGrpSpPr>
        <p:grpSpPr bwMode="auto">
          <a:xfrm>
            <a:off x="2076450" y="4951413"/>
            <a:ext cx="917575" cy="617537"/>
            <a:chOff x="1537" y="2197"/>
            <a:chExt cx="898" cy="604"/>
          </a:xfrm>
        </p:grpSpPr>
        <p:sp>
          <p:nvSpPr>
            <p:cNvPr id="76883" name="Freeform 49"/>
            <p:cNvSpPr>
              <a:spLocks noChangeAspect="1"/>
            </p:cNvSpPr>
            <p:nvPr/>
          </p:nvSpPr>
          <p:spPr bwMode="auto">
            <a:xfrm>
              <a:off x="1537" y="2197"/>
              <a:ext cx="898" cy="375"/>
            </a:xfrm>
            <a:custGeom>
              <a:avLst/>
              <a:gdLst>
                <a:gd name="T0" fmla="*/ 450 w 898"/>
                <a:gd name="T1" fmla="*/ 0 h 375"/>
                <a:gd name="T2" fmla="*/ 511 w 898"/>
                <a:gd name="T3" fmla="*/ 2 h 375"/>
                <a:gd name="T4" fmla="*/ 572 w 898"/>
                <a:gd name="T5" fmla="*/ 6 h 375"/>
                <a:gd name="T6" fmla="*/ 630 w 898"/>
                <a:gd name="T7" fmla="*/ 15 h 375"/>
                <a:gd name="T8" fmla="*/ 684 w 898"/>
                <a:gd name="T9" fmla="*/ 28 h 375"/>
                <a:gd name="T10" fmla="*/ 734 w 898"/>
                <a:gd name="T11" fmla="*/ 43 h 375"/>
                <a:gd name="T12" fmla="*/ 779 w 898"/>
                <a:gd name="T13" fmla="*/ 60 h 375"/>
                <a:gd name="T14" fmla="*/ 818 w 898"/>
                <a:gd name="T15" fmla="*/ 79 h 375"/>
                <a:gd name="T16" fmla="*/ 851 w 898"/>
                <a:gd name="T17" fmla="*/ 101 h 375"/>
                <a:gd name="T18" fmla="*/ 875 w 898"/>
                <a:gd name="T19" fmla="*/ 125 h 375"/>
                <a:gd name="T20" fmla="*/ 892 w 898"/>
                <a:gd name="T21" fmla="*/ 149 h 375"/>
                <a:gd name="T22" fmla="*/ 898 w 898"/>
                <a:gd name="T23" fmla="*/ 174 h 375"/>
                <a:gd name="T24" fmla="*/ 898 w 898"/>
                <a:gd name="T25" fmla="*/ 200 h 375"/>
                <a:gd name="T26" fmla="*/ 892 w 898"/>
                <a:gd name="T27" fmla="*/ 226 h 375"/>
                <a:gd name="T28" fmla="*/ 875 w 898"/>
                <a:gd name="T29" fmla="*/ 250 h 375"/>
                <a:gd name="T30" fmla="*/ 851 w 898"/>
                <a:gd name="T31" fmla="*/ 274 h 375"/>
                <a:gd name="T32" fmla="*/ 818 w 898"/>
                <a:gd name="T33" fmla="*/ 295 h 375"/>
                <a:gd name="T34" fmla="*/ 779 w 898"/>
                <a:gd name="T35" fmla="*/ 315 h 375"/>
                <a:gd name="T36" fmla="*/ 734 w 898"/>
                <a:gd name="T37" fmla="*/ 332 h 375"/>
                <a:gd name="T38" fmla="*/ 684 w 898"/>
                <a:gd name="T39" fmla="*/ 347 h 375"/>
                <a:gd name="T40" fmla="*/ 630 w 898"/>
                <a:gd name="T41" fmla="*/ 360 h 375"/>
                <a:gd name="T42" fmla="*/ 572 w 898"/>
                <a:gd name="T43" fmla="*/ 369 h 375"/>
                <a:gd name="T44" fmla="*/ 511 w 898"/>
                <a:gd name="T45" fmla="*/ 373 h 375"/>
                <a:gd name="T46" fmla="*/ 450 w 898"/>
                <a:gd name="T47" fmla="*/ 375 h 375"/>
                <a:gd name="T48" fmla="*/ 390 w 898"/>
                <a:gd name="T49" fmla="*/ 373 h 375"/>
                <a:gd name="T50" fmla="*/ 329 w 898"/>
                <a:gd name="T51" fmla="*/ 369 h 375"/>
                <a:gd name="T52" fmla="*/ 271 w 898"/>
                <a:gd name="T53" fmla="*/ 360 h 375"/>
                <a:gd name="T54" fmla="*/ 217 w 898"/>
                <a:gd name="T55" fmla="*/ 347 h 375"/>
                <a:gd name="T56" fmla="*/ 167 w 898"/>
                <a:gd name="T57" fmla="*/ 332 h 375"/>
                <a:gd name="T58" fmla="*/ 122 w 898"/>
                <a:gd name="T59" fmla="*/ 315 h 375"/>
                <a:gd name="T60" fmla="*/ 83 w 898"/>
                <a:gd name="T61" fmla="*/ 295 h 375"/>
                <a:gd name="T62" fmla="*/ 50 w 898"/>
                <a:gd name="T63" fmla="*/ 274 h 375"/>
                <a:gd name="T64" fmla="*/ 26 w 898"/>
                <a:gd name="T65" fmla="*/ 250 h 375"/>
                <a:gd name="T66" fmla="*/ 9 w 898"/>
                <a:gd name="T67" fmla="*/ 226 h 375"/>
                <a:gd name="T68" fmla="*/ 0 w 898"/>
                <a:gd name="T69" fmla="*/ 200 h 375"/>
                <a:gd name="T70" fmla="*/ 0 w 898"/>
                <a:gd name="T71" fmla="*/ 174 h 375"/>
                <a:gd name="T72" fmla="*/ 9 w 898"/>
                <a:gd name="T73" fmla="*/ 149 h 375"/>
                <a:gd name="T74" fmla="*/ 26 w 898"/>
                <a:gd name="T75" fmla="*/ 125 h 375"/>
                <a:gd name="T76" fmla="*/ 50 w 898"/>
                <a:gd name="T77" fmla="*/ 101 h 375"/>
                <a:gd name="T78" fmla="*/ 83 w 898"/>
                <a:gd name="T79" fmla="*/ 79 h 375"/>
                <a:gd name="T80" fmla="*/ 122 w 898"/>
                <a:gd name="T81" fmla="*/ 60 h 375"/>
                <a:gd name="T82" fmla="*/ 167 w 898"/>
                <a:gd name="T83" fmla="*/ 43 h 375"/>
                <a:gd name="T84" fmla="*/ 217 w 898"/>
                <a:gd name="T85" fmla="*/ 28 h 375"/>
                <a:gd name="T86" fmla="*/ 271 w 898"/>
                <a:gd name="T87" fmla="*/ 15 h 375"/>
                <a:gd name="T88" fmla="*/ 329 w 898"/>
                <a:gd name="T89" fmla="*/ 6 h 375"/>
                <a:gd name="T90" fmla="*/ 390 w 898"/>
                <a:gd name="T91" fmla="*/ 2 h 375"/>
                <a:gd name="T92" fmla="*/ 450 w 898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8"/>
                <a:gd name="T142" fmla="*/ 0 h 375"/>
                <a:gd name="T143" fmla="*/ 898 w 898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8" h="375">
                  <a:moveTo>
                    <a:pt x="450" y="0"/>
                  </a:moveTo>
                  <a:lnTo>
                    <a:pt x="511" y="2"/>
                  </a:lnTo>
                  <a:lnTo>
                    <a:pt x="572" y="6"/>
                  </a:lnTo>
                  <a:lnTo>
                    <a:pt x="630" y="15"/>
                  </a:lnTo>
                  <a:lnTo>
                    <a:pt x="684" y="28"/>
                  </a:lnTo>
                  <a:lnTo>
                    <a:pt x="734" y="43"/>
                  </a:lnTo>
                  <a:lnTo>
                    <a:pt x="779" y="60"/>
                  </a:lnTo>
                  <a:lnTo>
                    <a:pt x="818" y="79"/>
                  </a:lnTo>
                  <a:lnTo>
                    <a:pt x="851" y="101"/>
                  </a:lnTo>
                  <a:lnTo>
                    <a:pt x="875" y="125"/>
                  </a:lnTo>
                  <a:lnTo>
                    <a:pt x="892" y="149"/>
                  </a:lnTo>
                  <a:lnTo>
                    <a:pt x="898" y="174"/>
                  </a:lnTo>
                  <a:lnTo>
                    <a:pt x="898" y="200"/>
                  </a:lnTo>
                  <a:lnTo>
                    <a:pt x="892" y="226"/>
                  </a:lnTo>
                  <a:lnTo>
                    <a:pt x="875" y="250"/>
                  </a:lnTo>
                  <a:lnTo>
                    <a:pt x="851" y="274"/>
                  </a:lnTo>
                  <a:lnTo>
                    <a:pt x="818" y="295"/>
                  </a:lnTo>
                  <a:lnTo>
                    <a:pt x="779" y="315"/>
                  </a:lnTo>
                  <a:lnTo>
                    <a:pt x="734" y="332"/>
                  </a:lnTo>
                  <a:lnTo>
                    <a:pt x="684" y="347"/>
                  </a:lnTo>
                  <a:lnTo>
                    <a:pt x="630" y="360"/>
                  </a:lnTo>
                  <a:lnTo>
                    <a:pt x="572" y="369"/>
                  </a:lnTo>
                  <a:lnTo>
                    <a:pt x="511" y="373"/>
                  </a:lnTo>
                  <a:lnTo>
                    <a:pt x="450" y="375"/>
                  </a:lnTo>
                  <a:lnTo>
                    <a:pt x="390" y="373"/>
                  </a:lnTo>
                  <a:lnTo>
                    <a:pt x="329" y="369"/>
                  </a:lnTo>
                  <a:lnTo>
                    <a:pt x="271" y="360"/>
                  </a:lnTo>
                  <a:lnTo>
                    <a:pt x="217" y="347"/>
                  </a:lnTo>
                  <a:lnTo>
                    <a:pt x="167" y="332"/>
                  </a:lnTo>
                  <a:lnTo>
                    <a:pt x="122" y="315"/>
                  </a:lnTo>
                  <a:lnTo>
                    <a:pt x="83" y="295"/>
                  </a:lnTo>
                  <a:lnTo>
                    <a:pt x="50" y="274"/>
                  </a:lnTo>
                  <a:lnTo>
                    <a:pt x="26" y="250"/>
                  </a:lnTo>
                  <a:lnTo>
                    <a:pt x="9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9" y="149"/>
                  </a:lnTo>
                  <a:lnTo>
                    <a:pt x="26" y="125"/>
                  </a:lnTo>
                  <a:lnTo>
                    <a:pt x="50" y="101"/>
                  </a:lnTo>
                  <a:lnTo>
                    <a:pt x="83" y="79"/>
                  </a:lnTo>
                  <a:lnTo>
                    <a:pt x="122" y="60"/>
                  </a:lnTo>
                  <a:lnTo>
                    <a:pt x="167" y="43"/>
                  </a:lnTo>
                  <a:lnTo>
                    <a:pt x="217" y="28"/>
                  </a:lnTo>
                  <a:lnTo>
                    <a:pt x="271" y="15"/>
                  </a:lnTo>
                  <a:lnTo>
                    <a:pt x="329" y="6"/>
                  </a:lnTo>
                  <a:lnTo>
                    <a:pt x="390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84" name="Rectangle 50"/>
            <p:cNvSpPr>
              <a:spLocks noChangeAspect="1" noChangeArrowheads="1"/>
            </p:cNvSpPr>
            <p:nvPr/>
          </p:nvSpPr>
          <p:spPr bwMode="auto">
            <a:xfrm>
              <a:off x="1910" y="2562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1</a:t>
              </a:r>
              <a:endParaRPr lang="en-US" altLang="en-US" sz="1600"/>
            </a:p>
          </p:txBody>
        </p:sp>
      </p:grpSp>
      <p:grpSp>
        <p:nvGrpSpPr>
          <p:cNvPr id="10" name="Group 51"/>
          <p:cNvGrpSpPr>
            <a:grpSpLocks noChangeAspect="1"/>
          </p:cNvGrpSpPr>
          <p:nvPr/>
        </p:nvGrpSpPr>
        <p:grpSpPr bwMode="auto">
          <a:xfrm>
            <a:off x="893763" y="4322763"/>
            <a:ext cx="1035050" cy="582612"/>
            <a:chOff x="380" y="1581"/>
            <a:chExt cx="1012" cy="570"/>
          </a:xfrm>
        </p:grpSpPr>
        <p:sp>
          <p:nvSpPr>
            <p:cNvPr id="76881" name="Freeform 52"/>
            <p:cNvSpPr>
              <a:spLocks noChangeAspect="1"/>
            </p:cNvSpPr>
            <p:nvPr/>
          </p:nvSpPr>
          <p:spPr bwMode="auto">
            <a:xfrm>
              <a:off x="380" y="1760"/>
              <a:ext cx="1012" cy="391"/>
            </a:xfrm>
            <a:custGeom>
              <a:avLst/>
              <a:gdLst>
                <a:gd name="T0" fmla="*/ 523 w 1012"/>
                <a:gd name="T1" fmla="*/ 5 h 391"/>
                <a:gd name="T2" fmla="*/ 586 w 1012"/>
                <a:gd name="T3" fmla="*/ 11 h 391"/>
                <a:gd name="T4" fmla="*/ 649 w 1012"/>
                <a:gd name="T5" fmla="*/ 22 h 391"/>
                <a:gd name="T6" fmla="*/ 707 w 1012"/>
                <a:gd name="T7" fmla="*/ 35 h 391"/>
                <a:gd name="T8" fmla="*/ 766 w 1012"/>
                <a:gd name="T9" fmla="*/ 50 h 391"/>
                <a:gd name="T10" fmla="*/ 818 w 1012"/>
                <a:gd name="T11" fmla="*/ 67 h 391"/>
                <a:gd name="T12" fmla="*/ 865 w 1012"/>
                <a:gd name="T13" fmla="*/ 87 h 391"/>
                <a:gd name="T14" fmla="*/ 906 w 1012"/>
                <a:gd name="T15" fmla="*/ 108 h 391"/>
                <a:gd name="T16" fmla="*/ 943 w 1012"/>
                <a:gd name="T17" fmla="*/ 130 h 391"/>
                <a:gd name="T18" fmla="*/ 971 w 1012"/>
                <a:gd name="T19" fmla="*/ 154 h 391"/>
                <a:gd name="T20" fmla="*/ 993 w 1012"/>
                <a:gd name="T21" fmla="*/ 180 h 391"/>
                <a:gd name="T22" fmla="*/ 1006 w 1012"/>
                <a:gd name="T23" fmla="*/ 203 h 391"/>
                <a:gd name="T24" fmla="*/ 1012 w 1012"/>
                <a:gd name="T25" fmla="*/ 227 h 391"/>
                <a:gd name="T26" fmla="*/ 1010 w 1012"/>
                <a:gd name="T27" fmla="*/ 251 h 391"/>
                <a:gd name="T28" fmla="*/ 999 w 1012"/>
                <a:gd name="T29" fmla="*/ 275 h 391"/>
                <a:gd name="T30" fmla="*/ 982 w 1012"/>
                <a:gd name="T31" fmla="*/ 296 h 391"/>
                <a:gd name="T32" fmla="*/ 956 w 1012"/>
                <a:gd name="T33" fmla="*/ 318 h 391"/>
                <a:gd name="T34" fmla="*/ 924 w 1012"/>
                <a:gd name="T35" fmla="*/ 335 h 391"/>
                <a:gd name="T36" fmla="*/ 885 w 1012"/>
                <a:gd name="T37" fmla="*/ 352 h 391"/>
                <a:gd name="T38" fmla="*/ 842 w 1012"/>
                <a:gd name="T39" fmla="*/ 365 h 391"/>
                <a:gd name="T40" fmla="*/ 790 w 1012"/>
                <a:gd name="T41" fmla="*/ 376 h 391"/>
                <a:gd name="T42" fmla="*/ 736 w 1012"/>
                <a:gd name="T43" fmla="*/ 385 h 391"/>
                <a:gd name="T44" fmla="*/ 677 w 1012"/>
                <a:gd name="T45" fmla="*/ 389 h 391"/>
                <a:gd name="T46" fmla="*/ 616 w 1012"/>
                <a:gd name="T47" fmla="*/ 391 h 391"/>
                <a:gd name="T48" fmla="*/ 554 w 1012"/>
                <a:gd name="T49" fmla="*/ 391 h 391"/>
                <a:gd name="T50" fmla="*/ 489 w 1012"/>
                <a:gd name="T51" fmla="*/ 387 h 391"/>
                <a:gd name="T52" fmla="*/ 426 w 1012"/>
                <a:gd name="T53" fmla="*/ 380 h 391"/>
                <a:gd name="T54" fmla="*/ 363 w 1012"/>
                <a:gd name="T55" fmla="*/ 370 h 391"/>
                <a:gd name="T56" fmla="*/ 305 w 1012"/>
                <a:gd name="T57" fmla="*/ 357 h 391"/>
                <a:gd name="T58" fmla="*/ 249 w 1012"/>
                <a:gd name="T59" fmla="*/ 342 h 391"/>
                <a:gd name="T60" fmla="*/ 195 w 1012"/>
                <a:gd name="T61" fmla="*/ 324 h 391"/>
                <a:gd name="T62" fmla="*/ 147 w 1012"/>
                <a:gd name="T63" fmla="*/ 305 h 391"/>
                <a:gd name="T64" fmla="*/ 106 w 1012"/>
                <a:gd name="T65" fmla="*/ 283 h 391"/>
                <a:gd name="T66" fmla="*/ 69 w 1012"/>
                <a:gd name="T67" fmla="*/ 262 h 391"/>
                <a:gd name="T68" fmla="*/ 41 w 1012"/>
                <a:gd name="T69" fmla="*/ 238 h 391"/>
                <a:gd name="T70" fmla="*/ 19 w 1012"/>
                <a:gd name="T71" fmla="*/ 212 h 391"/>
                <a:gd name="T72" fmla="*/ 6 w 1012"/>
                <a:gd name="T73" fmla="*/ 188 h 391"/>
                <a:gd name="T74" fmla="*/ 0 w 1012"/>
                <a:gd name="T75" fmla="*/ 164 h 391"/>
                <a:gd name="T76" fmla="*/ 2 w 1012"/>
                <a:gd name="T77" fmla="*/ 139 h 391"/>
                <a:gd name="T78" fmla="*/ 13 w 1012"/>
                <a:gd name="T79" fmla="*/ 117 h 391"/>
                <a:gd name="T80" fmla="*/ 30 w 1012"/>
                <a:gd name="T81" fmla="*/ 95 h 391"/>
                <a:gd name="T82" fmla="*/ 56 w 1012"/>
                <a:gd name="T83" fmla="*/ 74 h 391"/>
                <a:gd name="T84" fmla="*/ 89 w 1012"/>
                <a:gd name="T85" fmla="*/ 57 h 391"/>
                <a:gd name="T86" fmla="*/ 128 w 1012"/>
                <a:gd name="T87" fmla="*/ 39 h 391"/>
                <a:gd name="T88" fmla="*/ 171 w 1012"/>
                <a:gd name="T89" fmla="*/ 26 h 391"/>
                <a:gd name="T90" fmla="*/ 223 w 1012"/>
                <a:gd name="T91" fmla="*/ 16 h 391"/>
                <a:gd name="T92" fmla="*/ 277 w 1012"/>
                <a:gd name="T93" fmla="*/ 7 h 391"/>
                <a:gd name="T94" fmla="*/ 335 w 1012"/>
                <a:gd name="T95" fmla="*/ 3 h 391"/>
                <a:gd name="T96" fmla="*/ 396 w 1012"/>
                <a:gd name="T97" fmla="*/ 0 h 391"/>
                <a:gd name="T98" fmla="*/ 459 w 1012"/>
                <a:gd name="T99" fmla="*/ 0 h 391"/>
                <a:gd name="T100" fmla="*/ 523 w 1012"/>
                <a:gd name="T101" fmla="*/ 5 h 39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12"/>
                <a:gd name="T154" fmla="*/ 0 h 391"/>
                <a:gd name="T155" fmla="*/ 1012 w 1012"/>
                <a:gd name="T156" fmla="*/ 391 h 39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12" h="391">
                  <a:moveTo>
                    <a:pt x="523" y="5"/>
                  </a:moveTo>
                  <a:lnTo>
                    <a:pt x="586" y="11"/>
                  </a:lnTo>
                  <a:lnTo>
                    <a:pt x="649" y="22"/>
                  </a:lnTo>
                  <a:lnTo>
                    <a:pt x="707" y="35"/>
                  </a:lnTo>
                  <a:lnTo>
                    <a:pt x="766" y="50"/>
                  </a:lnTo>
                  <a:lnTo>
                    <a:pt x="818" y="67"/>
                  </a:lnTo>
                  <a:lnTo>
                    <a:pt x="865" y="87"/>
                  </a:lnTo>
                  <a:lnTo>
                    <a:pt x="906" y="108"/>
                  </a:lnTo>
                  <a:lnTo>
                    <a:pt x="943" y="130"/>
                  </a:lnTo>
                  <a:lnTo>
                    <a:pt x="971" y="154"/>
                  </a:lnTo>
                  <a:lnTo>
                    <a:pt x="993" y="180"/>
                  </a:lnTo>
                  <a:lnTo>
                    <a:pt x="1006" y="203"/>
                  </a:lnTo>
                  <a:lnTo>
                    <a:pt x="1012" y="227"/>
                  </a:lnTo>
                  <a:lnTo>
                    <a:pt x="1010" y="251"/>
                  </a:lnTo>
                  <a:lnTo>
                    <a:pt x="999" y="275"/>
                  </a:lnTo>
                  <a:lnTo>
                    <a:pt x="982" y="296"/>
                  </a:lnTo>
                  <a:lnTo>
                    <a:pt x="956" y="318"/>
                  </a:lnTo>
                  <a:lnTo>
                    <a:pt x="924" y="335"/>
                  </a:lnTo>
                  <a:lnTo>
                    <a:pt x="885" y="352"/>
                  </a:lnTo>
                  <a:lnTo>
                    <a:pt x="842" y="365"/>
                  </a:lnTo>
                  <a:lnTo>
                    <a:pt x="790" y="376"/>
                  </a:lnTo>
                  <a:lnTo>
                    <a:pt x="736" y="385"/>
                  </a:lnTo>
                  <a:lnTo>
                    <a:pt x="677" y="389"/>
                  </a:lnTo>
                  <a:lnTo>
                    <a:pt x="616" y="391"/>
                  </a:lnTo>
                  <a:lnTo>
                    <a:pt x="554" y="391"/>
                  </a:lnTo>
                  <a:lnTo>
                    <a:pt x="489" y="387"/>
                  </a:lnTo>
                  <a:lnTo>
                    <a:pt x="426" y="380"/>
                  </a:lnTo>
                  <a:lnTo>
                    <a:pt x="363" y="370"/>
                  </a:lnTo>
                  <a:lnTo>
                    <a:pt x="305" y="357"/>
                  </a:lnTo>
                  <a:lnTo>
                    <a:pt x="249" y="342"/>
                  </a:lnTo>
                  <a:lnTo>
                    <a:pt x="195" y="324"/>
                  </a:lnTo>
                  <a:lnTo>
                    <a:pt x="147" y="305"/>
                  </a:lnTo>
                  <a:lnTo>
                    <a:pt x="106" y="283"/>
                  </a:lnTo>
                  <a:lnTo>
                    <a:pt x="69" y="262"/>
                  </a:lnTo>
                  <a:lnTo>
                    <a:pt x="41" y="238"/>
                  </a:lnTo>
                  <a:lnTo>
                    <a:pt x="19" y="212"/>
                  </a:lnTo>
                  <a:lnTo>
                    <a:pt x="6" y="188"/>
                  </a:lnTo>
                  <a:lnTo>
                    <a:pt x="0" y="164"/>
                  </a:lnTo>
                  <a:lnTo>
                    <a:pt x="2" y="139"/>
                  </a:lnTo>
                  <a:lnTo>
                    <a:pt x="13" y="117"/>
                  </a:lnTo>
                  <a:lnTo>
                    <a:pt x="30" y="95"/>
                  </a:lnTo>
                  <a:lnTo>
                    <a:pt x="56" y="74"/>
                  </a:lnTo>
                  <a:lnTo>
                    <a:pt x="89" y="57"/>
                  </a:lnTo>
                  <a:lnTo>
                    <a:pt x="128" y="39"/>
                  </a:lnTo>
                  <a:lnTo>
                    <a:pt x="171" y="26"/>
                  </a:lnTo>
                  <a:lnTo>
                    <a:pt x="223" y="16"/>
                  </a:lnTo>
                  <a:lnTo>
                    <a:pt x="277" y="7"/>
                  </a:lnTo>
                  <a:lnTo>
                    <a:pt x="335" y="3"/>
                  </a:lnTo>
                  <a:lnTo>
                    <a:pt x="396" y="0"/>
                  </a:lnTo>
                  <a:lnTo>
                    <a:pt x="459" y="0"/>
                  </a:lnTo>
                  <a:lnTo>
                    <a:pt x="523" y="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82" name="Rectangle 53"/>
            <p:cNvSpPr>
              <a:spLocks noChangeAspect="1" noChangeArrowheads="1"/>
            </p:cNvSpPr>
            <p:nvPr/>
          </p:nvSpPr>
          <p:spPr bwMode="auto">
            <a:xfrm>
              <a:off x="914" y="1581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2</a:t>
              </a:r>
              <a:endParaRPr lang="en-US" altLang="en-US" sz="1600"/>
            </a:p>
          </p:txBody>
        </p:sp>
      </p:grpSp>
      <p:grpSp>
        <p:nvGrpSpPr>
          <p:cNvPr id="11" name="Group 54"/>
          <p:cNvGrpSpPr>
            <a:grpSpLocks noChangeAspect="1"/>
          </p:cNvGrpSpPr>
          <p:nvPr/>
        </p:nvGrpSpPr>
        <p:grpSpPr bwMode="auto">
          <a:xfrm>
            <a:off x="668338" y="3886200"/>
            <a:ext cx="2578100" cy="2286000"/>
            <a:chOff x="159" y="1154"/>
            <a:chExt cx="2523" cy="2237"/>
          </a:xfrm>
        </p:grpSpPr>
        <p:sp>
          <p:nvSpPr>
            <p:cNvPr id="76879" name="Rectangle 55"/>
            <p:cNvSpPr>
              <a:spLocks noChangeAspect="1" noChangeArrowheads="1"/>
            </p:cNvSpPr>
            <p:nvPr/>
          </p:nvSpPr>
          <p:spPr bwMode="auto">
            <a:xfrm>
              <a:off x="2186" y="1166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76880" name="Freeform 56"/>
            <p:cNvSpPr>
              <a:spLocks noChangeAspect="1"/>
            </p:cNvSpPr>
            <p:nvPr/>
          </p:nvSpPr>
          <p:spPr bwMode="auto">
            <a:xfrm>
              <a:off x="159" y="1154"/>
              <a:ext cx="2523" cy="2237"/>
            </a:xfrm>
            <a:custGeom>
              <a:avLst/>
              <a:gdLst>
                <a:gd name="T0" fmla="*/ 1363 w 2523"/>
                <a:gd name="T1" fmla="*/ 2 h 2237"/>
                <a:gd name="T2" fmla="*/ 1569 w 2523"/>
                <a:gd name="T3" fmla="*/ 32 h 2237"/>
                <a:gd name="T4" fmla="*/ 1766 w 2523"/>
                <a:gd name="T5" fmla="*/ 93 h 2237"/>
                <a:gd name="T6" fmla="*/ 1950 w 2523"/>
                <a:gd name="T7" fmla="*/ 179 h 2237"/>
                <a:gd name="T8" fmla="*/ 2114 w 2523"/>
                <a:gd name="T9" fmla="*/ 293 h 2237"/>
                <a:gd name="T10" fmla="*/ 2255 w 2523"/>
                <a:gd name="T11" fmla="*/ 429 h 2237"/>
                <a:gd name="T12" fmla="*/ 2369 w 2523"/>
                <a:gd name="T13" fmla="*/ 583 h 2237"/>
                <a:gd name="T14" fmla="*/ 2454 w 2523"/>
                <a:gd name="T15" fmla="*/ 753 h 2237"/>
                <a:gd name="T16" fmla="*/ 2506 w 2523"/>
                <a:gd name="T17" fmla="*/ 930 h 2237"/>
                <a:gd name="T18" fmla="*/ 2523 w 2523"/>
                <a:gd name="T19" fmla="*/ 1116 h 2237"/>
                <a:gd name="T20" fmla="*/ 2506 w 2523"/>
                <a:gd name="T21" fmla="*/ 1299 h 2237"/>
                <a:gd name="T22" fmla="*/ 2454 w 2523"/>
                <a:gd name="T23" fmla="*/ 1479 h 2237"/>
                <a:gd name="T24" fmla="*/ 2372 w 2523"/>
                <a:gd name="T25" fmla="*/ 1647 h 2237"/>
                <a:gd name="T26" fmla="*/ 2257 w 2523"/>
                <a:gd name="T27" fmla="*/ 1803 h 2237"/>
                <a:gd name="T28" fmla="*/ 2116 w 2523"/>
                <a:gd name="T29" fmla="*/ 1939 h 2237"/>
                <a:gd name="T30" fmla="*/ 1952 w 2523"/>
                <a:gd name="T31" fmla="*/ 2053 h 2237"/>
                <a:gd name="T32" fmla="*/ 1770 w 2523"/>
                <a:gd name="T33" fmla="*/ 2142 h 2237"/>
                <a:gd name="T34" fmla="*/ 1573 w 2523"/>
                <a:gd name="T35" fmla="*/ 2202 h 2237"/>
                <a:gd name="T36" fmla="*/ 1368 w 2523"/>
                <a:gd name="T37" fmla="*/ 2232 h 2237"/>
                <a:gd name="T38" fmla="*/ 1160 w 2523"/>
                <a:gd name="T39" fmla="*/ 2232 h 2237"/>
                <a:gd name="T40" fmla="*/ 954 w 2523"/>
                <a:gd name="T41" fmla="*/ 2202 h 2237"/>
                <a:gd name="T42" fmla="*/ 757 w 2523"/>
                <a:gd name="T43" fmla="*/ 2144 h 2237"/>
                <a:gd name="T44" fmla="*/ 574 w 2523"/>
                <a:gd name="T45" fmla="*/ 2055 h 2237"/>
                <a:gd name="T46" fmla="*/ 409 w 2523"/>
                <a:gd name="T47" fmla="*/ 1943 h 2237"/>
                <a:gd name="T48" fmla="*/ 268 w 2523"/>
                <a:gd name="T49" fmla="*/ 1807 h 2237"/>
                <a:gd name="T50" fmla="*/ 154 w 2523"/>
                <a:gd name="T51" fmla="*/ 1651 h 2237"/>
                <a:gd name="T52" fmla="*/ 69 w 2523"/>
                <a:gd name="T53" fmla="*/ 1483 h 2237"/>
                <a:gd name="T54" fmla="*/ 17 w 2523"/>
                <a:gd name="T55" fmla="*/ 1304 h 2237"/>
                <a:gd name="T56" fmla="*/ 0 w 2523"/>
                <a:gd name="T57" fmla="*/ 1120 h 2237"/>
                <a:gd name="T58" fmla="*/ 17 w 2523"/>
                <a:gd name="T59" fmla="*/ 935 h 2237"/>
                <a:gd name="T60" fmla="*/ 69 w 2523"/>
                <a:gd name="T61" fmla="*/ 755 h 2237"/>
                <a:gd name="T62" fmla="*/ 152 w 2523"/>
                <a:gd name="T63" fmla="*/ 587 h 2237"/>
                <a:gd name="T64" fmla="*/ 266 w 2523"/>
                <a:gd name="T65" fmla="*/ 431 h 2237"/>
                <a:gd name="T66" fmla="*/ 407 w 2523"/>
                <a:gd name="T67" fmla="*/ 295 h 2237"/>
                <a:gd name="T68" fmla="*/ 571 w 2523"/>
                <a:gd name="T69" fmla="*/ 183 h 2237"/>
                <a:gd name="T70" fmla="*/ 753 w 2523"/>
                <a:gd name="T71" fmla="*/ 95 h 2237"/>
                <a:gd name="T72" fmla="*/ 950 w 2523"/>
                <a:gd name="T73" fmla="*/ 34 h 2237"/>
                <a:gd name="T74" fmla="*/ 1156 w 2523"/>
                <a:gd name="T75" fmla="*/ 4 h 223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3"/>
                <a:gd name="T115" fmla="*/ 0 h 2237"/>
                <a:gd name="T116" fmla="*/ 2523 w 2523"/>
                <a:gd name="T117" fmla="*/ 2237 h 223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3" h="2237">
                  <a:moveTo>
                    <a:pt x="1259" y="0"/>
                  </a:moveTo>
                  <a:lnTo>
                    <a:pt x="1363" y="2"/>
                  </a:lnTo>
                  <a:lnTo>
                    <a:pt x="1467" y="15"/>
                  </a:lnTo>
                  <a:lnTo>
                    <a:pt x="1569" y="32"/>
                  </a:lnTo>
                  <a:lnTo>
                    <a:pt x="1668" y="58"/>
                  </a:lnTo>
                  <a:lnTo>
                    <a:pt x="1766" y="93"/>
                  </a:lnTo>
                  <a:lnTo>
                    <a:pt x="1861" y="134"/>
                  </a:lnTo>
                  <a:lnTo>
                    <a:pt x="1950" y="179"/>
                  </a:lnTo>
                  <a:lnTo>
                    <a:pt x="2034" y="233"/>
                  </a:lnTo>
                  <a:lnTo>
                    <a:pt x="2114" y="293"/>
                  </a:lnTo>
                  <a:lnTo>
                    <a:pt x="2188" y="358"/>
                  </a:lnTo>
                  <a:lnTo>
                    <a:pt x="2255" y="429"/>
                  </a:lnTo>
                  <a:lnTo>
                    <a:pt x="2315" y="505"/>
                  </a:lnTo>
                  <a:lnTo>
                    <a:pt x="2369" y="583"/>
                  </a:lnTo>
                  <a:lnTo>
                    <a:pt x="2415" y="667"/>
                  </a:lnTo>
                  <a:lnTo>
                    <a:pt x="2454" y="753"/>
                  </a:lnTo>
                  <a:lnTo>
                    <a:pt x="2484" y="842"/>
                  </a:lnTo>
                  <a:lnTo>
                    <a:pt x="2506" y="930"/>
                  </a:lnTo>
                  <a:lnTo>
                    <a:pt x="2519" y="1023"/>
                  </a:lnTo>
                  <a:lnTo>
                    <a:pt x="2523" y="1116"/>
                  </a:lnTo>
                  <a:lnTo>
                    <a:pt x="2519" y="1209"/>
                  </a:lnTo>
                  <a:lnTo>
                    <a:pt x="2506" y="1299"/>
                  </a:lnTo>
                  <a:lnTo>
                    <a:pt x="2484" y="1390"/>
                  </a:lnTo>
                  <a:lnTo>
                    <a:pt x="2454" y="1479"/>
                  </a:lnTo>
                  <a:lnTo>
                    <a:pt x="2417" y="1565"/>
                  </a:lnTo>
                  <a:lnTo>
                    <a:pt x="2372" y="1647"/>
                  </a:lnTo>
                  <a:lnTo>
                    <a:pt x="2317" y="1727"/>
                  </a:lnTo>
                  <a:lnTo>
                    <a:pt x="2257" y="1803"/>
                  </a:lnTo>
                  <a:lnTo>
                    <a:pt x="2190" y="1874"/>
                  </a:lnTo>
                  <a:lnTo>
                    <a:pt x="2116" y="1939"/>
                  </a:lnTo>
                  <a:lnTo>
                    <a:pt x="2038" y="1999"/>
                  </a:lnTo>
                  <a:lnTo>
                    <a:pt x="1952" y="2053"/>
                  </a:lnTo>
                  <a:lnTo>
                    <a:pt x="1863" y="2101"/>
                  </a:lnTo>
                  <a:lnTo>
                    <a:pt x="1770" y="2142"/>
                  </a:lnTo>
                  <a:lnTo>
                    <a:pt x="1673" y="2174"/>
                  </a:lnTo>
                  <a:lnTo>
                    <a:pt x="1573" y="2202"/>
                  </a:lnTo>
                  <a:lnTo>
                    <a:pt x="1471" y="2221"/>
                  </a:lnTo>
                  <a:lnTo>
                    <a:pt x="1368" y="2232"/>
                  </a:lnTo>
                  <a:lnTo>
                    <a:pt x="1264" y="2237"/>
                  </a:lnTo>
                  <a:lnTo>
                    <a:pt x="1160" y="2232"/>
                  </a:lnTo>
                  <a:lnTo>
                    <a:pt x="1056" y="2221"/>
                  </a:lnTo>
                  <a:lnTo>
                    <a:pt x="954" y="2202"/>
                  </a:lnTo>
                  <a:lnTo>
                    <a:pt x="855" y="2176"/>
                  </a:lnTo>
                  <a:lnTo>
                    <a:pt x="757" y="2144"/>
                  </a:lnTo>
                  <a:lnTo>
                    <a:pt x="662" y="2103"/>
                  </a:lnTo>
                  <a:lnTo>
                    <a:pt x="574" y="2055"/>
                  </a:lnTo>
                  <a:lnTo>
                    <a:pt x="489" y="2001"/>
                  </a:lnTo>
                  <a:lnTo>
                    <a:pt x="409" y="1943"/>
                  </a:lnTo>
                  <a:lnTo>
                    <a:pt x="336" y="1876"/>
                  </a:lnTo>
                  <a:lnTo>
                    <a:pt x="268" y="1807"/>
                  </a:lnTo>
                  <a:lnTo>
                    <a:pt x="208" y="1731"/>
                  </a:lnTo>
                  <a:lnTo>
                    <a:pt x="154" y="1651"/>
                  </a:lnTo>
                  <a:lnTo>
                    <a:pt x="108" y="1569"/>
                  </a:lnTo>
                  <a:lnTo>
                    <a:pt x="69" y="1483"/>
                  </a:lnTo>
                  <a:lnTo>
                    <a:pt x="39" y="1394"/>
                  </a:lnTo>
                  <a:lnTo>
                    <a:pt x="17" y="1304"/>
                  </a:lnTo>
                  <a:lnTo>
                    <a:pt x="4" y="1213"/>
                  </a:lnTo>
                  <a:lnTo>
                    <a:pt x="0" y="1120"/>
                  </a:lnTo>
                  <a:lnTo>
                    <a:pt x="4" y="1027"/>
                  </a:lnTo>
                  <a:lnTo>
                    <a:pt x="17" y="935"/>
                  </a:lnTo>
                  <a:lnTo>
                    <a:pt x="39" y="846"/>
                  </a:lnTo>
                  <a:lnTo>
                    <a:pt x="69" y="755"/>
                  </a:lnTo>
                  <a:lnTo>
                    <a:pt x="106" y="671"/>
                  </a:lnTo>
                  <a:lnTo>
                    <a:pt x="152" y="587"/>
                  </a:lnTo>
                  <a:lnTo>
                    <a:pt x="206" y="507"/>
                  </a:lnTo>
                  <a:lnTo>
                    <a:pt x="266" y="431"/>
                  </a:lnTo>
                  <a:lnTo>
                    <a:pt x="333" y="362"/>
                  </a:lnTo>
                  <a:lnTo>
                    <a:pt x="407" y="295"/>
                  </a:lnTo>
                  <a:lnTo>
                    <a:pt x="485" y="237"/>
                  </a:lnTo>
                  <a:lnTo>
                    <a:pt x="571" y="183"/>
                  </a:lnTo>
                  <a:lnTo>
                    <a:pt x="660" y="136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50" y="34"/>
                  </a:lnTo>
                  <a:lnTo>
                    <a:pt x="1052" y="15"/>
                  </a:lnTo>
                  <a:lnTo>
                    <a:pt x="1156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57"/>
          <p:cNvGrpSpPr>
            <a:grpSpLocks noChangeAspect="1"/>
          </p:cNvGrpSpPr>
          <p:nvPr/>
        </p:nvGrpSpPr>
        <p:grpSpPr bwMode="auto">
          <a:xfrm>
            <a:off x="1665288" y="4837113"/>
            <a:ext cx="1357312" cy="1052512"/>
            <a:chOff x="1135" y="2084"/>
            <a:chExt cx="1328" cy="1030"/>
          </a:xfrm>
        </p:grpSpPr>
        <p:sp>
          <p:nvSpPr>
            <p:cNvPr id="76877" name="Rectangle 58"/>
            <p:cNvSpPr>
              <a:spLocks noChangeAspect="1" noChangeArrowheads="1"/>
            </p:cNvSpPr>
            <p:nvPr/>
          </p:nvSpPr>
          <p:spPr bwMode="auto">
            <a:xfrm>
              <a:off x="1135" y="2451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3</a:t>
              </a:r>
              <a:endParaRPr lang="en-US" altLang="en-US" sz="1600"/>
            </a:p>
          </p:txBody>
        </p:sp>
        <p:sp>
          <p:nvSpPr>
            <p:cNvPr id="76878" name="Freeform 59"/>
            <p:cNvSpPr>
              <a:spLocks noChangeAspect="1"/>
            </p:cNvSpPr>
            <p:nvPr/>
          </p:nvSpPr>
          <p:spPr bwMode="auto">
            <a:xfrm>
              <a:off x="1178" y="2084"/>
              <a:ext cx="1285" cy="1030"/>
            </a:xfrm>
            <a:custGeom>
              <a:avLst/>
              <a:gdLst>
                <a:gd name="T0" fmla="*/ 422 w 1285"/>
                <a:gd name="T1" fmla="*/ 162 h 1030"/>
                <a:gd name="T2" fmla="*/ 487 w 1285"/>
                <a:gd name="T3" fmla="*/ 123 h 1030"/>
                <a:gd name="T4" fmla="*/ 556 w 1285"/>
                <a:gd name="T5" fmla="*/ 89 h 1030"/>
                <a:gd name="T6" fmla="*/ 626 w 1285"/>
                <a:gd name="T7" fmla="*/ 61 h 1030"/>
                <a:gd name="T8" fmla="*/ 695 w 1285"/>
                <a:gd name="T9" fmla="*/ 37 h 1030"/>
                <a:gd name="T10" fmla="*/ 764 w 1285"/>
                <a:gd name="T11" fmla="*/ 18 h 1030"/>
                <a:gd name="T12" fmla="*/ 831 w 1285"/>
                <a:gd name="T13" fmla="*/ 7 h 1030"/>
                <a:gd name="T14" fmla="*/ 896 w 1285"/>
                <a:gd name="T15" fmla="*/ 0 h 1030"/>
                <a:gd name="T16" fmla="*/ 959 w 1285"/>
                <a:gd name="T17" fmla="*/ 0 h 1030"/>
                <a:gd name="T18" fmla="*/ 1017 w 1285"/>
                <a:gd name="T19" fmla="*/ 7 h 1030"/>
                <a:gd name="T20" fmla="*/ 1071 w 1285"/>
                <a:gd name="T21" fmla="*/ 18 h 1030"/>
                <a:gd name="T22" fmla="*/ 1121 w 1285"/>
                <a:gd name="T23" fmla="*/ 35 h 1030"/>
                <a:gd name="T24" fmla="*/ 1164 w 1285"/>
                <a:gd name="T25" fmla="*/ 59 h 1030"/>
                <a:gd name="T26" fmla="*/ 1203 w 1285"/>
                <a:gd name="T27" fmla="*/ 87 h 1030"/>
                <a:gd name="T28" fmla="*/ 1234 w 1285"/>
                <a:gd name="T29" fmla="*/ 121 h 1030"/>
                <a:gd name="T30" fmla="*/ 1257 w 1285"/>
                <a:gd name="T31" fmla="*/ 160 h 1030"/>
                <a:gd name="T32" fmla="*/ 1275 w 1285"/>
                <a:gd name="T33" fmla="*/ 201 h 1030"/>
                <a:gd name="T34" fmla="*/ 1283 w 1285"/>
                <a:gd name="T35" fmla="*/ 249 h 1030"/>
                <a:gd name="T36" fmla="*/ 1285 w 1285"/>
                <a:gd name="T37" fmla="*/ 298 h 1030"/>
                <a:gd name="T38" fmla="*/ 1279 w 1285"/>
                <a:gd name="T39" fmla="*/ 350 h 1030"/>
                <a:gd name="T40" fmla="*/ 1266 w 1285"/>
                <a:gd name="T41" fmla="*/ 404 h 1030"/>
                <a:gd name="T42" fmla="*/ 1247 w 1285"/>
                <a:gd name="T43" fmla="*/ 458 h 1030"/>
                <a:gd name="T44" fmla="*/ 1218 w 1285"/>
                <a:gd name="T45" fmla="*/ 514 h 1030"/>
                <a:gd name="T46" fmla="*/ 1184 w 1285"/>
                <a:gd name="T47" fmla="*/ 570 h 1030"/>
                <a:gd name="T48" fmla="*/ 1145 w 1285"/>
                <a:gd name="T49" fmla="*/ 624 h 1030"/>
                <a:gd name="T50" fmla="*/ 1097 w 1285"/>
                <a:gd name="T51" fmla="*/ 678 h 1030"/>
                <a:gd name="T52" fmla="*/ 1045 w 1285"/>
                <a:gd name="T53" fmla="*/ 730 h 1030"/>
                <a:gd name="T54" fmla="*/ 989 w 1285"/>
                <a:gd name="T55" fmla="*/ 780 h 1030"/>
                <a:gd name="T56" fmla="*/ 928 w 1285"/>
                <a:gd name="T57" fmla="*/ 827 h 1030"/>
                <a:gd name="T58" fmla="*/ 866 w 1285"/>
                <a:gd name="T59" fmla="*/ 870 h 1030"/>
                <a:gd name="T60" fmla="*/ 799 w 1285"/>
                <a:gd name="T61" fmla="*/ 907 h 1030"/>
                <a:gd name="T62" fmla="*/ 729 w 1285"/>
                <a:gd name="T63" fmla="*/ 942 h 1030"/>
                <a:gd name="T64" fmla="*/ 660 w 1285"/>
                <a:gd name="T65" fmla="*/ 972 h 1030"/>
                <a:gd name="T66" fmla="*/ 591 w 1285"/>
                <a:gd name="T67" fmla="*/ 996 h 1030"/>
                <a:gd name="T68" fmla="*/ 522 w 1285"/>
                <a:gd name="T69" fmla="*/ 1013 h 1030"/>
                <a:gd name="T70" fmla="*/ 455 w 1285"/>
                <a:gd name="T71" fmla="*/ 1026 h 1030"/>
                <a:gd name="T72" fmla="*/ 390 w 1285"/>
                <a:gd name="T73" fmla="*/ 1030 h 1030"/>
                <a:gd name="T74" fmla="*/ 327 w 1285"/>
                <a:gd name="T75" fmla="*/ 1030 h 1030"/>
                <a:gd name="T76" fmla="*/ 269 w 1285"/>
                <a:gd name="T77" fmla="*/ 1026 h 1030"/>
                <a:gd name="T78" fmla="*/ 214 w 1285"/>
                <a:gd name="T79" fmla="*/ 1013 h 1030"/>
                <a:gd name="T80" fmla="*/ 165 w 1285"/>
                <a:gd name="T81" fmla="*/ 996 h 1030"/>
                <a:gd name="T82" fmla="*/ 121 w 1285"/>
                <a:gd name="T83" fmla="*/ 972 h 1030"/>
                <a:gd name="T84" fmla="*/ 85 w 1285"/>
                <a:gd name="T85" fmla="*/ 944 h 1030"/>
                <a:gd name="T86" fmla="*/ 52 w 1285"/>
                <a:gd name="T87" fmla="*/ 909 h 1030"/>
                <a:gd name="T88" fmla="*/ 28 w 1285"/>
                <a:gd name="T89" fmla="*/ 873 h 1030"/>
                <a:gd name="T90" fmla="*/ 13 w 1285"/>
                <a:gd name="T91" fmla="*/ 829 h 1030"/>
                <a:gd name="T92" fmla="*/ 2 w 1285"/>
                <a:gd name="T93" fmla="*/ 784 h 1030"/>
                <a:gd name="T94" fmla="*/ 0 w 1285"/>
                <a:gd name="T95" fmla="*/ 734 h 1030"/>
                <a:gd name="T96" fmla="*/ 7 w 1285"/>
                <a:gd name="T97" fmla="*/ 683 h 1030"/>
                <a:gd name="T98" fmla="*/ 20 w 1285"/>
                <a:gd name="T99" fmla="*/ 629 h 1030"/>
                <a:gd name="T100" fmla="*/ 39 w 1285"/>
                <a:gd name="T101" fmla="*/ 572 h 1030"/>
                <a:gd name="T102" fmla="*/ 67 w 1285"/>
                <a:gd name="T103" fmla="*/ 516 h 1030"/>
                <a:gd name="T104" fmla="*/ 102 w 1285"/>
                <a:gd name="T105" fmla="*/ 462 h 1030"/>
                <a:gd name="T106" fmla="*/ 143 w 1285"/>
                <a:gd name="T107" fmla="*/ 406 h 1030"/>
                <a:gd name="T108" fmla="*/ 188 w 1285"/>
                <a:gd name="T109" fmla="*/ 352 h 1030"/>
                <a:gd name="T110" fmla="*/ 240 w 1285"/>
                <a:gd name="T111" fmla="*/ 300 h 1030"/>
                <a:gd name="T112" fmla="*/ 297 w 1285"/>
                <a:gd name="T113" fmla="*/ 251 h 1030"/>
                <a:gd name="T114" fmla="*/ 357 w 1285"/>
                <a:gd name="T115" fmla="*/ 205 h 1030"/>
                <a:gd name="T116" fmla="*/ 422 w 1285"/>
                <a:gd name="T117" fmla="*/ 162 h 103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285"/>
                <a:gd name="T178" fmla="*/ 0 h 1030"/>
                <a:gd name="T179" fmla="*/ 1285 w 1285"/>
                <a:gd name="T180" fmla="*/ 1030 h 103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285" h="1030">
                  <a:moveTo>
                    <a:pt x="422" y="162"/>
                  </a:moveTo>
                  <a:lnTo>
                    <a:pt x="487" y="123"/>
                  </a:lnTo>
                  <a:lnTo>
                    <a:pt x="556" y="89"/>
                  </a:lnTo>
                  <a:lnTo>
                    <a:pt x="626" y="61"/>
                  </a:lnTo>
                  <a:lnTo>
                    <a:pt x="695" y="37"/>
                  </a:lnTo>
                  <a:lnTo>
                    <a:pt x="764" y="18"/>
                  </a:lnTo>
                  <a:lnTo>
                    <a:pt x="831" y="7"/>
                  </a:lnTo>
                  <a:lnTo>
                    <a:pt x="896" y="0"/>
                  </a:lnTo>
                  <a:lnTo>
                    <a:pt x="959" y="0"/>
                  </a:lnTo>
                  <a:lnTo>
                    <a:pt x="1017" y="7"/>
                  </a:lnTo>
                  <a:lnTo>
                    <a:pt x="1071" y="18"/>
                  </a:lnTo>
                  <a:lnTo>
                    <a:pt x="1121" y="35"/>
                  </a:lnTo>
                  <a:lnTo>
                    <a:pt x="1164" y="59"/>
                  </a:lnTo>
                  <a:lnTo>
                    <a:pt x="1203" y="87"/>
                  </a:lnTo>
                  <a:lnTo>
                    <a:pt x="1234" y="121"/>
                  </a:lnTo>
                  <a:lnTo>
                    <a:pt x="1257" y="160"/>
                  </a:lnTo>
                  <a:lnTo>
                    <a:pt x="1275" y="201"/>
                  </a:lnTo>
                  <a:lnTo>
                    <a:pt x="1283" y="249"/>
                  </a:lnTo>
                  <a:lnTo>
                    <a:pt x="1285" y="298"/>
                  </a:lnTo>
                  <a:lnTo>
                    <a:pt x="1279" y="350"/>
                  </a:lnTo>
                  <a:lnTo>
                    <a:pt x="1266" y="404"/>
                  </a:lnTo>
                  <a:lnTo>
                    <a:pt x="1247" y="458"/>
                  </a:lnTo>
                  <a:lnTo>
                    <a:pt x="1218" y="514"/>
                  </a:lnTo>
                  <a:lnTo>
                    <a:pt x="1184" y="570"/>
                  </a:lnTo>
                  <a:lnTo>
                    <a:pt x="1145" y="624"/>
                  </a:lnTo>
                  <a:lnTo>
                    <a:pt x="1097" y="678"/>
                  </a:lnTo>
                  <a:lnTo>
                    <a:pt x="1045" y="730"/>
                  </a:lnTo>
                  <a:lnTo>
                    <a:pt x="989" y="780"/>
                  </a:lnTo>
                  <a:lnTo>
                    <a:pt x="928" y="827"/>
                  </a:lnTo>
                  <a:lnTo>
                    <a:pt x="866" y="870"/>
                  </a:lnTo>
                  <a:lnTo>
                    <a:pt x="799" y="907"/>
                  </a:lnTo>
                  <a:lnTo>
                    <a:pt x="729" y="942"/>
                  </a:lnTo>
                  <a:lnTo>
                    <a:pt x="660" y="972"/>
                  </a:lnTo>
                  <a:lnTo>
                    <a:pt x="591" y="996"/>
                  </a:lnTo>
                  <a:lnTo>
                    <a:pt x="522" y="1013"/>
                  </a:lnTo>
                  <a:lnTo>
                    <a:pt x="455" y="1026"/>
                  </a:lnTo>
                  <a:lnTo>
                    <a:pt x="390" y="1030"/>
                  </a:lnTo>
                  <a:lnTo>
                    <a:pt x="327" y="1030"/>
                  </a:lnTo>
                  <a:lnTo>
                    <a:pt x="269" y="1026"/>
                  </a:lnTo>
                  <a:lnTo>
                    <a:pt x="214" y="1013"/>
                  </a:lnTo>
                  <a:lnTo>
                    <a:pt x="165" y="996"/>
                  </a:lnTo>
                  <a:lnTo>
                    <a:pt x="121" y="972"/>
                  </a:lnTo>
                  <a:lnTo>
                    <a:pt x="85" y="944"/>
                  </a:lnTo>
                  <a:lnTo>
                    <a:pt x="52" y="909"/>
                  </a:lnTo>
                  <a:lnTo>
                    <a:pt x="28" y="873"/>
                  </a:lnTo>
                  <a:lnTo>
                    <a:pt x="13" y="829"/>
                  </a:lnTo>
                  <a:lnTo>
                    <a:pt x="2" y="784"/>
                  </a:lnTo>
                  <a:lnTo>
                    <a:pt x="0" y="734"/>
                  </a:lnTo>
                  <a:lnTo>
                    <a:pt x="7" y="683"/>
                  </a:lnTo>
                  <a:lnTo>
                    <a:pt x="20" y="629"/>
                  </a:lnTo>
                  <a:lnTo>
                    <a:pt x="39" y="572"/>
                  </a:lnTo>
                  <a:lnTo>
                    <a:pt x="67" y="516"/>
                  </a:lnTo>
                  <a:lnTo>
                    <a:pt x="102" y="462"/>
                  </a:lnTo>
                  <a:lnTo>
                    <a:pt x="143" y="406"/>
                  </a:lnTo>
                  <a:lnTo>
                    <a:pt x="188" y="352"/>
                  </a:lnTo>
                  <a:lnTo>
                    <a:pt x="240" y="300"/>
                  </a:lnTo>
                  <a:lnTo>
                    <a:pt x="297" y="251"/>
                  </a:lnTo>
                  <a:lnTo>
                    <a:pt x="357" y="205"/>
                  </a:lnTo>
                  <a:lnTo>
                    <a:pt x="422" y="16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60"/>
          <p:cNvGrpSpPr>
            <a:grpSpLocks noChangeAspect="1"/>
          </p:cNvGrpSpPr>
          <p:nvPr/>
        </p:nvGrpSpPr>
        <p:grpSpPr bwMode="auto">
          <a:xfrm>
            <a:off x="696913" y="4168775"/>
            <a:ext cx="2432050" cy="1789113"/>
            <a:chOff x="187" y="1430"/>
            <a:chExt cx="2380" cy="1751"/>
          </a:xfrm>
        </p:grpSpPr>
        <p:sp>
          <p:nvSpPr>
            <p:cNvPr id="76875" name="Rectangle 61"/>
            <p:cNvSpPr>
              <a:spLocks noChangeAspect="1" noChangeArrowheads="1"/>
            </p:cNvSpPr>
            <p:nvPr/>
          </p:nvSpPr>
          <p:spPr bwMode="auto">
            <a:xfrm>
              <a:off x="417" y="2643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4</a:t>
              </a:r>
              <a:endParaRPr lang="en-US" altLang="en-US" sz="1600"/>
            </a:p>
          </p:txBody>
        </p:sp>
        <p:sp>
          <p:nvSpPr>
            <p:cNvPr id="76876" name="Freeform 62"/>
            <p:cNvSpPr>
              <a:spLocks noChangeAspect="1"/>
            </p:cNvSpPr>
            <p:nvPr/>
          </p:nvSpPr>
          <p:spPr bwMode="auto">
            <a:xfrm>
              <a:off x="187" y="1430"/>
              <a:ext cx="2380" cy="1751"/>
            </a:xfrm>
            <a:custGeom>
              <a:avLst/>
              <a:gdLst>
                <a:gd name="T0" fmla="*/ 1275 w 2380"/>
                <a:gd name="T1" fmla="*/ 0 h 1751"/>
                <a:gd name="T2" fmla="*/ 1474 w 2380"/>
                <a:gd name="T3" fmla="*/ 22 h 1751"/>
                <a:gd name="T4" fmla="*/ 1664 w 2380"/>
                <a:gd name="T5" fmla="*/ 67 h 1751"/>
                <a:gd name="T6" fmla="*/ 1842 w 2380"/>
                <a:gd name="T7" fmla="*/ 136 h 1751"/>
                <a:gd name="T8" fmla="*/ 2002 w 2380"/>
                <a:gd name="T9" fmla="*/ 227 h 1751"/>
                <a:gd name="T10" fmla="*/ 2138 w 2380"/>
                <a:gd name="T11" fmla="*/ 335 h 1751"/>
                <a:gd name="T12" fmla="*/ 2246 w 2380"/>
                <a:gd name="T13" fmla="*/ 460 h 1751"/>
                <a:gd name="T14" fmla="*/ 2324 w 2380"/>
                <a:gd name="T15" fmla="*/ 596 h 1751"/>
                <a:gd name="T16" fmla="*/ 2370 w 2380"/>
                <a:gd name="T17" fmla="*/ 741 h 1751"/>
                <a:gd name="T18" fmla="*/ 2380 w 2380"/>
                <a:gd name="T19" fmla="*/ 887 h 1751"/>
                <a:gd name="T20" fmla="*/ 2359 w 2380"/>
                <a:gd name="T21" fmla="*/ 1036 h 1751"/>
                <a:gd name="T22" fmla="*/ 2302 w 2380"/>
                <a:gd name="T23" fmla="*/ 1179 h 1751"/>
                <a:gd name="T24" fmla="*/ 2214 w 2380"/>
                <a:gd name="T25" fmla="*/ 1313 h 1751"/>
                <a:gd name="T26" fmla="*/ 2097 w 2380"/>
                <a:gd name="T27" fmla="*/ 1436 h 1751"/>
                <a:gd name="T28" fmla="*/ 1954 w 2380"/>
                <a:gd name="T29" fmla="*/ 1542 h 1751"/>
                <a:gd name="T30" fmla="*/ 1787 w 2380"/>
                <a:gd name="T31" fmla="*/ 1628 h 1751"/>
                <a:gd name="T32" fmla="*/ 1606 w 2380"/>
                <a:gd name="T33" fmla="*/ 1693 h 1751"/>
                <a:gd name="T34" fmla="*/ 1411 w 2380"/>
                <a:gd name="T35" fmla="*/ 1736 h 1751"/>
                <a:gd name="T36" fmla="*/ 1210 w 2380"/>
                <a:gd name="T37" fmla="*/ 1751 h 1751"/>
                <a:gd name="T38" fmla="*/ 1009 w 2380"/>
                <a:gd name="T39" fmla="*/ 1742 h 1751"/>
                <a:gd name="T40" fmla="*/ 812 w 2380"/>
                <a:gd name="T41" fmla="*/ 1710 h 1751"/>
                <a:gd name="T42" fmla="*/ 626 w 2380"/>
                <a:gd name="T43" fmla="*/ 1652 h 1751"/>
                <a:gd name="T44" fmla="*/ 457 w 2380"/>
                <a:gd name="T45" fmla="*/ 1572 h 1751"/>
                <a:gd name="T46" fmla="*/ 310 w 2380"/>
                <a:gd name="T47" fmla="*/ 1473 h 1751"/>
                <a:gd name="T48" fmla="*/ 186 w 2380"/>
                <a:gd name="T49" fmla="*/ 1356 h 1751"/>
                <a:gd name="T50" fmla="*/ 93 w 2380"/>
                <a:gd name="T51" fmla="*/ 1226 h 1751"/>
                <a:gd name="T52" fmla="*/ 31 w 2380"/>
                <a:gd name="T53" fmla="*/ 1084 h 1751"/>
                <a:gd name="T54" fmla="*/ 2 w 2380"/>
                <a:gd name="T55" fmla="*/ 937 h 1751"/>
                <a:gd name="T56" fmla="*/ 9 w 2380"/>
                <a:gd name="T57" fmla="*/ 788 h 1751"/>
                <a:gd name="T58" fmla="*/ 48 w 2380"/>
                <a:gd name="T59" fmla="*/ 643 h 1751"/>
                <a:gd name="T60" fmla="*/ 119 w 2380"/>
                <a:gd name="T61" fmla="*/ 503 h 1751"/>
                <a:gd name="T62" fmla="*/ 223 w 2380"/>
                <a:gd name="T63" fmla="*/ 374 h 1751"/>
                <a:gd name="T64" fmla="*/ 355 w 2380"/>
                <a:gd name="T65" fmla="*/ 259 h 1751"/>
                <a:gd name="T66" fmla="*/ 509 w 2380"/>
                <a:gd name="T67" fmla="*/ 164 h 1751"/>
                <a:gd name="T68" fmla="*/ 684 w 2380"/>
                <a:gd name="T69" fmla="*/ 86 h 1751"/>
                <a:gd name="T70" fmla="*/ 874 w 2380"/>
                <a:gd name="T71" fmla="*/ 35 h 1751"/>
                <a:gd name="T72" fmla="*/ 1071 w 2380"/>
                <a:gd name="T73" fmla="*/ 4 h 175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80"/>
                <a:gd name="T112" fmla="*/ 0 h 1751"/>
                <a:gd name="T113" fmla="*/ 2380 w 2380"/>
                <a:gd name="T114" fmla="*/ 1751 h 175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80" h="1751">
                  <a:moveTo>
                    <a:pt x="1173" y="0"/>
                  </a:moveTo>
                  <a:lnTo>
                    <a:pt x="1275" y="0"/>
                  </a:lnTo>
                  <a:lnTo>
                    <a:pt x="1374" y="9"/>
                  </a:lnTo>
                  <a:lnTo>
                    <a:pt x="1474" y="22"/>
                  </a:lnTo>
                  <a:lnTo>
                    <a:pt x="1571" y="41"/>
                  </a:lnTo>
                  <a:lnTo>
                    <a:pt x="1664" y="67"/>
                  </a:lnTo>
                  <a:lnTo>
                    <a:pt x="1755" y="99"/>
                  </a:lnTo>
                  <a:lnTo>
                    <a:pt x="1842" y="136"/>
                  </a:lnTo>
                  <a:lnTo>
                    <a:pt x="1924" y="179"/>
                  </a:lnTo>
                  <a:lnTo>
                    <a:pt x="2002" y="227"/>
                  </a:lnTo>
                  <a:lnTo>
                    <a:pt x="2073" y="279"/>
                  </a:lnTo>
                  <a:lnTo>
                    <a:pt x="2138" y="335"/>
                  </a:lnTo>
                  <a:lnTo>
                    <a:pt x="2194" y="395"/>
                  </a:lnTo>
                  <a:lnTo>
                    <a:pt x="2246" y="460"/>
                  </a:lnTo>
                  <a:lnTo>
                    <a:pt x="2289" y="527"/>
                  </a:lnTo>
                  <a:lnTo>
                    <a:pt x="2324" y="596"/>
                  </a:lnTo>
                  <a:lnTo>
                    <a:pt x="2350" y="667"/>
                  </a:lnTo>
                  <a:lnTo>
                    <a:pt x="2370" y="741"/>
                  </a:lnTo>
                  <a:lnTo>
                    <a:pt x="2380" y="814"/>
                  </a:lnTo>
                  <a:lnTo>
                    <a:pt x="2380" y="887"/>
                  </a:lnTo>
                  <a:lnTo>
                    <a:pt x="2374" y="963"/>
                  </a:lnTo>
                  <a:lnTo>
                    <a:pt x="2359" y="1036"/>
                  </a:lnTo>
                  <a:lnTo>
                    <a:pt x="2335" y="1108"/>
                  </a:lnTo>
                  <a:lnTo>
                    <a:pt x="2302" y="1179"/>
                  </a:lnTo>
                  <a:lnTo>
                    <a:pt x="2261" y="1248"/>
                  </a:lnTo>
                  <a:lnTo>
                    <a:pt x="2214" y="1313"/>
                  </a:lnTo>
                  <a:lnTo>
                    <a:pt x="2160" y="1378"/>
                  </a:lnTo>
                  <a:lnTo>
                    <a:pt x="2097" y="1436"/>
                  </a:lnTo>
                  <a:lnTo>
                    <a:pt x="2028" y="1492"/>
                  </a:lnTo>
                  <a:lnTo>
                    <a:pt x="1954" y="1542"/>
                  </a:lnTo>
                  <a:lnTo>
                    <a:pt x="1872" y="1587"/>
                  </a:lnTo>
                  <a:lnTo>
                    <a:pt x="1787" y="1628"/>
                  </a:lnTo>
                  <a:lnTo>
                    <a:pt x="1699" y="1665"/>
                  </a:lnTo>
                  <a:lnTo>
                    <a:pt x="1606" y="1693"/>
                  </a:lnTo>
                  <a:lnTo>
                    <a:pt x="1508" y="1717"/>
                  </a:lnTo>
                  <a:lnTo>
                    <a:pt x="1411" y="1736"/>
                  </a:lnTo>
                  <a:lnTo>
                    <a:pt x="1309" y="1747"/>
                  </a:lnTo>
                  <a:lnTo>
                    <a:pt x="1210" y="1751"/>
                  </a:lnTo>
                  <a:lnTo>
                    <a:pt x="1108" y="1751"/>
                  </a:lnTo>
                  <a:lnTo>
                    <a:pt x="1009" y="1742"/>
                  </a:lnTo>
                  <a:lnTo>
                    <a:pt x="909" y="1730"/>
                  </a:lnTo>
                  <a:lnTo>
                    <a:pt x="812" y="1710"/>
                  </a:lnTo>
                  <a:lnTo>
                    <a:pt x="719" y="1684"/>
                  </a:lnTo>
                  <a:lnTo>
                    <a:pt x="626" y="1652"/>
                  </a:lnTo>
                  <a:lnTo>
                    <a:pt x="539" y="1615"/>
                  </a:lnTo>
                  <a:lnTo>
                    <a:pt x="457" y="1572"/>
                  </a:lnTo>
                  <a:lnTo>
                    <a:pt x="381" y="1524"/>
                  </a:lnTo>
                  <a:lnTo>
                    <a:pt x="310" y="1473"/>
                  </a:lnTo>
                  <a:lnTo>
                    <a:pt x="245" y="1416"/>
                  </a:lnTo>
                  <a:lnTo>
                    <a:pt x="186" y="1356"/>
                  </a:lnTo>
                  <a:lnTo>
                    <a:pt x="137" y="1291"/>
                  </a:lnTo>
                  <a:lnTo>
                    <a:pt x="93" y="1226"/>
                  </a:lnTo>
                  <a:lnTo>
                    <a:pt x="59" y="1155"/>
                  </a:lnTo>
                  <a:lnTo>
                    <a:pt x="31" y="1084"/>
                  </a:lnTo>
                  <a:lnTo>
                    <a:pt x="13" y="1011"/>
                  </a:lnTo>
                  <a:lnTo>
                    <a:pt x="2" y="937"/>
                  </a:lnTo>
                  <a:lnTo>
                    <a:pt x="0" y="864"/>
                  </a:lnTo>
                  <a:lnTo>
                    <a:pt x="9" y="788"/>
                  </a:lnTo>
                  <a:lnTo>
                    <a:pt x="24" y="715"/>
                  </a:lnTo>
                  <a:lnTo>
                    <a:pt x="48" y="643"/>
                  </a:lnTo>
                  <a:lnTo>
                    <a:pt x="80" y="572"/>
                  </a:lnTo>
                  <a:lnTo>
                    <a:pt x="119" y="503"/>
                  </a:lnTo>
                  <a:lnTo>
                    <a:pt x="167" y="438"/>
                  </a:lnTo>
                  <a:lnTo>
                    <a:pt x="223" y="374"/>
                  </a:lnTo>
                  <a:lnTo>
                    <a:pt x="286" y="315"/>
                  </a:lnTo>
                  <a:lnTo>
                    <a:pt x="355" y="259"/>
                  </a:lnTo>
                  <a:lnTo>
                    <a:pt x="429" y="209"/>
                  </a:lnTo>
                  <a:lnTo>
                    <a:pt x="509" y="164"/>
                  </a:lnTo>
                  <a:lnTo>
                    <a:pt x="595" y="123"/>
                  </a:lnTo>
                  <a:lnTo>
                    <a:pt x="684" y="86"/>
                  </a:lnTo>
                  <a:lnTo>
                    <a:pt x="777" y="58"/>
                  </a:lnTo>
                  <a:lnTo>
                    <a:pt x="874" y="35"/>
                  </a:lnTo>
                  <a:lnTo>
                    <a:pt x="972" y="15"/>
                  </a:lnTo>
                  <a:lnTo>
                    <a:pt x="1071" y="4"/>
                  </a:lnTo>
                  <a:lnTo>
                    <a:pt x="1173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19" name="Group 63"/>
          <p:cNvGrpSpPr>
            <a:grpSpLocks noChangeAspect="1"/>
          </p:cNvGrpSpPr>
          <p:nvPr/>
        </p:nvGrpSpPr>
        <p:grpSpPr bwMode="auto">
          <a:xfrm>
            <a:off x="6157913" y="1452563"/>
            <a:ext cx="1979612" cy="1797050"/>
            <a:chOff x="383" y="1437"/>
            <a:chExt cx="1902" cy="1727"/>
          </a:xfrm>
        </p:grpSpPr>
        <p:sp>
          <p:nvSpPr>
            <p:cNvPr id="76863" name="Freeform 64"/>
            <p:cNvSpPr>
              <a:spLocks noChangeAspect="1"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4" name="Freeform 65"/>
            <p:cNvSpPr>
              <a:spLocks noChangeAspect="1"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5" name="Freeform 66"/>
            <p:cNvSpPr>
              <a:spLocks noChangeAspect="1"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6" name="Freeform 67"/>
            <p:cNvSpPr>
              <a:spLocks noChangeAspect="1"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7" name="Freeform 68"/>
            <p:cNvSpPr>
              <a:spLocks noChangeAspect="1"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8" name="Freeform 69"/>
            <p:cNvSpPr>
              <a:spLocks noChangeAspect="1"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9" name="Rectangle 70"/>
            <p:cNvSpPr>
              <a:spLocks noChangeAspect="1" noChangeArrowheads="1"/>
            </p:cNvSpPr>
            <p:nvPr/>
          </p:nvSpPr>
          <p:spPr bwMode="auto">
            <a:xfrm>
              <a:off x="1890" y="1437"/>
              <a:ext cx="97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76870" name="Rectangle 71"/>
            <p:cNvSpPr>
              <a:spLocks noChangeAspect="1" noChangeArrowheads="1"/>
            </p:cNvSpPr>
            <p:nvPr/>
          </p:nvSpPr>
          <p:spPr bwMode="auto">
            <a:xfrm>
              <a:off x="1089" y="2061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 sz="1600"/>
            </a:p>
          </p:txBody>
        </p:sp>
        <p:sp>
          <p:nvSpPr>
            <p:cNvPr id="76871" name="Rectangle 72"/>
            <p:cNvSpPr>
              <a:spLocks noChangeAspect="1" noChangeArrowheads="1"/>
            </p:cNvSpPr>
            <p:nvPr/>
          </p:nvSpPr>
          <p:spPr bwMode="auto">
            <a:xfrm>
              <a:off x="1699" y="2374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76872" name="Rectangle 73"/>
            <p:cNvSpPr>
              <a:spLocks noChangeAspect="1" noChangeArrowheads="1"/>
            </p:cNvSpPr>
            <p:nvPr/>
          </p:nvSpPr>
          <p:spPr bwMode="auto">
            <a:xfrm>
              <a:off x="1319" y="29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 sz="1600"/>
            </a:p>
          </p:txBody>
        </p:sp>
        <p:sp>
          <p:nvSpPr>
            <p:cNvPr id="76873" name="Rectangle 74"/>
            <p:cNvSpPr>
              <a:spLocks noChangeAspect="1" noChangeArrowheads="1"/>
            </p:cNvSpPr>
            <p:nvPr/>
          </p:nvSpPr>
          <p:spPr bwMode="auto">
            <a:xfrm>
              <a:off x="517" y="1940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 sz="1600"/>
            </a:p>
          </p:txBody>
        </p:sp>
        <p:sp>
          <p:nvSpPr>
            <p:cNvPr id="76874" name="Rectangle 75"/>
            <p:cNvSpPr>
              <a:spLocks noChangeAspect="1" noChangeArrowheads="1"/>
            </p:cNvSpPr>
            <p:nvPr/>
          </p:nvSpPr>
          <p:spPr bwMode="auto">
            <a:xfrm>
              <a:off x="2187" y="24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 sz="1600"/>
            </a:p>
          </p:txBody>
        </p:sp>
      </p:grpSp>
      <p:grpSp>
        <p:nvGrpSpPr>
          <p:cNvPr id="15" name="Group 76"/>
          <p:cNvGrpSpPr>
            <a:grpSpLocks noChangeAspect="1"/>
          </p:cNvGrpSpPr>
          <p:nvPr/>
        </p:nvGrpSpPr>
        <p:grpSpPr bwMode="auto">
          <a:xfrm>
            <a:off x="7285038" y="2360613"/>
            <a:ext cx="919162" cy="617537"/>
            <a:chOff x="1465" y="2309"/>
            <a:chExt cx="883" cy="594"/>
          </a:xfrm>
        </p:grpSpPr>
        <p:sp>
          <p:nvSpPr>
            <p:cNvPr id="76861" name="Freeform 77"/>
            <p:cNvSpPr>
              <a:spLocks noChangeAspect="1"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83"/>
                <a:gd name="T142" fmla="*/ 0 h 369"/>
                <a:gd name="T143" fmla="*/ 883 w 883"/>
                <a:gd name="T144" fmla="*/ 369 h 36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62" name="Rectangle 78"/>
            <p:cNvSpPr>
              <a:spLocks noChangeAspect="1" noChangeArrowheads="1"/>
            </p:cNvSpPr>
            <p:nvPr/>
          </p:nvSpPr>
          <p:spPr bwMode="auto">
            <a:xfrm>
              <a:off x="1831" y="2668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1</a:t>
              </a:r>
              <a:endParaRPr lang="en-US" altLang="en-US" sz="1600"/>
            </a:p>
          </p:txBody>
        </p:sp>
      </p:grpSp>
      <p:grpSp>
        <p:nvGrpSpPr>
          <p:cNvPr id="16" name="Group 79"/>
          <p:cNvGrpSpPr>
            <a:grpSpLocks noChangeAspect="1"/>
          </p:cNvGrpSpPr>
          <p:nvPr/>
        </p:nvGrpSpPr>
        <p:grpSpPr bwMode="auto">
          <a:xfrm>
            <a:off x="6100763" y="1730375"/>
            <a:ext cx="1036637" cy="584200"/>
            <a:chOff x="328" y="1704"/>
            <a:chExt cx="995" cy="561"/>
          </a:xfrm>
        </p:grpSpPr>
        <p:sp>
          <p:nvSpPr>
            <p:cNvPr id="76859" name="Freeform 80"/>
            <p:cNvSpPr>
              <a:spLocks noChangeAspect="1"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95"/>
                <a:gd name="T154" fmla="*/ 0 h 384"/>
                <a:gd name="T155" fmla="*/ 995 w 995"/>
                <a:gd name="T156" fmla="*/ 384 h 38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60" name="Rectangle 81"/>
            <p:cNvSpPr>
              <a:spLocks noChangeAspect="1" noChangeArrowheads="1"/>
            </p:cNvSpPr>
            <p:nvPr/>
          </p:nvSpPr>
          <p:spPr bwMode="auto">
            <a:xfrm>
              <a:off x="854" y="1704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2</a:t>
              </a:r>
              <a:endParaRPr lang="en-US" altLang="en-US" sz="1600"/>
            </a:p>
          </p:txBody>
        </p:sp>
      </p:grpSp>
      <p:grpSp>
        <p:nvGrpSpPr>
          <p:cNvPr id="17" name="Group 82"/>
          <p:cNvGrpSpPr>
            <a:grpSpLocks noChangeAspect="1"/>
          </p:cNvGrpSpPr>
          <p:nvPr/>
        </p:nvGrpSpPr>
        <p:grpSpPr bwMode="auto">
          <a:xfrm>
            <a:off x="5875338" y="1293813"/>
            <a:ext cx="2582862" cy="2287587"/>
            <a:chOff x="111" y="1285"/>
            <a:chExt cx="2481" cy="2197"/>
          </a:xfrm>
        </p:grpSpPr>
        <p:sp>
          <p:nvSpPr>
            <p:cNvPr id="76857" name="Rectangle 83"/>
            <p:cNvSpPr>
              <a:spLocks noChangeAspect="1" noChangeArrowheads="1"/>
            </p:cNvSpPr>
            <p:nvPr/>
          </p:nvSpPr>
          <p:spPr bwMode="auto">
            <a:xfrm>
              <a:off x="2484" y="1704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76858" name="Freeform 84"/>
            <p:cNvSpPr>
              <a:spLocks noChangeAspect="1"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79"/>
                <a:gd name="T115" fmla="*/ 0 h 2197"/>
                <a:gd name="T116" fmla="*/ 2479 w 2479"/>
                <a:gd name="T117" fmla="*/ 2197 h 21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85"/>
          <p:cNvGrpSpPr>
            <a:grpSpLocks noChangeAspect="1"/>
          </p:cNvGrpSpPr>
          <p:nvPr/>
        </p:nvGrpSpPr>
        <p:grpSpPr bwMode="auto">
          <a:xfrm>
            <a:off x="6873875" y="2211388"/>
            <a:ext cx="1416050" cy="1084262"/>
            <a:chOff x="1070" y="2167"/>
            <a:chExt cx="1361" cy="1041"/>
          </a:xfrm>
        </p:grpSpPr>
        <p:sp>
          <p:nvSpPr>
            <p:cNvPr id="76855" name="Rectangle 86"/>
            <p:cNvSpPr>
              <a:spLocks noChangeAspect="1" noChangeArrowheads="1"/>
            </p:cNvSpPr>
            <p:nvPr/>
          </p:nvSpPr>
          <p:spPr bwMode="auto">
            <a:xfrm>
              <a:off x="1070" y="2560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3</a:t>
              </a:r>
              <a:endParaRPr lang="en-US" altLang="en-US" sz="1600"/>
            </a:p>
          </p:txBody>
        </p:sp>
        <p:sp>
          <p:nvSpPr>
            <p:cNvPr id="76856" name="Freeform 87"/>
            <p:cNvSpPr>
              <a:spLocks noChangeAspect="1"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17"/>
                <a:gd name="T184" fmla="*/ 0 h 1041"/>
                <a:gd name="T185" fmla="*/ 1317 w 1317"/>
                <a:gd name="T186" fmla="*/ 1041 h 10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88"/>
          <p:cNvGrpSpPr>
            <a:grpSpLocks noChangeAspect="1"/>
          </p:cNvGrpSpPr>
          <p:nvPr/>
        </p:nvGrpSpPr>
        <p:grpSpPr bwMode="auto">
          <a:xfrm>
            <a:off x="6043613" y="1384300"/>
            <a:ext cx="1905000" cy="996950"/>
            <a:chOff x="272" y="1372"/>
            <a:chExt cx="1831" cy="958"/>
          </a:xfrm>
        </p:grpSpPr>
        <p:sp>
          <p:nvSpPr>
            <p:cNvPr id="76853" name="Rectangle 89"/>
            <p:cNvSpPr>
              <a:spLocks noChangeAspect="1" noChangeArrowheads="1"/>
            </p:cNvSpPr>
            <p:nvPr/>
          </p:nvSpPr>
          <p:spPr bwMode="auto">
            <a:xfrm>
              <a:off x="1165" y="1380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4</a:t>
              </a:r>
              <a:endParaRPr lang="en-US" altLang="en-US" sz="1600"/>
            </a:p>
          </p:txBody>
        </p:sp>
        <p:sp>
          <p:nvSpPr>
            <p:cNvPr id="76854" name="Freeform 90"/>
            <p:cNvSpPr>
              <a:spLocks noChangeAspect="1"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31"/>
                <a:gd name="T100" fmla="*/ 0 h 958"/>
                <a:gd name="T101" fmla="*/ 1831 w 1831"/>
                <a:gd name="T102" fmla="*/ 958 h 9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25" name="Group 91"/>
          <p:cNvGrpSpPr>
            <a:grpSpLocks noChangeAspect="1"/>
          </p:cNvGrpSpPr>
          <p:nvPr/>
        </p:nvGrpSpPr>
        <p:grpSpPr bwMode="auto">
          <a:xfrm>
            <a:off x="1009650" y="1362075"/>
            <a:ext cx="1990725" cy="1806575"/>
            <a:chOff x="471" y="1117"/>
            <a:chExt cx="1935" cy="1755"/>
          </a:xfrm>
        </p:grpSpPr>
        <p:sp>
          <p:nvSpPr>
            <p:cNvPr id="76841" name="Freeform 92"/>
            <p:cNvSpPr>
              <a:spLocks noChangeAspect="1"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7"/>
                <a:gd name="T53" fmla="*/ 89 w 89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2" name="Freeform 93"/>
            <p:cNvSpPr>
              <a:spLocks noChangeAspect="1"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6"/>
                <a:gd name="T53" fmla="*/ 89 w 89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3" name="Freeform 94"/>
            <p:cNvSpPr>
              <a:spLocks noChangeAspect="1"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4" name="Freeform 95"/>
            <p:cNvSpPr>
              <a:spLocks noChangeAspect="1"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5" name="Freeform 96"/>
            <p:cNvSpPr>
              <a:spLocks noChangeAspect="1"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6" name="Freeform 97"/>
            <p:cNvSpPr>
              <a:spLocks noChangeAspect="1"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7" name="Rectangle 98"/>
            <p:cNvSpPr>
              <a:spLocks noChangeAspect="1" noChangeArrowheads="1"/>
            </p:cNvSpPr>
            <p:nvPr/>
          </p:nvSpPr>
          <p:spPr bwMode="auto">
            <a:xfrm>
              <a:off x="2033" y="1117"/>
              <a:ext cx="9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76848" name="Rectangle 99"/>
            <p:cNvSpPr>
              <a:spLocks noChangeAspect="1" noChangeArrowheads="1"/>
            </p:cNvSpPr>
            <p:nvPr/>
          </p:nvSpPr>
          <p:spPr bwMode="auto">
            <a:xfrm>
              <a:off x="1256" y="1765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 sz="1600"/>
            </a:p>
          </p:txBody>
        </p:sp>
        <p:sp>
          <p:nvSpPr>
            <p:cNvPr id="76849" name="Rectangle 100"/>
            <p:cNvSpPr>
              <a:spLocks noChangeAspect="1" noChangeArrowheads="1"/>
            </p:cNvSpPr>
            <p:nvPr/>
          </p:nvSpPr>
          <p:spPr bwMode="auto">
            <a:xfrm>
              <a:off x="1810" y="2069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76850" name="Rectangle 101"/>
            <p:cNvSpPr>
              <a:spLocks noChangeAspect="1" noChangeArrowheads="1"/>
            </p:cNvSpPr>
            <p:nvPr/>
          </p:nvSpPr>
          <p:spPr bwMode="auto">
            <a:xfrm>
              <a:off x="1422" y="2635"/>
              <a:ext cx="98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 sz="1600"/>
            </a:p>
          </p:txBody>
        </p:sp>
        <p:sp>
          <p:nvSpPr>
            <p:cNvPr id="76851" name="Rectangle 102"/>
            <p:cNvSpPr>
              <a:spLocks noChangeAspect="1" noChangeArrowheads="1"/>
            </p:cNvSpPr>
            <p:nvPr/>
          </p:nvSpPr>
          <p:spPr bwMode="auto">
            <a:xfrm>
              <a:off x="648" y="16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 sz="1600"/>
            </a:p>
          </p:txBody>
        </p:sp>
        <p:sp>
          <p:nvSpPr>
            <p:cNvPr id="76852" name="Rectangle 103"/>
            <p:cNvSpPr>
              <a:spLocks noChangeAspect="1" noChangeArrowheads="1"/>
            </p:cNvSpPr>
            <p:nvPr/>
          </p:nvSpPr>
          <p:spPr bwMode="auto">
            <a:xfrm>
              <a:off x="2307" y="21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 sz="1600"/>
            </a:p>
          </p:txBody>
        </p:sp>
      </p:grpSp>
      <p:grpSp>
        <p:nvGrpSpPr>
          <p:cNvPr id="21" name="Group 104"/>
          <p:cNvGrpSpPr>
            <a:grpSpLocks noChangeAspect="1"/>
          </p:cNvGrpSpPr>
          <p:nvPr/>
        </p:nvGrpSpPr>
        <p:grpSpPr bwMode="auto">
          <a:xfrm>
            <a:off x="2141538" y="2070100"/>
            <a:ext cx="923925" cy="592138"/>
            <a:chOff x="1572" y="1805"/>
            <a:chExt cx="897" cy="575"/>
          </a:xfrm>
        </p:grpSpPr>
        <p:sp>
          <p:nvSpPr>
            <p:cNvPr id="76839" name="Freeform 105"/>
            <p:cNvSpPr>
              <a:spLocks noChangeAspect="1"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7"/>
                <a:gd name="T142" fmla="*/ 0 h 375"/>
                <a:gd name="T143" fmla="*/ 897 w 897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40" name="Rectangle 106"/>
            <p:cNvSpPr>
              <a:spLocks noChangeAspect="1" noChangeArrowheads="1"/>
            </p:cNvSpPr>
            <p:nvPr/>
          </p:nvSpPr>
          <p:spPr bwMode="auto">
            <a:xfrm>
              <a:off x="1943" y="1805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1</a:t>
              </a:r>
              <a:endParaRPr lang="en-US" altLang="en-US" sz="1600"/>
            </a:p>
          </p:txBody>
        </p:sp>
      </p:grpSp>
      <p:grpSp>
        <p:nvGrpSpPr>
          <p:cNvPr id="22" name="Group 107"/>
          <p:cNvGrpSpPr>
            <a:grpSpLocks noChangeAspect="1"/>
          </p:cNvGrpSpPr>
          <p:nvPr/>
        </p:nvGrpSpPr>
        <p:grpSpPr bwMode="auto">
          <a:xfrm>
            <a:off x="865188" y="1825625"/>
            <a:ext cx="1125537" cy="742950"/>
            <a:chOff x="332" y="1568"/>
            <a:chExt cx="1093" cy="721"/>
          </a:xfrm>
        </p:grpSpPr>
        <p:sp>
          <p:nvSpPr>
            <p:cNvPr id="76837" name="Freeform 108"/>
            <p:cNvSpPr>
              <a:spLocks noChangeAspect="1"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93"/>
                <a:gd name="T154" fmla="*/ 0 h 497"/>
                <a:gd name="T155" fmla="*/ 1093 w 1093"/>
                <a:gd name="T156" fmla="*/ 497 h 4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38" name="Rectangle 109"/>
            <p:cNvSpPr>
              <a:spLocks noChangeAspect="1" noChangeArrowheads="1"/>
            </p:cNvSpPr>
            <p:nvPr/>
          </p:nvSpPr>
          <p:spPr bwMode="auto">
            <a:xfrm>
              <a:off x="949" y="2052"/>
              <a:ext cx="10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2</a:t>
              </a:r>
              <a:endParaRPr lang="en-US" altLang="en-US" sz="1600"/>
            </a:p>
          </p:txBody>
        </p:sp>
      </p:grpSp>
      <p:grpSp>
        <p:nvGrpSpPr>
          <p:cNvPr id="23" name="Group 110"/>
          <p:cNvGrpSpPr>
            <a:grpSpLocks noChangeAspect="1"/>
          </p:cNvGrpSpPr>
          <p:nvPr/>
        </p:nvGrpSpPr>
        <p:grpSpPr bwMode="auto">
          <a:xfrm>
            <a:off x="812800" y="1555750"/>
            <a:ext cx="2382838" cy="1358900"/>
            <a:chOff x="280" y="1305"/>
            <a:chExt cx="2315" cy="1321"/>
          </a:xfrm>
        </p:grpSpPr>
        <p:sp>
          <p:nvSpPr>
            <p:cNvPr id="76835" name="Freeform 111"/>
            <p:cNvSpPr>
              <a:spLocks noChangeAspect="1"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15"/>
                <a:gd name="T112" fmla="*/ 0 h 1312"/>
                <a:gd name="T113" fmla="*/ 2315 w 2315"/>
                <a:gd name="T114" fmla="*/ 1312 h 131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36" name="Rectangle 112"/>
            <p:cNvSpPr>
              <a:spLocks noChangeAspect="1" noChangeArrowheads="1"/>
            </p:cNvSpPr>
            <p:nvPr/>
          </p:nvSpPr>
          <p:spPr bwMode="auto">
            <a:xfrm>
              <a:off x="1390" y="1305"/>
              <a:ext cx="11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3</a:t>
              </a:r>
              <a:endParaRPr lang="en-US" altLang="en-US" sz="1600"/>
            </a:p>
          </p:txBody>
        </p:sp>
      </p:grpSp>
      <p:grpSp>
        <p:nvGrpSpPr>
          <p:cNvPr id="24" name="Group 113"/>
          <p:cNvGrpSpPr>
            <a:grpSpLocks noChangeAspect="1"/>
          </p:cNvGrpSpPr>
          <p:nvPr/>
        </p:nvGrpSpPr>
        <p:grpSpPr bwMode="auto">
          <a:xfrm>
            <a:off x="771525" y="1477963"/>
            <a:ext cx="2462213" cy="1887537"/>
            <a:chOff x="241" y="1229"/>
            <a:chExt cx="2391" cy="1834"/>
          </a:xfrm>
        </p:grpSpPr>
        <p:sp>
          <p:nvSpPr>
            <p:cNvPr id="76833" name="Freeform 114"/>
            <p:cNvSpPr>
              <a:spLocks noChangeAspect="1"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91"/>
                <a:gd name="T112" fmla="*/ 0 h 1611"/>
                <a:gd name="T113" fmla="*/ 2391 w 2391"/>
                <a:gd name="T114" fmla="*/ 1611 h 161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34" name="Rectangle 115"/>
            <p:cNvSpPr>
              <a:spLocks noChangeAspect="1" noChangeArrowheads="1"/>
            </p:cNvSpPr>
            <p:nvPr/>
          </p:nvSpPr>
          <p:spPr bwMode="auto">
            <a:xfrm>
              <a:off x="1238" y="2826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4</a:t>
              </a:r>
              <a:endParaRPr lang="en-US" altLang="en-US" sz="1600"/>
            </a:p>
          </p:txBody>
        </p:sp>
      </p:grpSp>
      <p:grpSp>
        <p:nvGrpSpPr>
          <p:cNvPr id="25" name="Group 116"/>
          <p:cNvGrpSpPr>
            <a:grpSpLocks noChangeAspect="1"/>
          </p:cNvGrpSpPr>
          <p:nvPr/>
        </p:nvGrpSpPr>
        <p:grpSpPr bwMode="auto">
          <a:xfrm>
            <a:off x="723900" y="1216025"/>
            <a:ext cx="2595563" cy="2289175"/>
            <a:chOff x="194" y="975"/>
            <a:chExt cx="2522" cy="2224"/>
          </a:xfrm>
        </p:grpSpPr>
        <p:sp>
          <p:nvSpPr>
            <p:cNvPr id="76831" name="Rectangle 117"/>
            <p:cNvSpPr>
              <a:spLocks noChangeAspect="1" noChangeArrowheads="1"/>
            </p:cNvSpPr>
            <p:nvPr/>
          </p:nvSpPr>
          <p:spPr bwMode="auto">
            <a:xfrm>
              <a:off x="2138" y="975"/>
              <a:ext cx="109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76832" name="Freeform 118"/>
            <p:cNvSpPr>
              <a:spLocks noChangeAspect="1"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2"/>
                <a:gd name="T115" fmla="*/ 0 h 2211"/>
                <a:gd name="T116" fmla="*/ 2522 w 2522"/>
                <a:gd name="T117" fmla="*/ 2211 h 22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Hierarchical Clustering:  Problems and Limitations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Once a decision is made to combine two clusters, it cannot be undone</a:t>
            </a:r>
          </a:p>
          <a:p>
            <a:pPr lvl="4"/>
            <a:endParaRPr lang="en-US" altLang="en-US" dirty="0"/>
          </a:p>
          <a:p>
            <a:r>
              <a:rPr lang="en-US" altLang="en-US" dirty="0"/>
              <a:t>No global objective function is directly minimized</a:t>
            </a:r>
          </a:p>
          <a:p>
            <a:pPr lvl="4"/>
            <a:endParaRPr lang="en-US" altLang="en-US" dirty="0"/>
          </a:p>
          <a:p>
            <a:r>
              <a:rPr lang="en-US" altLang="en-US" dirty="0"/>
              <a:t>Different schemes have problems with one or more of the following:</a:t>
            </a:r>
          </a:p>
          <a:p>
            <a:pPr lvl="1"/>
            <a:r>
              <a:rPr lang="en-US" altLang="en-US" dirty="0"/>
              <a:t>Sensitivity to noise </a:t>
            </a:r>
          </a:p>
          <a:p>
            <a:pPr lvl="1"/>
            <a:r>
              <a:rPr lang="en-US" altLang="en-US" dirty="0"/>
              <a:t>Difficulty handling clusters of different sizes and non-globular shapes</a:t>
            </a:r>
          </a:p>
          <a:p>
            <a:pPr lvl="1"/>
            <a:r>
              <a:rPr lang="en-US" altLang="en-US" dirty="0"/>
              <a:t>Breaking large clusters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Based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Clusters are regions of high density that are separated from one another by regions on low density.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2" y="2646061"/>
            <a:ext cx="4872038" cy="3602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61388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DBSCAN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81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DBSCAN is a density-based algorithm.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Density = number of points within a specified radius (</a:t>
            </a:r>
            <a:r>
              <a:rPr lang="en-US" altLang="en-US" sz="2000" dirty="0" err="1"/>
              <a:t>Eps</a:t>
            </a:r>
            <a:r>
              <a:rPr lang="en-US" altLang="en-US" sz="2000" dirty="0"/>
              <a:t>)</a:t>
            </a:r>
          </a:p>
          <a:p>
            <a:pPr marL="2171700" lvl="4" indent="-342900">
              <a:lnSpc>
                <a:spcPct val="90000"/>
              </a:lnSpc>
            </a:pPr>
            <a:endParaRPr lang="en-US" altLang="en-US" sz="18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A point is a </a:t>
            </a:r>
            <a:r>
              <a:rPr lang="en-US" altLang="en-US" sz="2000" dirty="0">
                <a:solidFill>
                  <a:srgbClr val="FF0000"/>
                </a:solidFill>
              </a:rPr>
              <a:t>core point</a:t>
            </a:r>
            <a:r>
              <a:rPr lang="en-US" altLang="en-US" sz="2000" dirty="0"/>
              <a:t> if it has at least a specified number of points (</a:t>
            </a:r>
            <a:r>
              <a:rPr lang="en-US" altLang="en-US" sz="2000" dirty="0" err="1"/>
              <a:t>MinPts</a:t>
            </a:r>
            <a:r>
              <a:rPr lang="en-US" altLang="en-US" sz="2000" dirty="0"/>
              <a:t>) within Eps</a:t>
            </a:r>
            <a:r>
              <a:rPr lang="en-US" altLang="en-US" dirty="0"/>
              <a:t> </a:t>
            </a:r>
          </a:p>
          <a:p>
            <a:pPr marL="1295400" lvl="2" indent="-381000"/>
            <a:r>
              <a:rPr lang="en-US" altLang="en-US" dirty="0"/>
              <a:t>These are points that are at the interior of a cluster</a:t>
            </a:r>
          </a:p>
          <a:p>
            <a:pPr marL="1295400" lvl="2" indent="-381000"/>
            <a:r>
              <a:rPr lang="en-US" altLang="en-US" dirty="0"/>
              <a:t>Counts the point itself</a:t>
            </a:r>
          </a:p>
          <a:p>
            <a:pPr marL="2171700" lvl="4" indent="-342900"/>
            <a:endParaRPr lang="en-US" altLang="en-US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A </a:t>
            </a:r>
            <a:r>
              <a:rPr lang="en-US" altLang="en-US" sz="2000" dirty="0">
                <a:solidFill>
                  <a:srgbClr val="FF0000"/>
                </a:solidFill>
              </a:rPr>
              <a:t>border point</a:t>
            </a:r>
            <a:r>
              <a:rPr lang="en-US" altLang="en-US" sz="2000" dirty="0"/>
              <a:t> is not a core point, but is in the neighborhood of a core point</a:t>
            </a:r>
          </a:p>
          <a:p>
            <a:pPr marL="2171700" lvl="4" indent="-342900">
              <a:lnSpc>
                <a:spcPct val="90000"/>
              </a:lnSpc>
            </a:pPr>
            <a:endParaRPr lang="en-US" altLang="en-US" sz="18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A </a:t>
            </a:r>
            <a:r>
              <a:rPr lang="en-US" altLang="en-US" sz="2000" dirty="0">
                <a:solidFill>
                  <a:srgbClr val="FF0000"/>
                </a:solidFill>
              </a:rPr>
              <a:t>noise point</a:t>
            </a:r>
            <a:r>
              <a:rPr lang="en-US" altLang="en-US" sz="2000" dirty="0"/>
              <a:t> is any point that is not a core point or a border point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DBSCAN: Core, Border, and Noise Points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" y="1295400"/>
            <a:ext cx="9144000" cy="49562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1322832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MinPts</a:t>
            </a:r>
            <a:r>
              <a:rPr lang="en-US" sz="1600" dirty="0"/>
              <a:t> = 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DBSCAN: Core, Border and Noise Points</a:t>
            </a:r>
          </a:p>
        </p:txBody>
      </p:sp>
      <p:pic>
        <p:nvPicPr>
          <p:cNvPr id="849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3686"/>
            <a:ext cx="4872038" cy="3602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990600" y="50292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5257800" y="5105400"/>
            <a:ext cx="251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Point types: </a:t>
            </a:r>
            <a:r>
              <a:rPr lang="en-US" altLang="en-US" sz="1800">
                <a:solidFill>
                  <a:schemeClr val="hlink"/>
                </a:solidFill>
              </a:rPr>
              <a:t>core</a:t>
            </a:r>
            <a:r>
              <a:rPr lang="en-US" altLang="en-US" sz="1800"/>
              <a:t>, </a:t>
            </a:r>
            <a:r>
              <a:rPr lang="en-US" altLang="en-US" sz="1800">
                <a:solidFill>
                  <a:srgbClr val="003399"/>
                </a:solidFill>
              </a:rPr>
              <a:t>border</a:t>
            </a:r>
            <a:r>
              <a:rPr lang="en-US" altLang="en-US" sz="1800"/>
              <a:t> and </a:t>
            </a:r>
            <a:r>
              <a:rPr lang="en-US" altLang="en-US" sz="1800">
                <a:solidFill>
                  <a:srgbClr val="FF0000"/>
                </a:solidFill>
              </a:rPr>
              <a:t>noise</a:t>
            </a:r>
          </a:p>
        </p:txBody>
      </p:sp>
      <p:pic>
        <p:nvPicPr>
          <p:cNvPr id="8499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527858"/>
            <a:ext cx="4872038" cy="3574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9" name="Text Box 7"/>
          <p:cNvSpPr txBox="1">
            <a:spLocks noChangeArrowheads="1"/>
          </p:cNvSpPr>
          <p:nvPr/>
        </p:nvSpPr>
        <p:spPr bwMode="auto">
          <a:xfrm>
            <a:off x="2743200" y="5943600"/>
            <a:ext cx="327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Eps = 10, MinPts = 4</a:t>
            </a:r>
          </a:p>
        </p:txBody>
      </p:sp>
    </p:spTree>
    <p:extLst>
      <p:ext uri="{BB962C8B-B14F-4D97-AF65-F5344CB8AC3E}">
        <p14:creationId xmlns:p14="http://schemas.microsoft.com/office/powerpoint/2010/main" val="11077255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DBSCAN Algorithm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Form clusters using core points, and assign border points to one of its neighboring clusters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sz="2000" dirty="0"/>
              <a:t>1: Label all points as core, border, or noise points.</a:t>
            </a:r>
          </a:p>
          <a:p>
            <a:pPr marL="0" indent="0">
              <a:buNone/>
            </a:pPr>
            <a:r>
              <a:rPr lang="en-US" sz="2000" dirty="0"/>
              <a:t>2: Eliminate noise points.</a:t>
            </a:r>
          </a:p>
          <a:p>
            <a:pPr marL="0" indent="0">
              <a:buNone/>
            </a:pPr>
            <a:r>
              <a:rPr lang="en-US" sz="2000" dirty="0"/>
              <a:t>3: Put an edge between all core points within a distance </a:t>
            </a:r>
            <a:r>
              <a:rPr lang="en-US" sz="2000" i="1" dirty="0"/>
              <a:t>Eps </a:t>
            </a:r>
            <a:r>
              <a:rPr lang="en-US" sz="2000" dirty="0"/>
              <a:t>of each other.</a:t>
            </a:r>
          </a:p>
          <a:p>
            <a:pPr marL="0" indent="0">
              <a:buNone/>
            </a:pPr>
            <a:r>
              <a:rPr lang="en-US" sz="2000" dirty="0"/>
              <a:t>4: Make each group of connected core points into a separate cluster.</a:t>
            </a:r>
          </a:p>
          <a:p>
            <a:pPr marL="0" indent="0">
              <a:buNone/>
            </a:pPr>
            <a:r>
              <a:rPr lang="en-US" sz="2000" dirty="0"/>
              <a:t>5: Assign each border point to one of the clusters of its associated core points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560960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When DBSCAN Works Well</a:t>
            </a:r>
          </a:p>
        </p:txBody>
      </p:sp>
      <p:pic>
        <p:nvPicPr>
          <p:cNvPr id="86019" name="Picture 20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1088"/>
            <a:ext cx="4872038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0" name="Text Box 2052"/>
          <p:cNvSpPr txBox="1">
            <a:spLocks noChangeArrowheads="1"/>
          </p:cNvSpPr>
          <p:nvPr/>
        </p:nvSpPr>
        <p:spPr bwMode="auto">
          <a:xfrm>
            <a:off x="990600" y="4433888"/>
            <a:ext cx="251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grpSp>
        <p:nvGrpSpPr>
          <p:cNvPr id="2" name="Group 2053"/>
          <p:cNvGrpSpPr>
            <a:grpSpLocks/>
          </p:cNvGrpSpPr>
          <p:nvPr/>
        </p:nvGrpSpPr>
        <p:grpSpPr bwMode="auto">
          <a:xfrm>
            <a:off x="4167399" y="1080599"/>
            <a:ext cx="4976602" cy="3796201"/>
            <a:chOff x="2691" y="633"/>
            <a:chExt cx="3069" cy="2360"/>
          </a:xfrm>
        </p:grpSpPr>
        <p:pic>
          <p:nvPicPr>
            <p:cNvPr id="86023" name="Picture 205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1" y="633"/>
              <a:ext cx="3069" cy="2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024" name="Text Box 2055"/>
            <p:cNvSpPr txBox="1">
              <a:spLocks noChangeArrowheads="1"/>
            </p:cNvSpPr>
            <p:nvPr/>
          </p:nvSpPr>
          <p:spPr bwMode="auto">
            <a:xfrm>
              <a:off x="3222" y="2763"/>
              <a:ext cx="253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 dirty="0"/>
                <a:t>Clusters (</a:t>
              </a:r>
              <a:r>
                <a:rPr lang="en-US" altLang="en-US" dirty="0"/>
                <a:t>dark blue points indicate noise</a:t>
              </a:r>
              <a:r>
                <a:rPr lang="en-US" altLang="en-US" sz="1800" dirty="0"/>
                <a:t>)</a:t>
              </a:r>
            </a:p>
          </p:txBody>
        </p:sp>
      </p:grpSp>
      <p:sp>
        <p:nvSpPr>
          <p:cNvPr id="1653768" name="Text Box 2056"/>
          <p:cNvSpPr txBox="1">
            <a:spLocks noChangeArrowheads="1"/>
          </p:cNvSpPr>
          <p:nvPr/>
        </p:nvSpPr>
        <p:spPr bwMode="auto">
          <a:xfrm>
            <a:off x="609600" y="4876800"/>
            <a:ext cx="6629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1800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Can handle clusters of different shapes and sizes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Resistant to noise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When DBSCAN Does NOT Work Well</a:t>
            </a:r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1066800" y="38862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3048000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pic>
        <p:nvPicPr>
          <p:cNvPr id="87045" name="Picture 5" descr="fish_clus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When DBSCAN Does NOT Work Well</a:t>
            </a:r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1066800" y="38862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3048000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pic>
        <p:nvPicPr>
          <p:cNvPr id="87045" name="Picture 5" descr="fish_clust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7047" name="Object 0"/>
          <p:cNvGraphicFramePr>
            <a:graphicFrameLocks noChangeAspect="1"/>
          </p:cNvGraphicFramePr>
          <p:nvPr/>
        </p:nvGraphicFramePr>
        <p:xfrm>
          <a:off x="4648200" y="1066800"/>
          <a:ext cx="3363913" cy="228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r:id="rId4" imgW="4686706" imgH="3177815" progId="MSPhotoEd.3">
                  <p:embed/>
                </p:oleObj>
              </mc:Choice>
              <mc:Fallback>
                <p:oleObj r:id="rId4" imgW="4686706" imgH="3177815" progId="MSPhotoEd.3">
                  <p:embed/>
                  <p:pic>
                    <p:nvPicPr>
                      <p:cNvPr id="87047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066800"/>
                        <a:ext cx="3363913" cy="228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4800600" y="33528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1600" b="0" dirty="0" err="1">
                <a:latin typeface="Times New Roman" pitchFamily="18" charset="0"/>
                <a:cs typeface="Times New Roman" pitchFamily="18" charset="0"/>
              </a:rPr>
              <a:t>MinPts</a:t>
            </a:r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=4, Eps=9.92).</a:t>
            </a:r>
            <a:r>
              <a:rPr lang="en-US" altLang="en-US" sz="900" b="0" dirty="0">
                <a:latin typeface="Times New Roman" pitchFamily="18" charset="0"/>
              </a:rPr>
              <a:t> </a:t>
            </a:r>
            <a:endParaRPr lang="en-US" altLang="en-US" sz="2400" b="0" dirty="0">
              <a:latin typeface="Times New Roman" pitchFamily="18" charset="0"/>
            </a:endParaRPr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7050" name="Object 1"/>
          <p:cNvGraphicFramePr>
            <a:graphicFrameLocks noChangeAspect="1"/>
          </p:cNvGraphicFramePr>
          <p:nvPr/>
        </p:nvGraphicFramePr>
        <p:xfrm>
          <a:off x="4724400" y="3733800"/>
          <a:ext cx="3363913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r:id="rId6" imgW="4686706" imgH="3177815" progId="MSPhotoEd.3">
                  <p:embed/>
                </p:oleObj>
              </mc:Choice>
              <mc:Fallback>
                <p:oleObj r:id="rId6" imgW="4686706" imgH="3177815" progId="MSPhotoEd.3">
                  <p:embed/>
                  <p:pic>
                    <p:nvPicPr>
                      <p:cNvPr id="8705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733800"/>
                        <a:ext cx="3363913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1" name="Rectangle 11"/>
          <p:cNvSpPr>
            <a:spLocks noChangeArrowheads="1"/>
          </p:cNvSpPr>
          <p:nvPr/>
        </p:nvSpPr>
        <p:spPr bwMode="auto">
          <a:xfrm>
            <a:off x="4724400" y="60198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en-US" sz="1600" b="0" dirty="0" err="1">
                <a:latin typeface="Times New Roman" pitchFamily="18" charset="0"/>
                <a:cs typeface="Times New Roman" pitchFamily="18" charset="0"/>
              </a:rPr>
              <a:t>MinPts</a:t>
            </a:r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=4, Eps=9.75)</a:t>
            </a:r>
          </a:p>
        </p:txBody>
      </p:sp>
      <p:sp>
        <p:nvSpPr>
          <p:cNvPr id="1654796" name="Text Box 12"/>
          <p:cNvSpPr txBox="1">
            <a:spLocks noChangeArrowheads="1"/>
          </p:cNvSpPr>
          <p:nvPr/>
        </p:nvSpPr>
        <p:spPr bwMode="auto">
          <a:xfrm>
            <a:off x="609600" y="5392738"/>
            <a:ext cx="35052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Varying densities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High-dimensional data</a:t>
            </a:r>
          </a:p>
        </p:txBody>
      </p:sp>
    </p:spTree>
    <p:extLst>
      <p:ext uri="{BB962C8B-B14F-4D97-AF65-F5344CB8AC3E}">
        <p14:creationId xmlns:p14="http://schemas.microsoft.com/office/powerpoint/2010/main" val="410616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4796" grpId="0" autoUpdateAnimBg="0"/>
    </p:bldLst>
  </p:timing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146490324</TotalTime>
  <Pages>3</Pages>
  <Words>1808</Words>
  <Application>Microsoft Office PowerPoint</Application>
  <PresentationFormat>On-screen Show (4:3)</PresentationFormat>
  <Paragraphs>511</Paragraphs>
  <Slides>52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6</vt:i4>
      </vt:variant>
      <vt:variant>
        <vt:lpstr>Slide Titles</vt:lpstr>
      </vt:variant>
      <vt:variant>
        <vt:i4>52</vt:i4>
      </vt:variant>
    </vt:vector>
  </HeadingPairs>
  <TitlesOfParts>
    <vt:vector size="65" baseType="lpstr">
      <vt:lpstr>Arial</vt:lpstr>
      <vt:lpstr>Monotype Sorts</vt:lpstr>
      <vt:lpstr>Symbol</vt:lpstr>
      <vt:lpstr>Tahoma</vt:lpstr>
      <vt:lpstr>Times New Roman</vt:lpstr>
      <vt:lpstr>Wingdings</vt:lpstr>
      <vt:lpstr>LC.BRev.FY97</vt:lpstr>
      <vt:lpstr>Document</vt:lpstr>
      <vt:lpstr>VISIO</vt:lpstr>
      <vt:lpstr>Bitmap Image</vt:lpstr>
      <vt:lpstr>Equation</vt:lpstr>
      <vt:lpstr>Visio</vt:lpstr>
      <vt:lpstr>MSPhotoEd.3</vt:lpstr>
      <vt:lpstr> Cluster Analysis: Basic Concepts  and Algorithms</vt:lpstr>
      <vt:lpstr>What is Cluster Analysis?</vt:lpstr>
      <vt:lpstr>Applications of Cluster Analysis</vt:lpstr>
      <vt:lpstr>Notion of a Cluster can be Ambiguous</vt:lpstr>
      <vt:lpstr>Types of Clusterings</vt:lpstr>
      <vt:lpstr>Partitional Clustering</vt:lpstr>
      <vt:lpstr>Hierarchical Clustering</vt:lpstr>
      <vt:lpstr>Characteristics of the Input Data Are Important</vt:lpstr>
      <vt:lpstr>Clustering Algorithms</vt:lpstr>
      <vt:lpstr>K-means Clustering</vt:lpstr>
      <vt:lpstr>Example of K-means Clustering</vt:lpstr>
      <vt:lpstr>Example of K-means Clustering</vt:lpstr>
      <vt:lpstr>K-means Clustering – Details</vt:lpstr>
      <vt:lpstr> K-means Objective Function</vt:lpstr>
      <vt:lpstr>Two different K-means Clusterings</vt:lpstr>
      <vt:lpstr>Importance of Choosing Initial Centroids …</vt:lpstr>
      <vt:lpstr>Importance of Choosing Initial Centroids …</vt:lpstr>
      <vt:lpstr>Solutions to Initial Centroids Problem</vt:lpstr>
      <vt:lpstr>Limitations of K-means</vt:lpstr>
      <vt:lpstr>Limitations of K-means: Differing Sizes</vt:lpstr>
      <vt:lpstr>Limitations of K-means: Differing Density</vt:lpstr>
      <vt:lpstr>Limitations of K-means: Non-globular Shapes</vt:lpstr>
      <vt:lpstr>Hierarchical Clustering </vt:lpstr>
      <vt:lpstr>Strengths of Hierarchical Clustering</vt:lpstr>
      <vt:lpstr>Hierarchical Clustering</vt:lpstr>
      <vt:lpstr>Agglomerative Clustering Algorithm</vt:lpstr>
      <vt:lpstr>Steps 1 and 2 </vt:lpstr>
      <vt:lpstr>Intermediate Situation</vt:lpstr>
      <vt:lpstr>Step 4</vt:lpstr>
      <vt:lpstr>Step 5</vt:lpstr>
      <vt:lpstr>How to Define Inter-Cluster Distance</vt:lpstr>
      <vt:lpstr>How to Define Inter-Cluster Similarity</vt:lpstr>
      <vt:lpstr>How to Define Inter-Cluster Similarity</vt:lpstr>
      <vt:lpstr>How to Define Inter-Cluster Similarity</vt:lpstr>
      <vt:lpstr>How to Define Inter-Cluster Similarity</vt:lpstr>
      <vt:lpstr>MIN or Single Link </vt:lpstr>
      <vt:lpstr>Hierarchical Clustering: MIN</vt:lpstr>
      <vt:lpstr>MAX or Complete Linkage</vt:lpstr>
      <vt:lpstr>Hierarchical Clustering: MAX</vt:lpstr>
      <vt:lpstr>Group Average</vt:lpstr>
      <vt:lpstr>Hierarchical Clustering: Group Average</vt:lpstr>
      <vt:lpstr>Hierarchical Clustering: Group Average</vt:lpstr>
      <vt:lpstr>Hierarchical Clustering: Comparison</vt:lpstr>
      <vt:lpstr>Hierarchical Clustering:  Problems and Limitations</vt:lpstr>
      <vt:lpstr>Density Based Clustering</vt:lpstr>
      <vt:lpstr>DBSCAN</vt:lpstr>
      <vt:lpstr>DBSCAN: Core, Border, and Noise Points</vt:lpstr>
      <vt:lpstr>DBSCAN: Core, Border and Noise Points</vt:lpstr>
      <vt:lpstr>DBSCAN Algorithm</vt:lpstr>
      <vt:lpstr>When DBSCAN Works Well</vt:lpstr>
      <vt:lpstr>When DBSCAN Does NOT Work Well</vt:lpstr>
      <vt:lpstr>When DBSCAN Does NOT Work Well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Ahmedul Kabir</cp:lastModifiedBy>
  <cp:revision>669</cp:revision>
  <cp:lastPrinted>2017-03-24T21:43:53Z</cp:lastPrinted>
  <dcterms:created xsi:type="dcterms:W3CDTF">1998-03-18T13:44:31Z</dcterms:created>
  <dcterms:modified xsi:type="dcterms:W3CDTF">2026-09-06T17:29:37Z</dcterms:modified>
</cp:coreProperties>
</file>