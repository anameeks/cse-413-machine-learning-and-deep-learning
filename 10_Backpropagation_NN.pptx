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1"/>
  </p:notesMasterIdLst>
  <p:sldIdLst>
    <p:sldId id="256" r:id="rId2"/>
    <p:sldId id="1868" r:id="rId3"/>
    <p:sldId id="1871" r:id="rId4"/>
    <p:sldId id="1874" r:id="rId5"/>
    <p:sldId id="1875" r:id="rId6"/>
    <p:sldId id="1876" r:id="rId7"/>
    <p:sldId id="1877" r:id="rId8"/>
    <p:sldId id="1878" r:id="rId9"/>
    <p:sldId id="257" r:id="rId10"/>
    <p:sldId id="281" r:id="rId11"/>
    <p:sldId id="282" r:id="rId12"/>
    <p:sldId id="283" r:id="rId13"/>
    <p:sldId id="285" r:id="rId14"/>
    <p:sldId id="284" r:id="rId15"/>
    <p:sldId id="287" r:id="rId16"/>
    <p:sldId id="289" r:id="rId17"/>
    <p:sldId id="1883" r:id="rId18"/>
    <p:sldId id="290" r:id="rId19"/>
    <p:sldId id="273"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igw8TiAGEHEWRBJmlhZ8LyGFzd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F5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0C9AC0D-79A4-41F8-9187-85EBDDFB2577}">
  <a:tblStyle styleId="{B0C9AC0D-79A4-41F8-9187-85EBDDFB257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BEB0D0C-43E2-426A-8440-724715A16C01}"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21" autoAdjust="0"/>
  </p:normalViewPr>
  <p:slideViewPr>
    <p:cSldViewPr snapToGrid="0">
      <p:cViewPr varScale="1">
        <p:scale>
          <a:sx n="61" d="100"/>
          <a:sy n="61" d="100"/>
        </p:scale>
        <p:origin x="996" y="66"/>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Consider the task of computing elementary logical functions of two inputs, like AND, OR, and XOR. As a reminder, here are the truth tables for those functions: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a:t>
            </a:fld>
            <a:endParaRPr lang="en-US"/>
          </a:p>
        </p:txBody>
      </p:sp>
    </p:spTree>
    <p:extLst>
      <p:ext uri="{BB962C8B-B14F-4D97-AF65-F5344CB8AC3E}">
        <p14:creationId xmlns:p14="http://schemas.microsoft.com/office/powerpoint/2010/main" val="2559941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It’s very easy to build a perceptron that can compute the logical AND and OR functions of its binary inputs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Here's an example of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logical AND, showing weights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1 = 1 and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 = 1 and bias weight </a:t>
            </a:r>
            <a:r>
              <a:rPr lang="en-US" sz="1200" i="1" kern="1200" dirty="0">
                <a:solidFill>
                  <a:schemeClr val="tx1"/>
                </a:solidFill>
                <a:effectLst/>
                <a:latin typeface="+mn-lt"/>
                <a:ea typeface="+mn-ea"/>
                <a:cs typeface="+mn-cs"/>
              </a:rPr>
              <a:t>b </a:t>
            </a:r>
            <a:r>
              <a:rPr lang="en-US" sz="1200" kern="1200" dirty="0">
                <a:solidFill>
                  <a:schemeClr val="tx1"/>
                </a:solidFill>
                <a:effectLst/>
                <a:latin typeface="+mn-lt"/>
                <a:ea typeface="+mn-ea"/>
                <a:cs typeface="+mn-cs"/>
              </a:rPr>
              <a:t>= −1 and logical OR, showing weights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1 = 1 and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 = 1 and bias weight </a:t>
            </a:r>
            <a:r>
              <a:rPr lang="en-US" sz="1200" i="1" kern="1200" dirty="0">
                <a:solidFill>
                  <a:schemeClr val="tx1"/>
                </a:solidFill>
                <a:effectLst/>
                <a:latin typeface="+mn-lt"/>
                <a:ea typeface="+mn-ea"/>
                <a:cs typeface="+mn-cs"/>
              </a:rPr>
              <a:t>b </a:t>
            </a:r>
            <a:r>
              <a:rPr lang="en-US" sz="1200" kern="1200" dirty="0">
                <a:solidFill>
                  <a:schemeClr val="tx1"/>
                </a:solidFill>
                <a:effectLst/>
                <a:latin typeface="+mn-lt"/>
                <a:ea typeface="+mn-ea"/>
                <a:cs typeface="+mn-cs"/>
              </a:rPr>
              <a:t>= 0. These weights/biases are just one from an infinite number of possible sets of weights and biases that would implement the functions.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a:t>
            </a:fld>
            <a:endParaRPr lang="en-US"/>
          </a:p>
        </p:txBody>
      </p:sp>
    </p:spTree>
    <p:extLst>
      <p:ext uri="{BB962C8B-B14F-4D97-AF65-F5344CB8AC3E}">
        <p14:creationId xmlns:p14="http://schemas.microsoft.com/office/powerpoint/2010/main" val="2986662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Why? Crucially, the perceptron is a </a:t>
            </a:r>
            <a:r>
              <a:rPr lang="en-US" sz="1200" b="1" kern="1200" dirty="0">
                <a:solidFill>
                  <a:schemeClr val="tx1"/>
                </a:solidFill>
                <a:effectLst/>
                <a:latin typeface="+mn-lt"/>
                <a:ea typeface="+mn-ea"/>
                <a:cs typeface="+mn-cs"/>
              </a:rPr>
              <a:t>linear</a:t>
            </a:r>
            <a:r>
              <a:rPr lang="en-US" sz="1200" kern="1200" dirty="0">
                <a:solidFill>
                  <a:schemeClr val="tx1"/>
                </a:solidFill>
                <a:effectLst/>
                <a:latin typeface="+mn-lt"/>
                <a:ea typeface="+mn-ea"/>
                <a:cs typeface="+mn-cs"/>
              </a:rPr>
              <a:t> classifier. For a two-dimensional input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 and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 the perception equation,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1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 +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 + </a:t>
            </a:r>
            <a:r>
              <a:rPr lang="en-US" sz="1200" i="1" kern="1200" dirty="0">
                <a:solidFill>
                  <a:schemeClr val="tx1"/>
                </a:solidFill>
                <a:effectLst/>
                <a:latin typeface="+mn-lt"/>
                <a:ea typeface="+mn-ea"/>
                <a:cs typeface="+mn-cs"/>
              </a:rPr>
              <a:t>b </a:t>
            </a:r>
            <a:r>
              <a:rPr lang="en-US" sz="1200" kern="1200" dirty="0">
                <a:solidFill>
                  <a:schemeClr val="tx1"/>
                </a:solidFill>
                <a:effectLst/>
                <a:latin typeface="+mn-lt"/>
                <a:ea typeface="+mn-ea"/>
                <a:cs typeface="+mn-cs"/>
              </a:rPr>
              <a:t>= 0 is the equation of a line. (We can see this by putting it in the standard linear format: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 =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 + (−</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line acts as a decision boundary in two-dimensional space in which the output 0 is assigned to all inputs lying on one side of the line, and the output 1 to all input points lying on the other side of the line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we had more than 2 inputs, the decision boundary becomes a hyperplane instead of a line, but the idea is the same, separating the space into two categories.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a:t>
            </a:fld>
            <a:endParaRPr lang="en-US"/>
          </a:p>
        </p:txBody>
      </p:sp>
    </p:spTree>
    <p:extLst>
      <p:ext uri="{BB962C8B-B14F-4D97-AF65-F5344CB8AC3E}">
        <p14:creationId xmlns:p14="http://schemas.microsoft.com/office/powerpoint/2010/main" val="3866949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figures shows the possible logical inputs (00, 01, 10, and 11) and the line drawn by one possible set of parameters for an AND and an OR classifier. Notice that there is simply no way to draw a line that separates the positive cases of XOR (01 and 10) from the negative cases (00 and 11).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CLICK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say that XOR is not </a:t>
            </a:r>
            <a:r>
              <a:rPr lang="en-US" sz="1200" b="1" kern="1200" dirty="0">
                <a:solidFill>
                  <a:schemeClr val="tx1"/>
                </a:solidFill>
                <a:effectLst/>
                <a:latin typeface="+mn-lt"/>
                <a:ea typeface="+mn-ea"/>
                <a:cs typeface="+mn-cs"/>
              </a:rPr>
              <a:t>a linearly separable</a:t>
            </a:r>
            <a:r>
              <a:rPr lang="en-US" sz="1200" b="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function. Of course we could draw a boundary with a curve, or some other function, but not a single line.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387950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see an example of how to compute XOR using two layers of </a:t>
            </a:r>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-based units.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middle layer (called </a:t>
            </a:r>
            <a:r>
              <a:rPr lang="en-US" sz="1200" i="1" kern="1200" dirty="0">
                <a:solidFill>
                  <a:schemeClr val="tx1"/>
                </a:solidFill>
                <a:effectLst/>
                <a:latin typeface="+mn-lt"/>
                <a:ea typeface="+mn-ea"/>
                <a:cs typeface="+mn-cs"/>
              </a:rPr>
              <a:t>h</a:t>
            </a:r>
            <a:r>
              <a:rPr lang="en-US" sz="1200" kern="1200" dirty="0">
                <a:solidFill>
                  <a:schemeClr val="tx1"/>
                </a:solidFill>
                <a:effectLst/>
                <a:latin typeface="+mn-lt"/>
                <a:ea typeface="+mn-ea"/>
                <a:cs typeface="+mn-cs"/>
              </a:rPr>
              <a:t>) has two units, and the output layer (called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 has one unit.  These weights and biases will computes XOR.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Consider input x = [0, 0] ]. If we multiply each input value by the appropriate weight, sum, and then add the bias </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 DO THIS ON SLIDE  we get the vector [0 -1]  apply the </a:t>
            </a:r>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and we get [0 0], and the final value is 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3324942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It’s also instructive to look at the intermediate results, the outputs of the two hidden nodes </a:t>
            </a:r>
            <a:r>
              <a:rPr lang="en-US" sz="1200" i="1" kern="1200" dirty="0">
                <a:solidFill>
                  <a:schemeClr val="tx1"/>
                </a:solidFill>
                <a:effectLst/>
                <a:latin typeface="+mn-lt"/>
                <a:ea typeface="+mn-ea"/>
                <a:cs typeface="+mn-cs"/>
              </a:rPr>
              <a:t>h</a:t>
            </a:r>
            <a:r>
              <a:rPr lang="en-US" sz="1200" kern="1200" dirty="0">
                <a:solidFill>
                  <a:schemeClr val="tx1"/>
                </a:solidFill>
                <a:effectLst/>
                <a:latin typeface="+mn-lt"/>
                <a:ea typeface="+mn-ea"/>
                <a:cs typeface="+mn-cs"/>
              </a:rPr>
              <a:t>1 and </a:t>
            </a:r>
            <a:r>
              <a:rPr lang="en-US" sz="1200" i="1" kern="1200" dirty="0">
                <a:solidFill>
                  <a:schemeClr val="tx1"/>
                </a:solidFill>
                <a:effectLst/>
                <a:latin typeface="+mn-lt"/>
                <a:ea typeface="+mn-ea"/>
                <a:cs typeface="+mn-cs"/>
              </a:rPr>
              <a:t>h</a:t>
            </a:r>
            <a:r>
              <a:rPr lang="en-US" sz="1200" kern="1200" dirty="0">
                <a:solidFill>
                  <a:schemeClr val="tx1"/>
                </a:solidFill>
                <a:effectLst/>
                <a:latin typeface="+mn-lt"/>
                <a:ea typeface="+mn-ea"/>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are the values of the </a:t>
            </a:r>
            <a:r>
              <a:rPr lang="en-US" sz="1200" i="1" kern="1200" dirty="0">
                <a:solidFill>
                  <a:schemeClr val="tx1"/>
                </a:solidFill>
                <a:effectLst/>
                <a:latin typeface="+mn-lt"/>
                <a:ea typeface="+mn-ea"/>
                <a:cs typeface="+mn-cs"/>
              </a:rPr>
              <a:t>h </a:t>
            </a:r>
            <a:r>
              <a:rPr lang="en-US" sz="1200" kern="1200" dirty="0">
                <a:solidFill>
                  <a:schemeClr val="tx1"/>
                </a:solidFill>
                <a:effectLst/>
                <a:latin typeface="+mn-lt"/>
                <a:ea typeface="+mn-ea"/>
                <a:cs typeface="+mn-cs"/>
              </a:rPr>
              <a:t>layer for all 4 inputs. Notice that hidden representations of the two input points </a:t>
            </a:r>
            <a:r>
              <a:rPr lang="en-US" sz="1200" i="1" kern="1200" dirty="0">
                <a:solidFill>
                  <a:schemeClr val="tx1"/>
                </a:solidFill>
                <a:effectLst/>
                <a:latin typeface="+mn-lt"/>
                <a:ea typeface="+mn-ea"/>
                <a:cs typeface="+mn-cs"/>
              </a:rPr>
              <a:t>x </a:t>
            </a:r>
            <a:r>
              <a:rPr lang="en-US" sz="1200" kern="1200" dirty="0">
                <a:solidFill>
                  <a:schemeClr val="tx1"/>
                </a:solidFill>
                <a:effectLst/>
                <a:latin typeface="+mn-lt"/>
                <a:ea typeface="+mn-ea"/>
                <a:cs typeface="+mn-cs"/>
              </a:rPr>
              <a:t>= [0 1] and </a:t>
            </a:r>
            <a:r>
              <a:rPr lang="en-US" sz="1200" i="1" kern="1200" dirty="0">
                <a:solidFill>
                  <a:schemeClr val="tx1"/>
                </a:solidFill>
                <a:effectLst/>
                <a:latin typeface="+mn-lt"/>
                <a:ea typeface="+mn-ea"/>
                <a:cs typeface="+mn-cs"/>
              </a:rPr>
              <a:t>x </a:t>
            </a:r>
            <a:r>
              <a:rPr lang="en-US" sz="1200" kern="1200" dirty="0">
                <a:solidFill>
                  <a:schemeClr val="tx1"/>
                </a:solidFill>
                <a:effectLst/>
                <a:latin typeface="+mn-lt"/>
                <a:ea typeface="+mn-ea"/>
                <a:cs typeface="+mn-cs"/>
              </a:rPr>
              <a:t>= [1 0] (the two cases with XOR output = 1) are merged to the single point </a:t>
            </a:r>
            <a:r>
              <a:rPr lang="en-US" sz="1200" i="1" kern="1200" dirty="0">
                <a:solidFill>
                  <a:schemeClr val="tx1"/>
                </a:solidFill>
                <a:effectLst/>
                <a:latin typeface="+mn-lt"/>
                <a:ea typeface="+mn-ea"/>
                <a:cs typeface="+mn-cs"/>
              </a:rPr>
              <a:t>h </a:t>
            </a:r>
            <a:r>
              <a:rPr lang="en-US" sz="1200" kern="1200" dirty="0">
                <a:solidFill>
                  <a:schemeClr val="tx1"/>
                </a:solidFill>
                <a:effectLst/>
                <a:latin typeface="+mn-lt"/>
                <a:ea typeface="+mn-ea"/>
                <a:cs typeface="+mn-cs"/>
              </a:rPr>
              <a:t>= [1 0]. The merger makes it easy to linearly separate the positive and negative cases of XOR. In other words, we can view the hidden layer of the network </a:t>
            </a:r>
            <a:r>
              <a:rPr lang="en-US" sz="1200" b="1" kern="1200" dirty="0">
                <a:solidFill>
                  <a:schemeClr val="tx1"/>
                </a:solidFill>
                <a:effectLst/>
                <a:latin typeface="+mn-lt"/>
                <a:ea typeface="+mn-ea"/>
                <a:cs typeface="+mn-cs"/>
              </a:rPr>
              <a:t>as forming a useful representation </a:t>
            </a:r>
            <a:r>
              <a:rPr lang="en-US" sz="1200" kern="1200" dirty="0">
                <a:solidFill>
                  <a:schemeClr val="tx1"/>
                </a:solidFill>
                <a:effectLst/>
                <a:latin typeface="+mn-lt"/>
                <a:ea typeface="+mn-ea"/>
                <a:cs typeface="+mn-cs"/>
              </a:rPr>
              <a:t>for the input.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this example we just stipulated the weights. But for real examples the weights for neural networks are learned automatically using the error backpropagation algorithm we'll turn to. That means the hidden layers will learn to form useful representations. This intuition, that neural networks can automatically learn useful representations of the input, is one of their key advantages,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2068531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924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1509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8543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4388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2801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7200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3713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7" name="Google Shape;18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1"/>
          <p:cNvSpPr>
            <a:spLocks noGrp="1"/>
          </p:cNvSpPr>
          <p:nvPr>
            <p:ph type="pic" idx="2"/>
          </p:nvPr>
        </p:nvSpPr>
        <p:spPr>
          <a:xfrm>
            <a:off x="5183188" y="987425"/>
            <a:ext cx="6172200" cy="4873625"/>
          </a:xfrm>
          <a:prstGeom prst="rect">
            <a:avLst/>
          </a:prstGeom>
          <a:noFill/>
          <a:ln>
            <a:noFill/>
          </a:ln>
        </p:spPr>
      </p:sp>
      <p:sp>
        <p:nvSpPr>
          <p:cNvPr id="64" name="Google Shape;64;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233487" y="1122363"/>
            <a:ext cx="9725025" cy="1335087"/>
          </a:xfrm>
          <a:prstGeom prst="rect">
            <a:avLst/>
          </a:prstGeom>
          <a:noFill/>
          <a:ln>
            <a:noFill/>
          </a:ln>
        </p:spPr>
        <p:txBody>
          <a:bodyPr spcFirstLastPara="1" wrap="square" lIns="91425" tIns="45700" rIns="91425" bIns="45700" anchor="b" anchorCtr="0">
            <a:normAutofit fontScale="90000"/>
          </a:bodyPr>
          <a:lstStyle/>
          <a:p>
            <a:pPr marL="0" lvl="0" indent="0" algn="ctr" rtl="0">
              <a:spcBef>
                <a:spcPts val="0"/>
              </a:spcBef>
              <a:spcAft>
                <a:spcPts val="0"/>
              </a:spcAft>
              <a:buClr>
                <a:schemeClr val="dk1"/>
              </a:buClr>
              <a:buSzPts val="6000"/>
              <a:buFont typeface="Calibri"/>
              <a:buNone/>
            </a:pPr>
            <a:r>
              <a:rPr lang="en-US" dirty="0"/>
              <a:t>Artificial Neural Network (Part 2)</a:t>
            </a:r>
            <a:endParaRPr dirty="0"/>
          </a:p>
        </p:txBody>
      </p:sp>
      <p:sp>
        <p:nvSpPr>
          <p:cNvPr id="85" name="Google Shape;85;p1"/>
          <p:cNvSpPr txBox="1">
            <a:spLocks noGrp="1"/>
          </p:cNvSpPr>
          <p:nvPr>
            <p:ph type="subTitle" idx="1"/>
          </p:nvPr>
        </p:nvSpPr>
        <p:spPr>
          <a:xfrm>
            <a:off x="1523999" y="487086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2400"/>
              <a:buNone/>
            </a:pPr>
            <a:endParaRPr lang="en-US" dirty="0"/>
          </a:p>
          <a:p>
            <a:pPr marL="0" lvl="0" indent="0" algn="ctr" rtl="0">
              <a:lnSpc>
                <a:spcPct val="90000"/>
              </a:lnSpc>
              <a:spcBef>
                <a:spcPts val="1000"/>
              </a:spcBef>
              <a:spcAft>
                <a:spcPts val="0"/>
              </a:spcAft>
              <a:buClr>
                <a:schemeClr val="dk1"/>
              </a:buClr>
              <a:buSzPts val="2400"/>
              <a:buNone/>
            </a:pPr>
            <a:endParaRPr lang="en-US" dirty="0"/>
          </a:p>
          <a:p>
            <a:pPr marL="0" lvl="0" indent="0" algn="ctr" rtl="0">
              <a:lnSpc>
                <a:spcPct val="90000"/>
              </a:lnSpc>
              <a:spcBef>
                <a:spcPts val="1000"/>
              </a:spcBef>
              <a:spcAft>
                <a:spcPts val="0"/>
              </a:spcAft>
              <a:buClr>
                <a:schemeClr val="dk1"/>
              </a:buClr>
              <a:buSzPts val="2400"/>
              <a:buNone/>
            </a:pPr>
            <a:r>
              <a:rPr lang="en-US" dirty="0"/>
              <a:t>Dept. of CSE, University of Asia Pacific</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99FB9A-C943-6B4C-8EDF-D519C7F50328}"/>
              </a:ext>
            </a:extLst>
          </p:cNvPr>
          <p:cNvSpPr>
            <a:spLocks noGrp="1"/>
          </p:cNvSpPr>
          <p:nvPr>
            <p:ph type="title"/>
          </p:nvPr>
        </p:nvSpPr>
        <p:spPr/>
        <p:txBody>
          <a:bodyPr/>
          <a:lstStyle/>
          <a:p>
            <a:r>
              <a:rPr lang="en-US" dirty="0"/>
              <a:t>The XOR problem</a:t>
            </a:r>
          </a:p>
        </p:txBody>
      </p:sp>
      <p:sp>
        <p:nvSpPr>
          <p:cNvPr id="6" name="Content Placeholder 5">
            <a:extLst>
              <a:ext uri="{FF2B5EF4-FFF2-40B4-BE49-F238E27FC236}">
                <a16:creationId xmlns:a16="http://schemas.microsoft.com/office/drawing/2014/main" id="{AE3F83D6-52E3-3544-B567-9FD9A4DED1F0}"/>
              </a:ext>
            </a:extLst>
          </p:cNvPr>
          <p:cNvSpPr>
            <a:spLocks noGrp="1"/>
          </p:cNvSpPr>
          <p:nvPr>
            <p:ph idx="1"/>
          </p:nvPr>
        </p:nvSpPr>
        <p:spPr>
          <a:xfrm>
            <a:off x="1097283" y="1600200"/>
            <a:ext cx="10561319" cy="4572000"/>
          </a:xfrm>
        </p:spPr>
        <p:txBody>
          <a:bodyPr/>
          <a:lstStyle/>
          <a:p>
            <a:r>
              <a:rPr lang="en-US" dirty="0"/>
              <a:t>Can neural units compute simple functions of input?</a:t>
            </a:r>
          </a:p>
        </p:txBody>
      </p:sp>
      <p:pic>
        <p:nvPicPr>
          <p:cNvPr id="8" name="Picture 7">
            <a:extLst>
              <a:ext uri="{FF2B5EF4-FFF2-40B4-BE49-F238E27FC236}">
                <a16:creationId xmlns:a16="http://schemas.microsoft.com/office/drawing/2014/main" id="{7448890D-DC97-5946-B765-F1FE9D2E3834}"/>
              </a:ext>
            </a:extLst>
          </p:cNvPr>
          <p:cNvPicPr>
            <a:picLocks noChangeAspect="1"/>
          </p:cNvPicPr>
          <p:nvPr/>
        </p:nvPicPr>
        <p:blipFill>
          <a:blip r:embed="rId3"/>
          <a:stretch>
            <a:fillRect/>
          </a:stretch>
        </p:blipFill>
        <p:spPr>
          <a:xfrm>
            <a:off x="2395503" y="2819402"/>
            <a:ext cx="6666717" cy="2749551"/>
          </a:xfrm>
          <a:prstGeom prst="rect">
            <a:avLst/>
          </a:prstGeom>
        </p:spPr>
      </p:pic>
    </p:spTree>
    <p:extLst>
      <p:ext uri="{BB962C8B-B14F-4D97-AF65-F5344CB8AC3E}">
        <p14:creationId xmlns:p14="http://schemas.microsoft.com/office/powerpoint/2010/main" val="1851791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99BFA-410D-B24C-BF65-3D24341CABDA}"/>
              </a:ext>
            </a:extLst>
          </p:cNvPr>
          <p:cNvSpPr>
            <a:spLocks noGrp="1"/>
          </p:cNvSpPr>
          <p:nvPr>
            <p:ph type="title"/>
          </p:nvPr>
        </p:nvSpPr>
        <p:spPr>
          <a:xfrm>
            <a:off x="1097280" y="159603"/>
            <a:ext cx="10485120" cy="907196"/>
          </a:xfrm>
        </p:spPr>
        <p:txBody>
          <a:bodyPr>
            <a:normAutofit/>
          </a:bodyPr>
          <a:lstStyle/>
          <a:p>
            <a:r>
              <a:rPr lang="en-US" dirty="0"/>
              <a:t>Easy to build AND or OR with </a:t>
            </a:r>
            <a:r>
              <a:rPr lang="en-US" dirty="0" err="1"/>
              <a:t>perceptrons</a:t>
            </a:r>
            <a:endParaRPr lang="en-US" dirty="0"/>
          </a:p>
        </p:txBody>
      </p:sp>
      <p:pic>
        <p:nvPicPr>
          <p:cNvPr id="5" name="Content Placeholder 4">
            <a:extLst>
              <a:ext uri="{FF2B5EF4-FFF2-40B4-BE49-F238E27FC236}">
                <a16:creationId xmlns:a16="http://schemas.microsoft.com/office/drawing/2014/main" id="{45284742-97D2-0140-A1B6-A3491FD6BE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2003" y="2075144"/>
            <a:ext cx="3268663" cy="3021037"/>
          </a:xfrm>
        </p:spPr>
      </p:pic>
      <p:pic>
        <p:nvPicPr>
          <p:cNvPr id="9" name="Picture 8">
            <a:extLst>
              <a:ext uri="{FF2B5EF4-FFF2-40B4-BE49-F238E27FC236}">
                <a16:creationId xmlns:a16="http://schemas.microsoft.com/office/drawing/2014/main" id="{3963DCBD-9171-5046-9717-5984A64D26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3" y="2117557"/>
            <a:ext cx="3268663" cy="2921987"/>
          </a:xfrm>
          <a:prstGeom prst="rect">
            <a:avLst/>
          </a:prstGeom>
        </p:spPr>
      </p:pic>
      <p:sp>
        <p:nvSpPr>
          <p:cNvPr id="10" name="TextBox 9">
            <a:extLst>
              <a:ext uri="{FF2B5EF4-FFF2-40B4-BE49-F238E27FC236}">
                <a16:creationId xmlns:a16="http://schemas.microsoft.com/office/drawing/2014/main" id="{FEE09ED7-F206-F446-BABA-488DF461C797}"/>
              </a:ext>
            </a:extLst>
          </p:cNvPr>
          <p:cNvSpPr txBox="1"/>
          <p:nvPr/>
        </p:nvSpPr>
        <p:spPr>
          <a:xfrm>
            <a:off x="1690531" y="5679743"/>
            <a:ext cx="1430200" cy="800219"/>
          </a:xfrm>
          <a:prstGeom prst="rect">
            <a:avLst/>
          </a:prstGeom>
          <a:noFill/>
        </p:spPr>
        <p:txBody>
          <a:bodyPr wrap="none" rtlCol="0">
            <a:spAutoFit/>
          </a:bodyPr>
          <a:lstStyle/>
          <a:p>
            <a:r>
              <a:rPr lang="en-US" sz="4600" dirty="0">
                <a:solidFill>
                  <a:srgbClr val="FF0000"/>
                </a:solidFill>
              </a:rPr>
              <a:t>AND</a:t>
            </a:r>
          </a:p>
        </p:txBody>
      </p:sp>
      <p:sp>
        <p:nvSpPr>
          <p:cNvPr id="11" name="TextBox 10">
            <a:extLst>
              <a:ext uri="{FF2B5EF4-FFF2-40B4-BE49-F238E27FC236}">
                <a16:creationId xmlns:a16="http://schemas.microsoft.com/office/drawing/2014/main" id="{87805B26-E240-1047-9604-D7E62D9C55ED}"/>
              </a:ext>
            </a:extLst>
          </p:cNvPr>
          <p:cNvSpPr txBox="1"/>
          <p:nvPr/>
        </p:nvSpPr>
        <p:spPr>
          <a:xfrm>
            <a:off x="8044133" y="5679743"/>
            <a:ext cx="1069524" cy="800219"/>
          </a:xfrm>
          <a:prstGeom prst="rect">
            <a:avLst/>
          </a:prstGeom>
          <a:noFill/>
        </p:spPr>
        <p:txBody>
          <a:bodyPr wrap="none" rtlCol="0">
            <a:spAutoFit/>
          </a:bodyPr>
          <a:lstStyle/>
          <a:p>
            <a:r>
              <a:rPr lang="en-US" sz="4600" dirty="0">
                <a:solidFill>
                  <a:srgbClr val="FF0000"/>
                </a:solidFill>
              </a:rPr>
              <a:t>OR</a:t>
            </a:r>
          </a:p>
        </p:txBody>
      </p:sp>
      <p:pic>
        <p:nvPicPr>
          <p:cNvPr id="12" name="Picture 11">
            <a:extLst>
              <a:ext uri="{FF2B5EF4-FFF2-40B4-BE49-F238E27FC236}">
                <a16:creationId xmlns:a16="http://schemas.microsoft.com/office/drawing/2014/main" id="{81158073-CB00-CC49-A54D-6C68D64F173D}"/>
              </a:ext>
            </a:extLst>
          </p:cNvPr>
          <p:cNvPicPr>
            <a:picLocks noChangeAspect="1"/>
          </p:cNvPicPr>
          <p:nvPr/>
        </p:nvPicPr>
        <p:blipFill rotWithShape="1">
          <a:blip r:embed="rId5"/>
          <a:srcRect r="72485"/>
          <a:stretch/>
        </p:blipFill>
        <p:spPr>
          <a:xfrm>
            <a:off x="4261643" y="3998795"/>
            <a:ext cx="1834359" cy="2749551"/>
          </a:xfrm>
          <a:prstGeom prst="rect">
            <a:avLst/>
          </a:prstGeom>
        </p:spPr>
      </p:pic>
      <p:pic>
        <p:nvPicPr>
          <p:cNvPr id="13" name="Picture 12">
            <a:extLst>
              <a:ext uri="{FF2B5EF4-FFF2-40B4-BE49-F238E27FC236}">
                <a16:creationId xmlns:a16="http://schemas.microsoft.com/office/drawing/2014/main" id="{0924C8E8-F56C-1E44-8F12-EEED21AA4836}"/>
              </a:ext>
            </a:extLst>
          </p:cNvPr>
          <p:cNvPicPr>
            <a:picLocks noChangeAspect="1"/>
          </p:cNvPicPr>
          <p:nvPr/>
        </p:nvPicPr>
        <p:blipFill rotWithShape="1">
          <a:blip r:embed="rId6"/>
          <a:srcRect l="37719" r="37135"/>
          <a:stretch/>
        </p:blipFill>
        <p:spPr>
          <a:xfrm>
            <a:off x="10128939" y="4145983"/>
            <a:ext cx="1676400" cy="2749551"/>
          </a:xfrm>
          <a:prstGeom prst="rect">
            <a:avLst/>
          </a:prstGeom>
        </p:spPr>
      </p:pic>
      <p:pic>
        <p:nvPicPr>
          <p:cNvPr id="14" name="Picture 13">
            <a:extLst>
              <a:ext uri="{FF2B5EF4-FFF2-40B4-BE49-F238E27FC236}">
                <a16:creationId xmlns:a16="http://schemas.microsoft.com/office/drawing/2014/main" id="{AFF01BBC-BB85-F243-9271-52F35FE98F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1000" y="912131"/>
            <a:ext cx="3268664" cy="952039"/>
          </a:xfrm>
          <a:prstGeom prst="rect">
            <a:avLst/>
          </a:prstGeom>
        </p:spPr>
      </p:pic>
    </p:spTree>
    <p:extLst>
      <p:ext uri="{BB962C8B-B14F-4D97-AF65-F5344CB8AC3E}">
        <p14:creationId xmlns:p14="http://schemas.microsoft.com/office/powerpoint/2010/main" val="1327518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18C1-E8D6-D742-8CAC-8E4C6FFE29A4}"/>
              </a:ext>
            </a:extLst>
          </p:cNvPr>
          <p:cNvSpPr>
            <a:spLocks noGrp="1"/>
          </p:cNvSpPr>
          <p:nvPr>
            <p:ph type="title"/>
          </p:nvPr>
        </p:nvSpPr>
        <p:spPr>
          <a:xfrm>
            <a:off x="1097283" y="2521805"/>
            <a:ext cx="10058400" cy="907196"/>
          </a:xfrm>
        </p:spPr>
        <p:txBody>
          <a:bodyPr>
            <a:normAutofit fontScale="90000"/>
          </a:bodyPr>
          <a:lstStyle/>
          <a:p>
            <a:r>
              <a:rPr lang="en-US" dirty="0"/>
              <a:t>Not possible to capture XOR with </a:t>
            </a:r>
            <a:r>
              <a:rPr lang="en-US" dirty="0" err="1"/>
              <a:t>perceptrons</a:t>
            </a:r>
            <a:endParaRPr lang="en-US" dirty="0"/>
          </a:p>
        </p:txBody>
      </p:sp>
      <p:sp>
        <p:nvSpPr>
          <p:cNvPr id="3" name="Content Placeholder 2">
            <a:extLst>
              <a:ext uri="{FF2B5EF4-FFF2-40B4-BE49-F238E27FC236}">
                <a16:creationId xmlns:a16="http://schemas.microsoft.com/office/drawing/2014/main" id="{2F2C0543-8543-A645-836C-B2CC36C60FA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732361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385C3-A172-5041-8212-22414CA6F000}"/>
              </a:ext>
            </a:extLst>
          </p:cNvPr>
          <p:cNvSpPr>
            <a:spLocks noGrp="1"/>
          </p:cNvSpPr>
          <p:nvPr>
            <p:ph type="title"/>
          </p:nvPr>
        </p:nvSpPr>
        <p:spPr/>
        <p:txBody>
          <a:bodyPr/>
          <a:lstStyle/>
          <a:p>
            <a:r>
              <a:rPr lang="en-US" dirty="0"/>
              <a:t>Why? </a:t>
            </a:r>
            <a:r>
              <a:rPr lang="en-US" dirty="0" err="1"/>
              <a:t>Perceptrons</a:t>
            </a:r>
            <a:r>
              <a:rPr lang="en-US" dirty="0"/>
              <a:t> are linear classifiers</a:t>
            </a:r>
          </a:p>
        </p:txBody>
      </p:sp>
      <p:sp>
        <p:nvSpPr>
          <p:cNvPr id="3" name="Content Placeholder 2">
            <a:extLst>
              <a:ext uri="{FF2B5EF4-FFF2-40B4-BE49-F238E27FC236}">
                <a16:creationId xmlns:a16="http://schemas.microsoft.com/office/drawing/2014/main" id="{1AAFDE0E-E1CE-524A-8D11-F5AF079C4B65}"/>
              </a:ext>
            </a:extLst>
          </p:cNvPr>
          <p:cNvSpPr>
            <a:spLocks noGrp="1"/>
          </p:cNvSpPr>
          <p:nvPr>
            <p:ph idx="1"/>
          </p:nvPr>
        </p:nvSpPr>
        <p:spPr>
          <a:xfrm>
            <a:off x="762000" y="1600200"/>
            <a:ext cx="11201400" cy="4572000"/>
          </a:xfrm>
        </p:spPr>
        <p:txBody>
          <a:bodyPr>
            <a:normAutofit/>
          </a:bodyPr>
          <a:lstStyle/>
          <a:p>
            <a:r>
              <a:rPr lang="en-US" sz="3000" dirty="0"/>
              <a:t>Perceptron equation given</a:t>
            </a:r>
            <a:r>
              <a:rPr lang="en-US" sz="3000" i="1" dirty="0"/>
              <a:t> x</a:t>
            </a:r>
            <a:r>
              <a:rPr lang="en-US" sz="3000" baseline="-25000" dirty="0"/>
              <a:t>1</a:t>
            </a:r>
            <a:r>
              <a:rPr lang="en-US" sz="3000" dirty="0"/>
              <a:t> and </a:t>
            </a:r>
            <a:r>
              <a:rPr lang="en-US" sz="3000" i="1" dirty="0"/>
              <a:t>x</a:t>
            </a:r>
            <a:r>
              <a:rPr lang="en-US" sz="3000" baseline="-25000" dirty="0"/>
              <a:t>2</a:t>
            </a:r>
            <a:r>
              <a:rPr lang="en-US" sz="3000" dirty="0"/>
              <a:t>, is the equation of a line</a:t>
            </a:r>
          </a:p>
          <a:p>
            <a:endParaRPr lang="en-US" sz="133" i="1" dirty="0">
              <a:latin typeface="Times New Roman" panose="02020603050405020304" pitchFamily="18" charset="0"/>
              <a:cs typeface="Times New Roman" panose="02020603050405020304" pitchFamily="18" charset="0"/>
            </a:endParaRPr>
          </a:p>
          <a:p>
            <a:pPr marL="114300" indent="0">
              <a:buNone/>
            </a:pPr>
            <a:r>
              <a:rPr lang="en-US" i="1" dirty="0">
                <a:latin typeface="Times New Roman" panose="02020603050405020304" pitchFamily="18" charset="0"/>
                <a:cs typeface="Times New Roman" panose="02020603050405020304" pitchFamily="18" charset="0"/>
              </a:rPr>
              <a:t>		w</a:t>
            </a:r>
            <a:r>
              <a:rPr lang="en-US" baseline="-25000" dirty="0">
                <a:latin typeface="Times New Roman" panose="02020603050405020304" pitchFamily="18" charset="0"/>
                <a:cs typeface="Times New Roman" panose="02020603050405020304" pitchFamily="18" charset="0"/>
              </a:rPr>
              <a:t>1</a:t>
            </a:r>
            <a:r>
              <a:rPr lang="en-US" i="1" dirty="0">
                <a:latin typeface="Times New Roman" panose="02020603050405020304" pitchFamily="18" charset="0"/>
                <a:cs typeface="Times New Roman" panose="02020603050405020304" pitchFamily="18" charset="0"/>
              </a:rPr>
              <a:t>x</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 </a:t>
            </a:r>
            <a:r>
              <a:rPr lang="en-US" i="1" dirty="0">
                <a:latin typeface="Times New Roman" panose="02020603050405020304" pitchFamily="18" charset="0"/>
                <a:cs typeface="Times New Roman" panose="02020603050405020304" pitchFamily="18" charset="0"/>
              </a:rPr>
              <a:t>w</a:t>
            </a:r>
            <a:r>
              <a:rPr lang="en-US" baseline="-25000"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x</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a:t>
            </a:r>
            <a:r>
              <a:rPr lang="en-US" i="1" dirty="0">
                <a:latin typeface="Times New Roman" panose="02020603050405020304" pitchFamily="18" charset="0"/>
                <a:cs typeface="Times New Roman" panose="02020603050405020304" pitchFamily="18" charset="0"/>
              </a:rPr>
              <a:t>b </a:t>
            </a:r>
            <a:r>
              <a:rPr lang="en-US" dirty="0">
                <a:latin typeface="Times New Roman" panose="02020603050405020304" pitchFamily="18" charset="0"/>
                <a:cs typeface="Times New Roman" panose="02020603050405020304" pitchFamily="18" charset="0"/>
              </a:rPr>
              <a:t>= 0</a:t>
            </a:r>
          </a:p>
          <a:p>
            <a:endParaRPr lang="en-US" sz="19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sz="3600" dirty="0"/>
              <a:t>This line acts as a </a:t>
            </a:r>
            <a:r>
              <a:rPr lang="en-US" sz="3600" b="1" dirty="0"/>
              <a:t>decision boundary </a:t>
            </a:r>
          </a:p>
          <a:p>
            <a:pPr marL="571472" indent="-571472">
              <a:buFont typeface="Arial" panose="020B0604020202020204" pitchFamily="34" charset="0"/>
              <a:buChar char="•"/>
            </a:pPr>
            <a:r>
              <a:rPr lang="en-US" dirty="0"/>
              <a:t>0 if input is on one side of the line</a:t>
            </a:r>
          </a:p>
          <a:p>
            <a:pPr marL="571472" indent="-571472">
              <a:buFont typeface="Arial" panose="020B0604020202020204" pitchFamily="34" charset="0"/>
              <a:buChar char="•"/>
            </a:pPr>
            <a:r>
              <a:rPr lang="en-US" dirty="0"/>
              <a:t>1 if on the other side of the line </a:t>
            </a:r>
          </a:p>
          <a:p>
            <a:endParaRPr lang="en-US" dirty="0"/>
          </a:p>
          <a:p>
            <a:endParaRPr lang="en-US" dirty="0"/>
          </a:p>
        </p:txBody>
      </p:sp>
    </p:spTree>
    <p:extLst>
      <p:ext uri="{BB962C8B-B14F-4D97-AF65-F5344CB8AC3E}">
        <p14:creationId xmlns:p14="http://schemas.microsoft.com/office/powerpoint/2010/main" val="2610764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F5F8-0D5F-3245-94FD-1C8CCF866339}"/>
              </a:ext>
            </a:extLst>
          </p:cNvPr>
          <p:cNvSpPr>
            <a:spLocks noGrp="1"/>
          </p:cNvSpPr>
          <p:nvPr>
            <p:ph type="title"/>
          </p:nvPr>
        </p:nvSpPr>
        <p:spPr/>
        <p:txBody>
          <a:bodyPr/>
          <a:lstStyle/>
          <a:p>
            <a:r>
              <a:rPr lang="en-US" dirty="0"/>
              <a:t>Decision boundaries</a:t>
            </a:r>
          </a:p>
        </p:txBody>
      </p:sp>
      <p:pic>
        <p:nvPicPr>
          <p:cNvPr id="5" name="Content Placeholder 4">
            <a:extLst>
              <a:ext uri="{FF2B5EF4-FFF2-40B4-BE49-F238E27FC236}">
                <a16:creationId xmlns:a16="http://schemas.microsoft.com/office/drawing/2014/main" id="{D0AD8B8A-830C-0C44-9E6F-6C293F658D7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96963" y="2006815"/>
            <a:ext cx="10058400" cy="3758775"/>
          </a:xfrm>
        </p:spPr>
      </p:pic>
      <p:sp>
        <p:nvSpPr>
          <p:cNvPr id="6" name="TextBox 5">
            <a:extLst>
              <a:ext uri="{FF2B5EF4-FFF2-40B4-BE49-F238E27FC236}">
                <a16:creationId xmlns:a16="http://schemas.microsoft.com/office/drawing/2014/main" id="{AC3C8879-6437-8943-9093-17F82EABF9AC}"/>
              </a:ext>
            </a:extLst>
          </p:cNvPr>
          <p:cNvSpPr txBox="1"/>
          <p:nvPr/>
        </p:nvSpPr>
        <p:spPr>
          <a:xfrm>
            <a:off x="1524003" y="6092254"/>
            <a:ext cx="8699818" cy="646331"/>
          </a:xfrm>
          <a:prstGeom prst="rect">
            <a:avLst/>
          </a:prstGeom>
          <a:noFill/>
        </p:spPr>
        <p:txBody>
          <a:bodyPr wrap="none" rtlCol="0">
            <a:spAutoFit/>
          </a:bodyPr>
          <a:lstStyle/>
          <a:p>
            <a:r>
              <a:rPr lang="en-US" sz="3600" dirty="0"/>
              <a:t>XOR is not a </a:t>
            </a:r>
            <a:r>
              <a:rPr lang="en-US" sz="3600" b="1" dirty="0"/>
              <a:t>linearly separable </a:t>
            </a:r>
            <a:r>
              <a:rPr lang="en-US" sz="3600" dirty="0"/>
              <a:t>function!</a:t>
            </a:r>
          </a:p>
        </p:txBody>
      </p:sp>
    </p:spTree>
    <p:extLst>
      <p:ext uri="{BB962C8B-B14F-4D97-AF65-F5344CB8AC3E}">
        <p14:creationId xmlns:p14="http://schemas.microsoft.com/office/powerpoint/2010/main" val="320832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00CDF-4095-E945-BC36-7F20101FB0C8}"/>
              </a:ext>
            </a:extLst>
          </p:cNvPr>
          <p:cNvSpPr>
            <a:spLocks noGrp="1"/>
          </p:cNvSpPr>
          <p:nvPr>
            <p:ph type="title"/>
          </p:nvPr>
        </p:nvSpPr>
        <p:spPr/>
        <p:txBody>
          <a:bodyPr/>
          <a:lstStyle/>
          <a:p>
            <a:r>
              <a:rPr lang="en-US" dirty="0"/>
              <a:t>Solution to the XOR problem</a:t>
            </a:r>
          </a:p>
        </p:txBody>
      </p:sp>
      <p:sp>
        <p:nvSpPr>
          <p:cNvPr id="3" name="Content Placeholder 2">
            <a:extLst>
              <a:ext uri="{FF2B5EF4-FFF2-40B4-BE49-F238E27FC236}">
                <a16:creationId xmlns:a16="http://schemas.microsoft.com/office/drawing/2014/main" id="{AC2EC889-7681-0C43-9C9E-AC7B0207504E}"/>
              </a:ext>
            </a:extLst>
          </p:cNvPr>
          <p:cNvSpPr>
            <a:spLocks noGrp="1"/>
          </p:cNvSpPr>
          <p:nvPr>
            <p:ph idx="1"/>
          </p:nvPr>
        </p:nvSpPr>
        <p:spPr>
          <a:xfrm>
            <a:off x="1097283" y="1600200"/>
            <a:ext cx="10713719" cy="4572000"/>
          </a:xfrm>
        </p:spPr>
        <p:txBody>
          <a:bodyPr/>
          <a:lstStyle/>
          <a:p>
            <a:r>
              <a:rPr lang="en-US" dirty="0"/>
              <a:t>XOR </a:t>
            </a:r>
            <a:r>
              <a:rPr lang="en-US" b="1" dirty="0"/>
              <a:t>can't</a:t>
            </a:r>
            <a:r>
              <a:rPr lang="en-US" dirty="0"/>
              <a:t> be calculated by a single perceptron</a:t>
            </a:r>
          </a:p>
          <a:p>
            <a:r>
              <a:rPr lang="en-US" dirty="0"/>
              <a:t>XOR </a:t>
            </a:r>
            <a:r>
              <a:rPr lang="en-US" b="1" dirty="0"/>
              <a:t>can</a:t>
            </a:r>
            <a:r>
              <a:rPr lang="en-US" dirty="0"/>
              <a:t> be calculated by a layered network of units. </a:t>
            </a:r>
          </a:p>
          <a:p>
            <a:endParaRPr lang="en-US" dirty="0"/>
          </a:p>
        </p:txBody>
      </p:sp>
      <p:pic>
        <p:nvPicPr>
          <p:cNvPr id="5" name="Picture 4">
            <a:extLst>
              <a:ext uri="{FF2B5EF4-FFF2-40B4-BE49-F238E27FC236}">
                <a16:creationId xmlns:a16="http://schemas.microsoft.com/office/drawing/2014/main" id="{D58FDE86-E652-7D44-806E-6D695F2A52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7275" y="3057527"/>
            <a:ext cx="4495800" cy="3263900"/>
          </a:xfrm>
          <a:prstGeom prst="rect">
            <a:avLst/>
          </a:prstGeom>
        </p:spPr>
      </p:pic>
      <p:pic>
        <p:nvPicPr>
          <p:cNvPr id="6" name="Picture 5">
            <a:extLst>
              <a:ext uri="{FF2B5EF4-FFF2-40B4-BE49-F238E27FC236}">
                <a16:creationId xmlns:a16="http://schemas.microsoft.com/office/drawing/2014/main" id="{B95706E5-FEA5-AD4E-8127-71F0BC33486D}"/>
              </a:ext>
            </a:extLst>
          </p:cNvPr>
          <p:cNvPicPr>
            <a:picLocks noChangeAspect="1"/>
          </p:cNvPicPr>
          <p:nvPr/>
        </p:nvPicPr>
        <p:blipFill rotWithShape="1">
          <a:blip r:embed="rId4"/>
          <a:srcRect l="74938"/>
          <a:stretch/>
        </p:blipFill>
        <p:spPr>
          <a:xfrm>
            <a:off x="1992499" y="3314702"/>
            <a:ext cx="1670819" cy="2749551"/>
          </a:xfrm>
          <a:prstGeom prst="rect">
            <a:avLst/>
          </a:prstGeom>
        </p:spPr>
      </p:pic>
      <p:sp>
        <p:nvSpPr>
          <p:cNvPr id="4" name="TextBox 3">
            <a:extLst>
              <a:ext uri="{FF2B5EF4-FFF2-40B4-BE49-F238E27FC236}">
                <a16:creationId xmlns:a16="http://schemas.microsoft.com/office/drawing/2014/main" id="{B7BA4D31-AD8C-4B45-8B6E-A4FB0760CED7}"/>
              </a:ext>
            </a:extLst>
          </p:cNvPr>
          <p:cNvSpPr txBox="1"/>
          <p:nvPr/>
        </p:nvSpPr>
        <p:spPr>
          <a:xfrm>
            <a:off x="4334422" y="4320145"/>
            <a:ext cx="973343" cy="461665"/>
          </a:xfrm>
          <a:prstGeom prst="rect">
            <a:avLst/>
          </a:prstGeom>
          <a:noFill/>
        </p:spPr>
        <p:txBody>
          <a:bodyPr wrap="none" rtlCol="0">
            <a:spAutoFit/>
          </a:bodyPr>
          <a:lstStyle/>
          <a:p>
            <a:r>
              <a:rPr lang="en-US" sz="2400" dirty="0" err="1"/>
              <a:t>ReLU</a:t>
            </a:r>
            <a:endParaRPr lang="en-US" sz="2400" dirty="0"/>
          </a:p>
        </p:txBody>
      </p:sp>
      <p:sp>
        <p:nvSpPr>
          <p:cNvPr id="7" name="TextBox 6">
            <a:extLst>
              <a:ext uri="{FF2B5EF4-FFF2-40B4-BE49-F238E27FC236}">
                <a16:creationId xmlns:a16="http://schemas.microsoft.com/office/drawing/2014/main" id="{0B095193-D01D-A94C-907C-707EDCB6CA87}"/>
              </a:ext>
            </a:extLst>
          </p:cNvPr>
          <p:cNvSpPr txBox="1"/>
          <p:nvPr/>
        </p:nvSpPr>
        <p:spPr>
          <a:xfrm>
            <a:off x="4927674" y="3083869"/>
            <a:ext cx="973343" cy="461665"/>
          </a:xfrm>
          <a:prstGeom prst="rect">
            <a:avLst/>
          </a:prstGeom>
          <a:noFill/>
        </p:spPr>
        <p:txBody>
          <a:bodyPr wrap="none" rtlCol="0">
            <a:spAutoFit/>
          </a:bodyPr>
          <a:lstStyle/>
          <a:p>
            <a:r>
              <a:rPr lang="en-US" sz="2400" dirty="0" err="1"/>
              <a:t>ReLU</a:t>
            </a:r>
            <a:endParaRPr lang="en-US" sz="2400" dirty="0"/>
          </a:p>
        </p:txBody>
      </p:sp>
    </p:spTree>
    <p:extLst>
      <p:ext uri="{BB962C8B-B14F-4D97-AF65-F5344CB8AC3E}">
        <p14:creationId xmlns:p14="http://schemas.microsoft.com/office/powerpoint/2010/main" val="44072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9C815-B25A-DA4D-8DF5-65BE0D9F65F3}"/>
              </a:ext>
            </a:extLst>
          </p:cNvPr>
          <p:cNvSpPr>
            <a:spLocks noGrp="1"/>
          </p:cNvSpPr>
          <p:nvPr>
            <p:ph type="title"/>
          </p:nvPr>
        </p:nvSpPr>
        <p:spPr/>
        <p:txBody>
          <a:bodyPr/>
          <a:lstStyle/>
          <a:p>
            <a:r>
              <a:rPr lang="en-US" dirty="0"/>
              <a:t>The hidden representation h</a:t>
            </a:r>
          </a:p>
        </p:txBody>
      </p:sp>
      <p:pic>
        <p:nvPicPr>
          <p:cNvPr id="5" name="Content Placeholder 4">
            <a:extLst>
              <a:ext uri="{FF2B5EF4-FFF2-40B4-BE49-F238E27FC236}">
                <a16:creationId xmlns:a16="http://schemas.microsoft.com/office/drawing/2014/main" id="{54B94C4C-4588-954C-AC93-FA97E90700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52601" y="1600200"/>
            <a:ext cx="9351547" cy="4294437"/>
          </a:xfrm>
        </p:spPr>
      </p:pic>
      <p:pic>
        <p:nvPicPr>
          <p:cNvPr id="6" name="Picture 5">
            <a:extLst>
              <a:ext uri="{FF2B5EF4-FFF2-40B4-BE49-F238E27FC236}">
                <a16:creationId xmlns:a16="http://schemas.microsoft.com/office/drawing/2014/main" id="{36661EAF-414B-D843-9813-1E667240FB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236993"/>
            <a:ext cx="2286000" cy="1659611"/>
          </a:xfrm>
          <a:prstGeom prst="rect">
            <a:avLst/>
          </a:prstGeom>
        </p:spPr>
      </p:pic>
      <p:sp>
        <p:nvSpPr>
          <p:cNvPr id="7" name="TextBox 6">
            <a:extLst>
              <a:ext uri="{FF2B5EF4-FFF2-40B4-BE49-F238E27FC236}">
                <a16:creationId xmlns:a16="http://schemas.microsoft.com/office/drawing/2014/main" id="{6E418B94-D5F7-1043-8A08-3BB98D7D3908}"/>
              </a:ext>
            </a:extLst>
          </p:cNvPr>
          <p:cNvSpPr txBox="1"/>
          <p:nvPr/>
        </p:nvSpPr>
        <p:spPr>
          <a:xfrm>
            <a:off x="434033" y="6231265"/>
            <a:ext cx="11323934" cy="523220"/>
          </a:xfrm>
          <a:prstGeom prst="rect">
            <a:avLst/>
          </a:prstGeom>
          <a:noFill/>
        </p:spPr>
        <p:txBody>
          <a:bodyPr wrap="none" rtlCol="0">
            <a:spAutoFit/>
          </a:bodyPr>
          <a:lstStyle/>
          <a:p>
            <a:r>
              <a:rPr lang="en-US" sz="2800" dirty="0"/>
              <a:t>(With learning:  hidden layers will learn to form useful representations)</a:t>
            </a:r>
          </a:p>
        </p:txBody>
      </p:sp>
    </p:spTree>
    <p:extLst>
      <p:ext uri="{BB962C8B-B14F-4D97-AF65-F5344CB8AC3E}">
        <p14:creationId xmlns:p14="http://schemas.microsoft.com/office/powerpoint/2010/main" val="2836735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018675" y="136525"/>
            <a:ext cx="10515600" cy="924339"/>
          </a:xfrm>
          <a:prstGeom prst="rect">
            <a:avLst/>
          </a:prstGeom>
          <a:noFill/>
          <a:ln>
            <a:noFill/>
          </a:ln>
        </p:spPr>
        <p:txBody>
          <a:bodyPr spcFirstLastPara="1" wrap="square" lIns="91425" tIns="45700" rIns="91425" bIns="45700" anchor="ctr" anchorCtr="0">
            <a:normAutofit/>
          </a:bodyPr>
          <a:lstStyle/>
          <a:p>
            <a:r>
              <a:rPr lang="en-US" altLang="en-US" dirty="0"/>
              <a:t>Feed Forward Neural Network (FFNN)</a:t>
            </a:r>
          </a:p>
        </p:txBody>
      </p:sp>
      <p:sp>
        <p:nvSpPr>
          <p:cNvPr id="91" name="Google Shape;91;p2"/>
          <p:cNvSpPr txBox="1">
            <a:spLocks noGrp="1"/>
          </p:cNvSpPr>
          <p:nvPr>
            <p:ph type="body" idx="1"/>
          </p:nvPr>
        </p:nvSpPr>
        <p:spPr>
          <a:xfrm>
            <a:off x="657724" y="1124712"/>
            <a:ext cx="10972622" cy="5486399"/>
          </a:xfrm>
          <a:prstGeom prst="rect">
            <a:avLst/>
          </a:prstGeom>
          <a:noFill/>
          <a:ln>
            <a:noFill/>
          </a:ln>
        </p:spPr>
        <p:txBody>
          <a:bodyPr spcFirstLastPara="1" wrap="square" lIns="91425" tIns="45700" rIns="91425" bIns="45700" anchor="t" anchorCtr="0">
            <a:normAutofit/>
          </a:bodyPr>
          <a:lstStyle/>
          <a:p>
            <a:r>
              <a:rPr lang="en-US" dirty="0"/>
              <a:t>A typical feed forward ANN consists of:</a:t>
            </a:r>
          </a:p>
          <a:p>
            <a:r>
              <a:rPr lang="en-US" b="1" dirty="0"/>
              <a:t>Input Layer</a:t>
            </a:r>
            <a:r>
              <a:rPr lang="en-US" dirty="0"/>
              <a:t>: Takes the input features.</a:t>
            </a:r>
          </a:p>
          <a:p>
            <a:r>
              <a:rPr lang="en-US" b="1" dirty="0"/>
              <a:t>Hidden Layer(s)</a:t>
            </a:r>
            <a:r>
              <a:rPr lang="en-US" dirty="0"/>
              <a:t>: One or more layers where neurons apply weights and activation functions to transform the input.</a:t>
            </a:r>
          </a:p>
          <a:p>
            <a:r>
              <a:rPr lang="en-US" b="1" dirty="0"/>
              <a:t>Output Layer</a:t>
            </a:r>
            <a:r>
              <a:rPr lang="en-US" dirty="0"/>
              <a:t>: Produces the final prediction.</a:t>
            </a:r>
          </a:p>
        </p:txBody>
      </p:sp>
      <p:sp>
        <p:nvSpPr>
          <p:cNvPr id="2" name="Slide Number Placeholder 1">
            <a:extLst>
              <a:ext uri="{FF2B5EF4-FFF2-40B4-BE49-F238E27FC236}">
                <a16:creationId xmlns:a16="http://schemas.microsoft.com/office/drawing/2014/main" id="{344A50A4-F658-4947-9E1D-850AB00250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018675" y="136525"/>
            <a:ext cx="10515600" cy="924339"/>
          </a:xfrm>
          <a:prstGeom prst="rect">
            <a:avLst/>
          </a:prstGeom>
          <a:noFill/>
          <a:ln>
            <a:noFill/>
          </a:ln>
        </p:spPr>
        <p:txBody>
          <a:bodyPr spcFirstLastPara="1" wrap="square" lIns="91425" tIns="45700" rIns="91425" bIns="45700" anchor="ctr" anchorCtr="0">
            <a:normAutofit/>
          </a:bodyPr>
          <a:lstStyle/>
          <a:p>
            <a:r>
              <a:rPr lang="en-US" dirty="0"/>
              <a:t>How It Works</a:t>
            </a:r>
          </a:p>
        </p:txBody>
      </p:sp>
      <p:sp>
        <p:nvSpPr>
          <p:cNvPr id="91" name="Google Shape;91;p2"/>
          <p:cNvSpPr txBox="1">
            <a:spLocks noGrp="1"/>
          </p:cNvSpPr>
          <p:nvPr>
            <p:ph type="body" idx="1"/>
          </p:nvPr>
        </p:nvSpPr>
        <p:spPr>
          <a:xfrm>
            <a:off x="657724" y="1124712"/>
            <a:ext cx="10972622" cy="5486399"/>
          </a:xfrm>
          <a:prstGeom prst="rect">
            <a:avLst/>
          </a:prstGeom>
          <a:noFill/>
          <a:ln>
            <a:noFill/>
          </a:ln>
        </p:spPr>
        <p:txBody>
          <a:bodyPr spcFirstLastPara="1" wrap="square" lIns="91425" tIns="45700" rIns="91425" bIns="45700" anchor="t" anchorCtr="0">
            <a:normAutofit/>
          </a:bodyPr>
          <a:lstStyle/>
          <a:p>
            <a:r>
              <a:rPr lang="en-US" b="1" dirty="0"/>
              <a:t>Input is passed</a:t>
            </a:r>
            <a:r>
              <a:rPr lang="en-US" dirty="0"/>
              <a:t> to the network.</a:t>
            </a:r>
          </a:p>
          <a:p>
            <a:r>
              <a:rPr lang="en-US" b="1" dirty="0"/>
              <a:t>Each neuron</a:t>
            </a:r>
            <a:r>
              <a:rPr lang="en-US" dirty="0"/>
              <a:t> computes a weighted sum of its inputs and passes it through an </a:t>
            </a:r>
            <a:r>
              <a:rPr lang="en-US" b="1" dirty="0"/>
              <a:t>activation function.</a:t>
            </a:r>
            <a:endParaRPr lang="en-US" dirty="0"/>
          </a:p>
          <a:p>
            <a:r>
              <a:rPr lang="en-US" dirty="0"/>
              <a:t>The result moves forward through the network — </a:t>
            </a:r>
            <a:r>
              <a:rPr lang="en-US" b="1" dirty="0"/>
              <a:t>no loops or feedback</a:t>
            </a:r>
            <a:r>
              <a:rPr lang="en-US" dirty="0"/>
              <a:t>.</a:t>
            </a:r>
          </a:p>
          <a:p>
            <a:r>
              <a:rPr lang="en-US" dirty="0"/>
              <a:t>The </a:t>
            </a:r>
            <a:r>
              <a:rPr lang="en-US" b="1" dirty="0"/>
              <a:t>output layer</a:t>
            </a:r>
            <a:r>
              <a:rPr lang="en-US" dirty="0"/>
              <a:t> returns the prediction.</a:t>
            </a:r>
          </a:p>
        </p:txBody>
      </p:sp>
      <p:sp>
        <p:nvSpPr>
          <p:cNvPr id="2" name="Slide Number Placeholder 1">
            <a:extLst>
              <a:ext uri="{FF2B5EF4-FFF2-40B4-BE49-F238E27FC236}">
                <a16:creationId xmlns:a16="http://schemas.microsoft.com/office/drawing/2014/main" id="{344A50A4-F658-4947-9E1D-850AB00250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2223754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018675" y="136525"/>
            <a:ext cx="10515600" cy="924339"/>
          </a:xfrm>
          <a:prstGeom prst="rect">
            <a:avLst/>
          </a:prstGeom>
          <a:noFill/>
          <a:ln>
            <a:noFill/>
          </a:ln>
        </p:spPr>
        <p:txBody>
          <a:bodyPr spcFirstLastPara="1" wrap="square" lIns="91425" tIns="45700" rIns="91425" bIns="45700" anchor="ctr" anchorCtr="0">
            <a:normAutofit/>
          </a:bodyPr>
          <a:lstStyle/>
          <a:p>
            <a:r>
              <a:rPr lang="en-US" dirty="0"/>
              <a:t>Mathematics</a:t>
            </a:r>
          </a:p>
        </p:txBody>
      </p:sp>
      <mc:AlternateContent xmlns:mc="http://schemas.openxmlformats.org/markup-compatibility/2006" xmlns:a14="http://schemas.microsoft.com/office/drawing/2010/main">
        <mc:Choice Requires="a14">
          <p:sp>
            <p:nvSpPr>
              <p:cNvPr id="91" name="Google Shape;91;p2"/>
              <p:cNvSpPr txBox="1">
                <a:spLocks noGrp="1"/>
              </p:cNvSpPr>
              <p:nvPr>
                <p:ph type="body" idx="1"/>
              </p:nvPr>
            </p:nvSpPr>
            <p:spPr>
              <a:xfrm>
                <a:off x="657724" y="1124712"/>
                <a:ext cx="10972622" cy="5486399"/>
              </a:xfrm>
              <a:prstGeom prst="rect">
                <a:avLst/>
              </a:prstGeom>
              <a:noFill/>
              <a:ln>
                <a:noFill/>
              </a:ln>
            </p:spPr>
            <p:txBody>
              <a:bodyPr spcFirstLastPara="1" wrap="square" lIns="91425" tIns="45700" rIns="91425" bIns="45700" anchor="t" anchorCtr="0">
                <a:normAutofit/>
              </a:bodyPr>
              <a:lstStyle/>
              <a:p>
                <a:r>
                  <a:rPr lang="en-US" dirty="0"/>
                  <a:t>For a  single neuron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𝑛</m:t>
                        </m:r>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𝑖</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nary>
                    <m:r>
                      <a:rPr lang="en-US" b="0" i="1" smtClean="0">
                        <a:latin typeface="Cambria Math" panose="02040503050406030204" pitchFamily="18" charset="0"/>
                        <a:ea typeface="Cambria Math" panose="02040503050406030204" pitchFamily="18" charset="0"/>
                      </a:rPr>
                      <m:t>)</m:t>
                    </m:r>
                  </m:oMath>
                </a14:m>
                <a:endParaRPr lang="en-US" dirty="0"/>
              </a:p>
              <a:p>
                <a:r>
                  <a:rPr lang="en-US" dirty="0"/>
                  <a:t>where: 	</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0" smtClean="0">
                        <a:latin typeface="Cambria Math" panose="02040503050406030204" pitchFamily="18" charset="0"/>
                      </a:rPr>
                      <m:t>:</m:t>
                    </m:r>
                  </m:oMath>
                </a14:m>
                <a:r>
                  <a:rPr lang="en-US" dirty="0"/>
                  <a:t> input features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r>
                      <a:rPr lang="en-US">
                        <a:latin typeface="Cambria Math" panose="02040503050406030204" pitchFamily="18" charset="0"/>
                      </a:rPr>
                      <m:t>:</m:t>
                    </m:r>
                  </m:oMath>
                </a14:m>
                <a:r>
                  <a:rPr lang="en-US" dirty="0"/>
                  <a:t> weights</a:t>
                </a:r>
              </a:p>
              <a:p>
                <a:pPr lvl="1"/>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bias</a:t>
                </a:r>
              </a:p>
              <a:p>
                <a:pPr lvl="1"/>
                <a14:m>
                  <m:oMath xmlns:m="http://schemas.openxmlformats.org/officeDocument/2006/math">
                    <m:r>
                      <a:rPr lang="en-US" i="1">
                        <a:latin typeface="Cambria Math" panose="02040503050406030204" pitchFamily="18" charset="0"/>
                        <a:ea typeface="Cambria Math" panose="02040503050406030204" pitchFamily="18" charset="0"/>
                      </a:rPr>
                      <m:t>𝜑</m:t>
                    </m:r>
                    <m:r>
                      <a:rPr lang="en-US">
                        <a:latin typeface="Cambria Math" panose="02040503050406030204" pitchFamily="18" charset="0"/>
                      </a:rPr>
                      <m:t>:</m:t>
                    </m:r>
                  </m:oMath>
                </a14:m>
                <a:r>
                  <a:rPr lang="en-US" dirty="0"/>
                  <a:t> activation function</a:t>
                </a:r>
              </a:p>
              <a:p>
                <a:pPr lvl="1"/>
                <a14:m>
                  <m:oMath xmlns:m="http://schemas.openxmlformats.org/officeDocument/2006/math">
                    <m:r>
                      <a:rPr lang="en-US" b="0" i="1" smtClean="0">
                        <a:latin typeface="Cambria Math" panose="02040503050406030204" pitchFamily="18" charset="0"/>
                      </a:rPr>
                      <m:t>𝑦</m:t>
                    </m:r>
                    <m:r>
                      <a:rPr lang="en-US">
                        <a:latin typeface="Cambria Math" panose="02040503050406030204" pitchFamily="18" charset="0"/>
                      </a:rPr>
                      <m:t>:</m:t>
                    </m:r>
                  </m:oMath>
                </a14:m>
                <a:r>
                  <a:rPr lang="en-US" dirty="0"/>
                  <a:t> output</a:t>
                </a:r>
              </a:p>
            </p:txBody>
          </p:sp>
        </mc:Choice>
        <mc:Fallback xmlns="">
          <p:sp>
            <p:nvSpPr>
              <p:cNvPr id="91" name="Google Shape;91;p2"/>
              <p:cNvSpPr txBox="1">
                <a:spLocks noGrp="1" noRot="1" noChangeAspect="1" noMove="1" noResize="1" noEditPoints="1" noAdjustHandles="1" noChangeArrowheads="1" noChangeShapeType="1" noTextEdit="1"/>
              </p:cNvSpPr>
              <p:nvPr>
                <p:ph type="body" idx="1"/>
              </p:nvPr>
            </p:nvSpPr>
            <p:spPr>
              <a:xfrm>
                <a:off x="657724" y="1124712"/>
                <a:ext cx="10972622" cy="5486399"/>
              </a:xfrm>
              <a:prstGeom prst="rect">
                <a:avLst/>
              </a:prstGeom>
              <a:blipFill>
                <a:blip r:embed="rId3"/>
                <a:stretch>
                  <a:fillRect/>
                </a:stretch>
              </a:blipFill>
              <a:ln>
                <a:noFill/>
              </a:ln>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44A50A4-F658-4947-9E1D-850AB00250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4" name="Picture 3">
            <a:extLst>
              <a:ext uri="{FF2B5EF4-FFF2-40B4-BE49-F238E27FC236}">
                <a16:creationId xmlns:a16="http://schemas.microsoft.com/office/drawing/2014/main" id="{8DEA0CF0-F1FC-446E-9EA2-A26A2DAEB1A7}"/>
              </a:ext>
            </a:extLst>
          </p:cNvPr>
          <p:cNvPicPr>
            <a:picLocks noChangeAspect="1"/>
          </p:cNvPicPr>
          <p:nvPr/>
        </p:nvPicPr>
        <p:blipFill>
          <a:blip r:embed="rId4"/>
          <a:stretch>
            <a:fillRect/>
          </a:stretch>
        </p:blipFill>
        <p:spPr>
          <a:xfrm>
            <a:off x="4627977" y="2233900"/>
            <a:ext cx="7146637" cy="3499388"/>
          </a:xfrm>
          <a:prstGeom prst="rect">
            <a:avLst/>
          </a:prstGeom>
        </p:spPr>
      </p:pic>
    </p:spTree>
    <p:extLst>
      <p:ext uri="{BB962C8B-B14F-4D97-AF65-F5344CB8AC3E}">
        <p14:creationId xmlns:p14="http://schemas.microsoft.com/office/powerpoint/2010/main" val="4265155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018675" y="136525"/>
            <a:ext cx="10515600" cy="924339"/>
          </a:xfrm>
          <a:prstGeom prst="rect">
            <a:avLst/>
          </a:prstGeom>
          <a:noFill/>
          <a:ln>
            <a:noFill/>
          </a:ln>
        </p:spPr>
        <p:txBody>
          <a:bodyPr spcFirstLastPara="1" wrap="square" lIns="91425" tIns="45700" rIns="91425" bIns="45700" anchor="ctr" anchorCtr="0">
            <a:normAutofit/>
          </a:bodyPr>
          <a:lstStyle/>
          <a:p>
            <a:r>
              <a:rPr lang="en-US" dirty="0"/>
              <a:t>One Hidden Layer (Shallow NN)</a:t>
            </a:r>
          </a:p>
        </p:txBody>
      </p:sp>
      <mc:AlternateContent xmlns:mc="http://schemas.openxmlformats.org/markup-compatibility/2006" xmlns:a14="http://schemas.microsoft.com/office/drawing/2010/main">
        <mc:Choice Requires="a14">
          <p:sp>
            <p:nvSpPr>
              <p:cNvPr id="91" name="Google Shape;91;p2"/>
              <p:cNvSpPr txBox="1">
                <a:spLocks noGrp="1"/>
              </p:cNvSpPr>
              <p:nvPr>
                <p:ph type="body" idx="1"/>
              </p:nvPr>
            </p:nvSpPr>
            <p:spPr>
              <a:xfrm>
                <a:off x="657723" y="1124712"/>
                <a:ext cx="10515599" cy="5486399"/>
              </a:xfrm>
              <a:prstGeom prst="rect">
                <a:avLst/>
              </a:prstGeom>
              <a:noFill/>
              <a:ln>
                <a:noFill/>
              </a:ln>
            </p:spPr>
            <p:txBody>
              <a:bodyPr spcFirstLastPara="1" wrap="square" lIns="91425" tIns="45700" rIns="91425" bIns="45700" anchor="t" anchorCtr="0">
                <a:normAutofit/>
              </a:bodyPr>
              <a:lstStyle/>
              <a:p>
                <a:r>
                  <a:rPr lang="en-US" dirty="0"/>
                  <a:t>For one hidden layer with multiple neurons, let’s say: 	</a:t>
                </a:r>
              </a:p>
              <a:p>
                <a:pPr lvl="1"/>
                <a14:m>
                  <m:oMath xmlns:m="http://schemas.openxmlformats.org/officeDocument/2006/math">
                    <m:r>
                      <m:rPr>
                        <m:sty m:val="p"/>
                      </m:rPr>
                      <a:rPr lang="en-US" b="0" i="0" smtClean="0">
                        <a:latin typeface="Cambria Math" panose="02040503050406030204" pitchFamily="18" charset="0"/>
                      </a:rPr>
                      <m:t>x</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r>
                      <a:rPr lang="en-US" b="0" i="0" smtClean="0">
                        <a:latin typeface="Cambria Math" panose="02040503050406030204" pitchFamily="18" charset="0"/>
                      </a:rPr>
                      <m:t>:</m:t>
                    </m:r>
                  </m:oMath>
                </a14:m>
                <a:r>
                  <a:rPr lang="en-US" dirty="0"/>
                  <a:t> input vector</a:t>
                </a:r>
              </a:p>
              <a:p>
                <a:pPr lvl="1"/>
                <a14:m>
                  <m:oMath xmlns:m="http://schemas.openxmlformats.org/officeDocument/2006/math">
                    <m:r>
                      <a:rPr lang="en-US" b="0" i="1" smtClean="0">
                        <a:latin typeface="Cambria Math" panose="02040503050406030204" pitchFamily="18" charset="0"/>
                      </a:rPr>
                      <m:t>𝑚</m:t>
                    </m:r>
                    <m:r>
                      <a:rPr lang="en-US">
                        <a:latin typeface="Cambria Math" panose="02040503050406030204" pitchFamily="18" charset="0"/>
                      </a:rPr>
                      <m:t>:</m:t>
                    </m:r>
                  </m:oMath>
                </a14:m>
                <a:r>
                  <a:rPr lang="en-US" dirty="0"/>
                  <a:t> number of neurons in the layer</a:t>
                </a:r>
              </a:p>
              <a:p>
                <a:pPr lvl="1"/>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up>
                    </m:sSup>
                    <m:r>
                      <a:rPr lang="en-US" b="0" i="1" smtClean="0">
                        <a:latin typeface="Cambria Math" panose="02040503050406030204" pitchFamily="18" charset="0"/>
                        <a:ea typeface="Cambria Math" panose="02040503050406030204" pitchFamily="18" charset="0"/>
                      </a:rPr>
                      <m:t>:</m:t>
                    </m:r>
                  </m:oMath>
                </a14:m>
                <a:r>
                  <a:rPr lang="en-US" dirty="0"/>
                  <a:t> weight matrix</a:t>
                </a:r>
              </a:p>
              <a:p>
                <a:pPr lvl="1"/>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𝑚</m:t>
                        </m:r>
                      </m:sup>
                    </m:sSup>
                    <m:r>
                      <a:rPr lang="en-US" b="0" i="1" smtClean="0">
                        <a:latin typeface="Cambria Math" panose="02040503050406030204" pitchFamily="18" charset="0"/>
                      </a:rPr>
                      <m:t>:</m:t>
                    </m:r>
                  </m:oMath>
                </a14:m>
                <a:r>
                  <a:rPr lang="en-US" dirty="0"/>
                  <a:t> bias vector</a:t>
                </a:r>
              </a:p>
              <a:p>
                <a:pPr lvl="1"/>
                <a14:m>
                  <m:oMath xmlns:m="http://schemas.openxmlformats.org/officeDocument/2006/math">
                    <m:r>
                      <a:rPr lang="en-US" i="1">
                        <a:latin typeface="Cambria Math" panose="02040503050406030204" pitchFamily="18" charset="0"/>
                        <a:ea typeface="Cambria Math" panose="02040503050406030204" pitchFamily="18" charset="0"/>
                      </a:rPr>
                      <m:t>𝜑</m:t>
                    </m:r>
                    <m:r>
                      <a:rPr lang="en-US">
                        <a:latin typeface="Cambria Math" panose="02040503050406030204" pitchFamily="18" charset="0"/>
                      </a:rPr>
                      <m:t>:</m:t>
                    </m:r>
                  </m:oMath>
                </a14:m>
                <a:r>
                  <a:rPr lang="en-US" dirty="0"/>
                  <a:t> activation function (applied elementwise)</a:t>
                </a:r>
              </a:p>
              <a:p>
                <a:r>
                  <a:rPr lang="en-US" dirty="0"/>
                  <a:t>Each neuron computes </a:t>
                </a:r>
                <a14:m>
                  <m:oMath xmlns:m="http://schemas.openxmlformats.org/officeDocument/2006/math">
                    <m:sSub>
                      <m:sSubPr>
                        <m:ctrlPr>
                          <a:rPr lang="en-US" sz="2400" b="0" i="1" kern="1200" smtClean="0">
                            <a:solidFill>
                              <a:prstClr val="black"/>
                            </a:solidFill>
                            <a:latin typeface="Cambria Math" panose="02040503050406030204" pitchFamily="18" charset="0"/>
                            <a:ea typeface="+mn-ea"/>
                            <a:cs typeface="+mn-cs"/>
                          </a:rPr>
                        </m:ctrlPr>
                      </m:sSubPr>
                      <m:e>
                        <m:r>
                          <a:rPr lang="en-US" sz="2400" i="1" kern="1200">
                            <a:solidFill>
                              <a:prstClr val="black"/>
                            </a:solidFill>
                            <a:latin typeface="Cambria Math" panose="02040503050406030204" pitchFamily="18" charset="0"/>
                            <a:ea typeface="+mn-ea"/>
                            <a:cs typeface="+mn-cs"/>
                          </a:rPr>
                          <m:t>𝑧</m:t>
                        </m:r>
                      </m:e>
                      <m:sub>
                        <m:r>
                          <a:rPr lang="en-US" sz="2400" b="0" i="1" kern="1200" smtClean="0">
                            <a:solidFill>
                              <a:prstClr val="black"/>
                            </a:solidFill>
                            <a:latin typeface="Cambria Math" panose="02040503050406030204" pitchFamily="18" charset="0"/>
                            <a:ea typeface="+mn-ea"/>
                            <a:cs typeface="+mn-cs"/>
                          </a:rPr>
                          <m:t>𝑖</m:t>
                        </m:r>
                      </m:sub>
                    </m:sSub>
                    <m:r>
                      <a:rPr lang="en-US" sz="2400" i="1" kern="1200">
                        <a:solidFill>
                          <a:prstClr val="black"/>
                        </a:solidFill>
                        <a:latin typeface="Cambria Math" panose="02040503050406030204" pitchFamily="18" charset="0"/>
                        <a:ea typeface="+mn-ea"/>
                        <a:cs typeface="+mn-cs"/>
                      </a:rPr>
                      <m:t>= </m:t>
                    </m:r>
                    <m:nary>
                      <m:naryPr>
                        <m:chr m:val="∑"/>
                        <m:ctrlPr>
                          <a:rPr lang="en-US" sz="2400" i="1" kern="1200">
                            <a:solidFill>
                              <a:prstClr val="black"/>
                            </a:solidFill>
                            <a:latin typeface="Cambria Math" panose="02040503050406030204" pitchFamily="18" charset="0"/>
                            <a:ea typeface="+mn-ea"/>
                            <a:cs typeface="+mn-cs"/>
                          </a:rPr>
                        </m:ctrlPr>
                      </m:naryPr>
                      <m:sub>
                        <m:r>
                          <m:rPr>
                            <m:brk m:alnAt="23"/>
                          </m:rPr>
                          <a:rPr lang="en-US" sz="2400" i="1" kern="1200">
                            <a:solidFill>
                              <a:prstClr val="black"/>
                            </a:solidFill>
                            <a:latin typeface="Cambria Math" panose="02040503050406030204" pitchFamily="18" charset="0"/>
                            <a:ea typeface="+mn-ea"/>
                            <a:cs typeface="+mn-cs"/>
                          </a:rPr>
                          <m:t>𝑖</m:t>
                        </m:r>
                        <m:r>
                          <a:rPr lang="en-US" sz="2400" i="1" kern="1200">
                            <a:solidFill>
                              <a:prstClr val="black"/>
                            </a:solidFill>
                            <a:latin typeface="Cambria Math" panose="02040503050406030204" pitchFamily="18" charset="0"/>
                            <a:ea typeface="+mn-ea"/>
                            <a:cs typeface="+mn-cs"/>
                          </a:rPr>
                          <m:t>=0</m:t>
                        </m:r>
                      </m:sub>
                      <m:sup>
                        <m:r>
                          <a:rPr lang="en-US" sz="2400" i="1" kern="1200">
                            <a:solidFill>
                              <a:prstClr val="black"/>
                            </a:solidFill>
                            <a:latin typeface="Cambria Math" panose="02040503050406030204" pitchFamily="18" charset="0"/>
                            <a:ea typeface="+mn-ea"/>
                            <a:cs typeface="+mn-cs"/>
                          </a:rPr>
                          <m:t>𝑛</m:t>
                        </m:r>
                      </m:sup>
                      <m:e>
                        <m:sSub>
                          <m:sSubPr>
                            <m:ctrlPr>
                              <a:rPr lang="en-US" sz="2400" i="1" kern="1200">
                                <a:solidFill>
                                  <a:prstClr val="black"/>
                                </a:solidFill>
                                <a:latin typeface="Cambria Math" panose="02040503050406030204" pitchFamily="18" charset="0"/>
                                <a:ea typeface="+mn-ea"/>
                                <a:cs typeface="+mn-cs"/>
                              </a:rPr>
                            </m:ctrlPr>
                          </m:sSubPr>
                          <m:e>
                            <m:r>
                              <a:rPr lang="en-US" sz="2400" i="1" kern="1200">
                                <a:solidFill>
                                  <a:prstClr val="black"/>
                                </a:solidFill>
                                <a:latin typeface="Cambria Math" panose="02040503050406030204" pitchFamily="18" charset="0"/>
                                <a:ea typeface="+mn-ea"/>
                                <a:cs typeface="+mn-cs"/>
                              </a:rPr>
                              <m:t>𝑤</m:t>
                            </m:r>
                          </m:e>
                          <m:sub>
                            <m:r>
                              <a:rPr lang="en-US" sz="2400" i="1" kern="1200">
                                <a:solidFill>
                                  <a:prstClr val="black"/>
                                </a:solidFill>
                                <a:latin typeface="Cambria Math" panose="02040503050406030204" pitchFamily="18" charset="0"/>
                                <a:ea typeface="+mn-ea"/>
                                <a:cs typeface="+mn-cs"/>
                              </a:rPr>
                              <m:t>𝑖</m:t>
                            </m:r>
                          </m:sub>
                        </m:sSub>
                        <m:sSub>
                          <m:sSubPr>
                            <m:ctrlPr>
                              <a:rPr lang="en-US" sz="2400" i="1" kern="1200">
                                <a:solidFill>
                                  <a:prstClr val="black"/>
                                </a:solidFill>
                                <a:latin typeface="Cambria Math" panose="02040503050406030204" pitchFamily="18" charset="0"/>
                                <a:ea typeface="+mn-ea"/>
                                <a:cs typeface="+mn-cs"/>
                              </a:rPr>
                            </m:ctrlPr>
                          </m:sSubPr>
                          <m:e>
                            <m:r>
                              <a:rPr lang="en-US" sz="2400" i="1" kern="1200">
                                <a:solidFill>
                                  <a:prstClr val="black"/>
                                </a:solidFill>
                                <a:latin typeface="Cambria Math" panose="02040503050406030204" pitchFamily="18" charset="0"/>
                                <a:ea typeface="+mn-ea"/>
                                <a:cs typeface="+mn-cs"/>
                              </a:rPr>
                              <m:t>𝑥</m:t>
                            </m:r>
                          </m:e>
                          <m:sub>
                            <m:r>
                              <a:rPr lang="en-US" sz="2400" i="1" kern="1200">
                                <a:solidFill>
                                  <a:prstClr val="black"/>
                                </a:solidFill>
                                <a:latin typeface="Cambria Math" panose="02040503050406030204" pitchFamily="18" charset="0"/>
                                <a:ea typeface="+mn-ea"/>
                                <a:cs typeface="+mn-cs"/>
                              </a:rPr>
                              <m:t>𝑖</m:t>
                            </m:r>
                          </m:sub>
                        </m:sSub>
                        <m:r>
                          <a:rPr lang="en-US" sz="2400" i="1" kern="1200">
                            <a:solidFill>
                              <a:prstClr val="black"/>
                            </a:solidFill>
                            <a:latin typeface="Cambria Math" panose="02040503050406030204" pitchFamily="18" charset="0"/>
                            <a:ea typeface="+mn-ea"/>
                            <a:cs typeface="+mn-cs"/>
                          </a:rPr>
                          <m:t>+</m:t>
                        </m:r>
                        <m:r>
                          <a:rPr lang="en-US" sz="2400" i="1" kern="1200">
                            <a:solidFill>
                              <a:prstClr val="black"/>
                            </a:solidFill>
                            <a:latin typeface="Cambria Math" panose="02040503050406030204" pitchFamily="18" charset="0"/>
                            <a:ea typeface="+mn-ea"/>
                            <a:cs typeface="+mn-cs"/>
                          </a:rPr>
                          <m:t>𝑏</m:t>
                        </m:r>
                      </m:e>
                    </m:nary>
                  </m:oMath>
                </a14:m>
                <a:endParaRPr lang="en-US" dirty="0"/>
              </a:p>
              <a:p>
                <a:r>
                  <a:rPr lang="en-US" dirty="0"/>
                  <a:t>Putting altogether </a:t>
                </a:r>
                <a14:m>
                  <m:oMath xmlns:m="http://schemas.openxmlformats.org/officeDocument/2006/math">
                    <m:r>
                      <a:rPr lang="en-US" i="1" dirty="0" smtClean="0">
                        <a:latin typeface="Cambria Math" panose="02040503050406030204" pitchFamily="18" charset="0"/>
                      </a:rPr>
                      <m:t>𝑧</m:t>
                    </m:r>
                    <m:r>
                      <a:rPr lang="en-US" i="1" dirty="0">
                        <a:latin typeface="Cambria Math" panose="02040503050406030204" pitchFamily="18" charset="0"/>
                      </a:rPr>
                      <m:t>=</m:t>
                    </m:r>
                    <m:r>
                      <a:rPr lang="en-US" b="0" i="1" dirty="0" smtClean="0">
                        <a:latin typeface="Cambria Math" panose="02040503050406030204" pitchFamily="18" charset="0"/>
                      </a:rPr>
                      <m:t>𝑊𝑋</m:t>
                    </m:r>
                    <m:r>
                      <a:rPr lang="en-US" b="0" i="1" dirty="0" smtClean="0">
                        <a:latin typeface="Cambria Math" panose="02040503050406030204" pitchFamily="18" charset="0"/>
                      </a:rPr>
                      <m:t>+</m:t>
                    </m:r>
                    <m:r>
                      <a:rPr lang="en-US" b="0" i="1" dirty="0" smtClean="0">
                        <a:latin typeface="Cambria Math" panose="02040503050406030204" pitchFamily="18" charset="0"/>
                      </a:rPr>
                      <m:t>𝑏</m:t>
                    </m:r>
                  </m:oMath>
                </a14:m>
                <a:endParaRPr lang="en-US" dirty="0"/>
              </a:p>
            </p:txBody>
          </p:sp>
        </mc:Choice>
        <mc:Fallback xmlns="">
          <p:sp>
            <p:nvSpPr>
              <p:cNvPr id="91" name="Google Shape;91;p2"/>
              <p:cNvSpPr txBox="1">
                <a:spLocks noGrp="1" noRot="1" noChangeAspect="1" noMove="1" noResize="1" noEditPoints="1" noAdjustHandles="1" noChangeArrowheads="1" noChangeShapeType="1" noTextEdit="1"/>
              </p:cNvSpPr>
              <p:nvPr>
                <p:ph type="body" idx="1"/>
              </p:nvPr>
            </p:nvSpPr>
            <p:spPr>
              <a:xfrm>
                <a:off x="657723" y="1124712"/>
                <a:ext cx="10515599" cy="5486399"/>
              </a:xfrm>
              <a:prstGeom prst="rect">
                <a:avLst/>
              </a:prstGeom>
              <a:blipFill>
                <a:blip r:embed="rId3"/>
                <a:stretch>
                  <a:fillRect/>
                </a:stretch>
              </a:blipFill>
              <a:ln>
                <a:noFill/>
              </a:ln>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44A50A4-F658-4947-9E1D-850AB00250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1480285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018675" y="136525"/>
            <a:ext cx="10515600" cy="924339"/>
          </a:xfrm>
          <a:prstGeom prst="rect">
            <a:avLst/>
          </a:prstGeom>
          <a:noFill/>
          <a:ln>
            <a:noFill/>
          </a:ln>
        </p:spPr>
        <p:txBody>
          <a:bodyPr spcFirstLastPara="1" wrap="square" lIns="91425" tIns="45700" rIns="91425" bIns="45700" anchor="ctr" anchorCtr="0">
            <a:normAutofit/>
          </a:bodyPr>
          <a:lstStyle/>
          <a:p>
            <a:r>
              <a:rPr lang="en-US" dirty="0"/>
              <a:t>One Hidden Layer (Shallow NN)</a:t>
            </a:r>
          </a:p>
        </p:txBody>
      </p:sp>
      <p:sp>
        <p:nvSpPr>
          <p:cNvPr id="2" name="Slide Number Placeholder 1">
            <a:extLst>
              <a:ext uri="{FF2B5EF4-FFF2-40B4-BE49-F238E27FC236}">
                <a16:creationId xmlns:a16="http://schemas.microsoft.com/office/drawing/2014/main" id="{344A50A4-F658-4947-9E1D-850AB00250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6" name="Picture 5">
            <a:extLst>
              <a:ext uri="{FF2B5EF4-FFF2-40B4-BE49-F238E27FC236}">
                <a16:creationId xmlns:a16="http://schemas.microsoft.com/office/drawing/2014/main" id="{03A2B395-E1A8-4140-B8B5-B38B51D4F7F6}"/>
              </a:ext>
            </a:extLst>
          </p:cNvPr>
          <p:cNvPicPr>
            <a:picLocks noChangeAspect="1"/>
          </p:cNvPicPr>
          <p:nvPr/>
        </p:nvPicPr>
        <p:blipFill rotWithShape="1">
          <a:blip r:embed="rId3"/>
          <a:srcRect l="18202" t="4256" r="3680" b="1944"/>
          <a:stretch/>
        </p:blipFill>
        <p:spPr>
          <a:xfrm>
            <a:off x="1514403" y="927300"/>
            <a:ext cx="9524144" cy="5165275"/>
          </a:xfrm>
          <a:prstGeom prst="rect">
            <a:avLst/>
          </a:prstGeom>
        </p:spPr>
      </p:pic>
      <mc:AlternateContent xmlns:mc="http://schemas.openxmlformats.org/markup-compatibility/2006" xmlns:a14="http://schemas.microsoft.com/office/drawing/2010/main">
        <mc:Choice Requires="a14">
          <p:sp>
            <p:nvSpPr>
              <p:cNvPr id="4" name="Rectangle 3"/>
              <p:cNvSpPr/>
              <p:nvPr/>
            </p:nvSpPr>
            <p:spPr>
              <a:xfrm>
                <a:off x="2099762" y="6033184"/>
                <a:ext cx="8353426" cy="6463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600" b="0" i="1" dirty="0" smtClean="0">
                          <a:latin typeface="Cambria Math" panose="02040503050406030204" pitchFamily="18" charset="0"/>
                        </a:rPr>
                        <m:t>𝑦</m:t>
                      </m:r>
                      <m:r>
                        <a:rPr lang="pl-PL" sz="3600" i="1" dirty="0" smtClean="0">
                          <a:latin typeface="Cambria Math" panose="02040503050406030204" pitchFamily="18" charset="0"/>
                        </a:rPr>
                        <m:t>​=</m:t>
                      </m:r>
                      <m:r>
                        <a:rPr lang="pl-PL" sz="3600" i="1" dirty="0" smtClean="0">
                          <a:latin typeface="Cambria Math" panose="02040503050406030204" pitchFamily="18" charset="0"/>
                        </a:rPr>
                        <m:t>𝑔</m:t>
                      </m:r>
                      <m:r>
                        <a:rPr lang="pl-PL" sz="3600" i="1" dirty="0" smtClean="0">
                          <a:latin typeface="Cambria Math" panose="02040503050406030204" pitchFamily="18" charset="0"/>
                        </a:rPr>
                        <m:t>(</m:t>
                      </m:r>
                      <m:sSub>
                        <m:sSubPr>
                          <m:ctrlPr>
                            <a:rPr lang="en-US" sz="3600" b="0" i="1" dirty="0" smtClean="0">
                              <a:latin typeface="Cambria Math" panose="02040503050406030204" pitchFamily="18" charset="0"/>
                            </a:rPr>
                          </m:ctrlPr>
                        </m:sSubPr>
                        <m:e>
                          <m:r>
                            <a:rPr lang="pl-PL" sz="3600" i="1" dirty="0" smtClean="0">
                              <a:latin typeface="Cambria Math" panose="02040503050406030204" pitchFamily="18" charset="0"/>
                            </a:rPr>
                            <m:t>𝑊</m:t>
                          </m:r>
                        </m:e>
                        <m:sub>
                          <m:r>
                            <a:rPr lang="en-US" sz="3600" b="0" i="1" dirty="0" smtClean="0">
                              <a:latin typeface="Cambria Math" panose="02040503050406030204" pitchFamily="18" charset="0"/>
                            </a:rPr>
                            <m:t>𝑙</m:t>
                          </m:r>
                          <m:r>
                            <a:rPr lang="en-US" sz="3600" b="0" i="1" dirty="0" smtClean="0">
                              <a:latin typeface="Cambria Math" panose="02040503050406030204" pitchFamily="18" charset="0"/>
                            </a:rPr>
                            <m:t>2</m:t>
                          </m:r>
                        </m:sub>
                      </m:sSub>
                      <m:r>
                        <a:rPr lang="pl-PL" sz="3600" i="1" dirty="0" smtClean="0">
                          <a:latin typeface="Cambria Math" panose="02040503050406030204" pitchFamily="18" charset="0"/>
                        </a:rPr>
                        <m:t>​⋅</m:t>
                      </m:r>
                      <m:r>
                        <a:rPr lang="pl-PL" sz="3600" i="1" dirty="0" smtClean="0">
                          <a:latin typeface="Cambria Math" panose="02040503050406030204" pitchFamily="18" charset="0"/>
                        </a:rPr>
                        <m:t>𝑓</m:t>
                      </m:r>
                      <m:r>
                        <a:rPr lang="pl-PL" sz="3600" i="1" dirty="0" smtClean="0">
                          <a:latin typeface="Cambria Math" panose="02040503050406030204" pitchFamily="18" charset="0"/>
                        </a:rPr>
                        <m:t>(</m:t>
                      </m:r>
                      <m:sSub>
                        <m:sSubPr>
                          <m:ctrlPr>
                            <a:rPr lang="en-US" sz="3600" b="0" i="1" dirty="0" smtClean="0">
                              <a:latin typeface="Cambria Math" panose="02040503050406030204" pitchFamily="18" charset="0"/>
                            </a:rPr>
                          </m:ctrlPr>
                        </m:sSubPr>
                        <m:e>
                          <m:r>
                            <a:rPr lang="pl-PL" sz="3600" i="1" dirty="0" smtClean="0">
                              <a:latin typeface="Cambria Math" panose="02040503050406030204" pitchFamily="18" charset="0"/>
                            </a:rPr>
                            <m:t>𝑊</m:t>
                          </m:r>
                        </m:e>
                        <m:sub>
                          <m:r>
                            <a:rPr lang="en-US" sz="3600" b="0" i="1" dirty="0" smtClean="0">
                              <a:latin typeface="Cambria Math" panose="02040503050406030204" pitchFamily="18" charset="0"/>
                            </a:rPr>
                            <m:t>𝑙</m:t>
                          </m:r>
                          <m:r>
                            <a:rPr lang="en-US" sz="3600" b="0" i="1" dirty="0" smtClean="0">
                              <a:latin typeface="Cambria Math" panose="02040503050406030204" pitchFamily="18" charset="0"/>
                            </a:rPr>
                            <m:t>1</m:t>
                          </m:r>
                        </m:sub>
                      </m:sSub>
                      <m:r>
                        <a:rPr lang="pl-PL" sz="3600" i="1" dirty="0" smtClean="0">
                          <a:latin typeface="Cambria Math" panose="02040503050406030204" pitchFamily="18" charset="0"/>
                        </a:rPr>
                        <m:t>⋅</m:t>
                      </m:r>
                      <m:sSub>
                        <m:sSubPr>
                          <m:ctrlPr>
                            <a:rPr lang="en-US" sz="3600" b="0" i="1" dirty="0" smtClean="0">
                              <a:latin typeface="Cambria Math" panose="02040503050406030204" pitchFamily="18" charset="0"/>
                            </a:rPr>
                          </m:ctrlPr>
                        </m:sSubPr>
                        <m:e>
                          <m:r>
                            <a:rPr lang="pl-PL" sz="3600" i="1" dirty="0" smtClean="0">
                              <a:latin typeface="Cambria Math" panose="02040503050406030204" pitchFamily="18" charset="0"/>
                            </a:rPr>
                            <m:t>𝑋</m:t>
                          </m:r>
                        </m:e>
                        <m:sub>
                          <m:r>
                            <a:rPr lang="en-US" sz="3600" b="0" i="1" dirty="0" smtClean="0">
                              <a:latin typeface="Cambria Math" panose="02040503050406030204" pitchFamily="18" charset="0"/>
                            </a:rPr>
                            <m:t>𝑙</m:t>
                          </m:r>
                          <m:r>
                            <a:rPr lang="en-US" sz="3600" b="0" i="1" dirty="0" smtClean="0">
                              <a:latin typeface="Cambria Math" panose="02040503050406030204" pitchFamily="18" charset="0"/>
                            </a:rPr>
                            <m:t>1</m:t>
                          </m:r>
                        </m:sub>
                      </m:sSub>
                      <m:r>
                        <a:rPr lang="pl-PL" sz="3600" i="1" dirty="0" smtClean="0">
                          <a:latin typeface="Cambria Math" panose="02040503050406030204" pitchFamily="18" charset="0"/>
                        </a:rPr>
                        <m:t>+</m:t>
                      </m:r>
                      <m:sSub>
                        <m:sSubPr>
                          <m:ctrlPr>
                            <a:rPr lang="en-US" sz="3600" b="0" i="1" dirty="0" smtClean="0">
                              <a:latin typeface="Cambria Math" panose="02040503050406030204" pitchFamily="18" charset="0"/>
                            </a:rPr>
                          </m:ctrlPr>
                        </m:sSubPr>
                        <m:e>
                          <m:r>
                            <a:rPr lang="en-US" sz="3600" b="0" i="1" dirty="0" smtClean="0">
                              <a:latin typeface="Cambria Math" panose="02040503050406030204" pitchFamily="18" charset="0"/>
                            </a:rPr>
                            <m:t>𝑏</m:t>
                          </m:r>
                        </m:e>
                        <m:sub>
                          <m:r>
                            <a:rPr lang="en-US" sz="3600" b="0" i="1" dirty="0" smtClean="0">
                              <a:latin typeface="Cambria Math" panose="02040503050406030204" pitchFamily="18" charset="0"/>
                            </a:rPr>
                            <m:t>𝑙</m:t>
                          </m:r>
                          <m:r>
                            <a:rPr lang="en-US" sz="3600" b="0" i="1" dirty="0" smtClean="0">
                              <a:latin typeface="Cambria Math" panose="02040503050406030204" pitchFamily="18" charset="0"/>
                            </a:rPr>
                            <m:t>1</m:t>
                          </m:r>
                        </m:sub>
                      </m:sSub>
                      <m:r>
                        <a:rPr lang="pl-PL" sz="3600" i="1" dirty="0" smtClean="0">
                          <a:latin typeface="Cambria Math" panose="02040503050406030204" pitchFamily="18" charset="0"/>
                        </a:rPr>
                        <m:t>​)+</m:t>
                      </m:r>
                      <m:sSub>
                        <m:sSubPr>
                          <m:ctrlPr>
                            <a:rPr lang="en-US" sz="3600" b="0" i="1" dirty="0" smtClean="0">
                              <a:latin typeface="Cambria Math" panose="02040503050406030204" pitchFamily="18" charset="0"/>
                            </a:rPr>
                          </m:ctrlPr>
                        </m:sSubPr>
                        <m:e>
                          <m:r>
                            <a:rPr lang="pl-PL" sz="3600" i="1" dirty="0" smtClean="0">
                              <a:latin typeface="Cambria Math" panose="02040503050406030204" pitchFamily="18" charset="0"/>
                            </a:rPr>
                            <m:t>𝑏</m:t>
                          </m:r>
                        </m:e>
                        <m:sub>
                          <m:r>
                            <a:rPr lang="en-US" sz="3600" b="0" i="1" dirty="0" smtClean="0">
                              <a:latin typeface="Cambria Math" panose="02040503050406030204" pitchFamily="18" charset="0"/>
                            </a:rPr>
                            <m:t>𝑙</m:t>
                          </m:r>
                          <m:r>
                            <a:rPr lang="en-US" sz="3600" b="0" i="1" dirty="0" smtClean="0">
                              <a:latin typeface="Cambria Math" panose="02040503050406030204" pitchFamily="18" charset="0"/>
                            </a:rPr>
                            <m:t>2</m:t>
                          </m:r>
                        </m:sub>
                      </m:sSub>
                      <m:r>
                        <a:rPr lang="pl-PL" sz="3600" i="1" dirty="0" smtClean="0">
                          <a:latin typeface="Cambria Math" panose="02040503050406030204" pitchFamily="18" charset="0"/>
                        </a:rPr>
                        <m:t>​)</m:t>
                      </m:r>
                    </m:oMath>
                  </m:oMathPara>
                </a14:m>
                <a:endParaRPr lang="en-US" sz="3600" dirty="0"/>
              </a:p>
            </p:txBody>
          </p:sp>
        </mc:Choice>
        <mc:Fallback xmlns="">
          <p:sp>
            <p:nvSpPr>
              <p:cNvPr id="4" name="Rectangle 3"/>
              <p:cNvSpPr>
                <a:spLocks noRot="1" noChangeAspect="1" noMove="1" noResize="1" noEditPoints="1" noAdjustHandles="1" noChangeArrowheads="1" noChangeShapeType="1" noTextEdit="1"/>
              </p:cNvSpPr>
              <p:nvPr/>
            </p:nvSpPr>
            <p:spPr>
              <a:xfrm>
                <a:off x="2099762" y="6033184"/>
                <a:ext cx="8353426" cy="646331"/>
              </a:xfrm>
              <a:prstGeom prst="rect">
                <a:avLst/>
              </a:prstGeom>
              <a:blipFill>
                <a:blip r:embed="rId4"/>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8237BB6D-17C9-4719-98E0-B344F804FE85}"/>
              </a:ext>
            </a:extLst>
          </p:cNvPr>
          <p:cNvSpPr txBox="1"/>
          <p:nvPr/>
        </p:nvSpPr>
        <p:spPr>
          <a:xfrm>
            <a:off x="5133975" y="3969544"/>
            <a:ext cx="607219" cy="338554"/>
          </a:xfrm>
          <a:prstGeom prst="rect">
            <a:avLst/>
          </a:prstGeom>
          <a:solidFill>
            <a:schemeClr val="bg1"/>
          </a:solidFill>
        </p:spPr>
        <p:txBody>
          <a:bodyPr wrap="square" rtlCol="0">
            <a:spAutoFit/>
          </a:bodyPr>
          <a:lstStyle/>
          <a:p>
            <a:r>
              <a:rPr lang="en-US" sz="1600" b="1" dirty="0"/>
              <a:t>W</a:t>
            </a:r>
            <a:r>
              <a:rPr lang="en-US" sz="1600" b="1" baseline="-25000" dirty="0"/>
              <a:t>221</a:t>
            </a:r>
            <a:endParaRPr lang="en-US" sz="900" b="1" baseline="-25000" dirty="0"/>
          </a:p>
        </p:txBody>
      </p:sp>
    </p:spTree>
    <p:extLst>
      <p:ext uri="{BB962C8B-B14F-4D97-AF65-F5344CB8AC3E}">
        <p14:creationId xmlns:p14="http://schemas.microsoft.com/office/powerpoint/2010/main" val="1759442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018675" y="136525"/>
            <a:ext cx="10515600" cy="924339"/>
          </a:xfrm>
          <a:prstGeom prst="rect">
            <a:avLst/>
          </a:prstGeom>
          <a:noFill/>
          <a:ln>
            <a:noFill/>
          </a:ln>
        </p:spPr>
        <p:txBody>
          <a:bodyPr spcFirstLastPara="1" wrap="square" lIns="91425" tIns="45700" rIns="91425" bIns="45700" anchor="ctr" anchorCtr="0">
            <a:normAutofit/>
          </a:bodyPr>
          <a:lstStyle/>
          <a:p>
            <a:r>
              <a:rPr lang="en-US" dirty="0"/>
              <a:t>Multiple Hidden Layer (Deep NN)</a:t>
            </a:r>
          </a:p>
        </p:txBody>
      </p:sp>
      <mc:AlternateContent xmlns:mc="http://schemas.openxmlformats.org/markup-compatibility/2006" xmlns:a14="http://schemas.microsoft.com/office/drawing/2010/main">
        <mc:Choice Requires="a14">
          <p:sp>
            <p:nvSpPr>
              <p:cNvPr id="91" name="Google Shape;91;p2"/>
              <p:cNvSpPr txBox="1">
                <a:spLocks noGrp="1"/>
              </p:cNvSpPr>
              <p:nvPr>
                <p:ph type="body" idx="1"/>
              </p:nvPr>
            </p:nvSpPr>
            <p:spPr>
              <a:xfrm>
                <a:off x="657724" y="1124712"/>
                <a:ext cx="11000876" cy="5486399"/>
              </a:xfrm>
              <a:prstGeom prst="rect">
                <a:avLst/>
              </a:prstGeom>
              <a:noFill/>
              <a:ln>
                <a:noFill/>
              </a:ln>
            </p:spPr>
            <p:txBody>
              <a:bodyPr spcFirstLastPara="1" wrap="square" lIns="91425" tIns="45700" rIns="91425" bIns="45700" anchor="t" anchorCtr="0">
                <a:normAutofit/>
              </a:bodyPr>
              <a:lstStyle/>
              <a:p>
                <a:pPr marL="11430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𝑔</m:t>
                      </m:r>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𝑊</m:t>
                          </m:r>
                        </m:e>
                        <m:sub>
                          <m:r>
                            <a:rPr lang="en-US" b="0" i="1" dirty="0" smtClean="0">
                              <a:latin typeface="Cambria Math" panose="02040503050406030204" pitchFamily="18" charset="0"/>
                            </a:rPr>
                            <m:t>𝐿</m:t>
                          </m:r>
                        </m:sub>
                      </m:sSub>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err="1">
                              <a:latin typeface="Cambria Math" panose="02040503050406030204" pitchFamily="18" charset="0"/>
                            </a:rPr>
                            <m:t>𝑓</m:t>
                          </m:r>
                        </m:e>
                        <m:sub>
                          <m:r>
                            <a:rPr lang="en-US" b="0" i="1" dirty="0" smtClean="0">
                              <a:latin typeface="Cambria Math" panose="02040503050406030204" pitchFamily="18" charset="0"/>
                            </a:rPr>
                            <m:t>𝐿</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𝑊</m:t>
                          </m:r>
                        </m:e>
                        <m:sub>
                          <m:r>
                            <a:rPr lang="en-US" b="0" i="1" dirty="0" smtClean="0">
                              <a:latin typeface="Cambria Math" panose="02040503050406030204" pitchFamily="18" charset="0"/>
                            </a:rPr>
                            <m:t>𝐿</m:t>
                          </m:r>
                          <m:r>
                            <a:rPr lang="en-US" b="0" i="1" dirty="0" smtClean="0">
                              <a:latin typeface="Cambria Math" panose="02040503050406030204" pitchFamily="18" charset="0"/>
                            </a:rPr>
                            <m:t>−1</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𝑓</m:t>
                          </m:r>
                        </m:e>
                        <m:sub>
                          <m:r>
                            <a:rPr lang="en-US" b="0" i="1" dirty="0" smtClean="0">
                              <a:latin typeface="Cambria Math" panose="02040503050406030204" pitchFamily="18" charset="0"/>
                            </a:rPr>
                            <m:t>2</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𝑊</m:t>
                          </m:r>
                        </m:e>
                        <m:sub>
                          <m:r>
                            <a:rPr lang="en-US" b="0" i="1" dirty="0" smtClean="0">
                              <a:latin typeface="Cambria Math" panose="02040503050406030204" pitchFamily="18" charset="0"/>
                            </a:rPr>
                            <m:t>2</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𝑓</m:t>
                          </m:r>
                        </m:e>
                        <m:sub>
                          <m:r>
                            <a:rPr lang="en-US" b="0" i="1" dirty="0" smtClean="0">
                              <a:latin typeface="Cambria Math" panose="02040503050406030204" pitchFamily="18" charset="0"/>
                            </a:rPr>
                            <m:t>1</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𝑊</m:t>
                          </m:r>
                        </m:e>
                        <m:sub>
                          <m:r>
                            <a:rPr lang="en-US" b="0" i="1" dirty="0" smtClean="0">
                              <a:latin typeface="Cambria Math" panose="02040503050406030204" pitchFamily="18" charset="0"/>
                            </a:rPr>
                            <m:t>1</m:t>
                          </m:r>
                        </m:sub>
                      </m:sSub>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𝑏</m:t>
                          </m:r>
                        </m:e>
                        <m:sub>
                          <m:r>
                            <a:rPr lang="en-US" b="0" i="1" dirty="0" smtClean="0">
                              <a:latin typeface="Cambria Math" panose="02040503050406030204" pitchFamily="18" charset="0"/>
                            </a:rPr>
                            <m:t>1</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𝑏</m:t>
                          </m:r>
                        </m:e>
                        <m:sub>
                          <m:r>
                            <a:rPr lang="en-US" b="0" i="1" dirty="0" smtClean="0">
                              <a:latin typeface="Cambria Math" panose="02040503050406030204" pitchFamily="18" charset="0"/>
                            </a:rPr>
                            <m:t>2</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𝑏</m:t>
                          </m:r>
                        </m:e>
                        <m:sub>
                          <m:r>
                            <a:rPr lang="en-US" b="0" i="1" dirty="0" smtClean="0">
                              <a:latin typeface="Cambria Math" panose="02040503050406030204" pitchFamily="18" charset="0"/>
                            </a:rPr>
                            <m:t>𝐿</m:t>
                          </m:r>
                          <m:r>
                            <a:rPr lang="en-US" b="0" i="1" dirty="0" smtClean="0">
                              <a:latin typeface="Cambria Math" panose="02040503050406030204" pitchFamily="18" charset="0"/>
                            </a:rPr>
                            <m:t>−1</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err="1">
                              <a:latin typeface="Cambria Math" panose="02040503050406030204" pitchFamily="18" charset="0"/>
                            </a:rPr>
                            <m:t>𝑏</m:t>
                          </m:r>
                        </m:e>
                        <m:sub>
                          <m:r>
                            <a:rPr lang="en-US" b="0" i="1" dirty="0" smtClean="0">
                              <a:latin typeface="Cambria Math" panose="02040503050406030204" pitchFamily="18" charset="0"/>
                            </a:rPr>
                            <m:t>𝐿</m:t>
                          </m:r>
                        </m:sub>
                      </m:sSub>
                      <m:r>
                        <a:rPr lang="en-US" i="1" dirty="0">
                          <a:latin typeface="Cambria Math" panose="02040503050406030204" pitchFamily="18" charset="0"/>
                        </a:rPr>
                        <m:t>​)</m:t>
                      </m:r>
                    </m:oMath>
                  </m:oMathPara>
                </a14:m>
                <a:endParaRPr lang="en-US" dirty="0"/>
              </a:p>
            </p:txBody>
          </p:sp>
        </mc:Choice>
        <mc:Fallback xmlns="">
          <p:sp>
            <p:nvSpPr>
              <p:cNvPr id="91" name="Google Shape;91;p2"/>
              <p:cNvSpPr txBox="1">
                <a:spLocks noGrp="1" noRot="1" noChangeAspect="1" noMove="1" noResize="1" noEditPoints="1" noAdjustHandles="1" noChangeArrowheads="1" noChangeShapeType="1" noTextEdit="1"/>
              </p:cNvSpPr>
              <p:nvPr>
                <p:ph type="body" idx="1"/>
              </p:nvPr>
            </p:nvSpPr>
            <p:spPr>
              <a:xfrm>
                <a:off x="657724" y="1124712"/>
                <a:ext cx="11000876" cy="5486399"/>
              </a:xfrm>
              <a:prstGeom prst="rect">
                <a:avLst/>
              </a:prstGeom>
              <a:blipFill>
                <a:blip r:embed="rId3"/>
                <a:stretch>
                  <a:fillRect/>
                </a:stretch>
              </a:blipFill>
              <a:ln>
                <a:noFill/>
              </a:ln>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44A50A4-F658-4947-9E1D-850AB00250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3" name="Left Brace 2">
            <a:extLst>
              <a:ext uri="{FF2B5EF4-FFF2-40B4-BE49-F238E27FC236}">
                <a16:creationId xmlns:a16="http://schemas.microsoft.com/office/drawing/2014/main" id="{4B531998-845E-4F28-8F8B-91A9C9CF4B8D}"/>
              </a:ext>
            </a:extLst>
          </p:cNvPr>
          <p:cNvSpPr/>
          <p:nvPr/>
        </p:nvSpPr>
        <p:spPr>
          <a:xfrm rot="16200000">
            <a:off x="6439488" y="845473"/>
            <a:ext cx="450528" cy="2168163"/>
          </a:xfrm>
          <a:prstGeom prst="leftBrace">
            <a:avLst/>
          </a:pr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en-US" dirty="0"/>
          </a:p>
        </p:txBody>
      </p:sp>
      <p:sp>
        <p:nvSpPr>
          <p:cNvPr id="6" name="Left Brace 5">
            <a:extLst>
              <a:ext uri="{FF2B5EF4-FFF2-40B4-BE49-F238E27FC236}">
                <a16:creationId xmlns:a16="http://schemas.microsoft.com/office/drawing/2014/main" id="{1E7D21FA-AFA3-49B0-901A-2B2747C99FFE}"/>
              </a:ext>
            </a:extLst>
          </p:cNvPr>
          <p:cNvSpPr/>
          <p:nvPr/>
        </p:nvSpPr>
        <p:spPr>
          <a:xfrm rot="16200000">
            <a:off x="5972352" y="135832"/>
            <a:ext cx="1226116" cy="4363037"/>
          </a:xfrm>
          <a:prstGeom prst="lef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en-US" dirty="0"/>
          </a:p>
        </p:txBody>
      </p:sp>
      <p:sp>
        <p:nvSpPr>
          <p:cNvPr id="7" name="Left Brace 6">
            <a:extLst>
              <a:ext uri="{FF2B5EF4-FFF2-40B4-BE49-F238E27FC236}">
                <a16:creationId xmlns:a16="http://schemas.microsoft.com/office/drawing/2014/main" id="{79AE9C8C-BAEE-4214-BAAC-E81F44FFFC3A}"/>
              </a:ext>
            </a:extLst>
          </p:cNvPr>
          <p:cNvSpPr/>
          <p:nvPr/>
        </p:nvSpPr>
        <p:spPr>
          <a:xfrm rot="16200000">
            <a:off x="5278157" y="-657789"/>
            <a:ext cx="2401618" cy="7573653"/>
          </a:xfrm>
          <a:custGeom>
            <a:avLst/>
            <a:gdLst>
              <a:gd name="connsiteX0" fmla="*/ 2223302 w 2223302"/>
              <a:gd name="connsiteY0" fmla="*/ 7573653 h 7573653"/>
              <a:gd name="connsiteX1" fmla="*/ 1111651 w 2223302"/>
              <a:gd name="connsiteY1" fmla="*/ 7388385 h 7573653"/>
              <a:gd name="connsiteX2" fmla="*/ 1111651 w 2223302"/>
              <a:gd name="connsiteY2" fmla="*/ 3962703 h 7573653"/>
              <a:gd name="connsiteX3" fmla="*/ 0 w 2223302"/>
              <a:gd name="connsiteY3" fmla="*/ 3777435 h 7573653"/>
              <a:gd name="connsiteX4" fmla="*/ 1111651 w 2223302"/>
              <a:gd name="connsiteY4" fmla="*/ 3592167 h 7573653"/>
              <a:gd name="connsiteX5" fmla="*/ 1111651 w 2223302"/>
              <a:gd name="connsiteY5" fmla="*/ 185268 h 7573653"/>
              <a:gd name="connsiteX6" fmla="*/ 2223302 w 2223302"/>
              <a:gd name="connsiteY6" fmla="*/ 0 h 7573653"/>
              <a:gd name="connsiteX7" fmla="*/ 2223302 w 2223302"/>
              <a:gd name="connsiteY7" fmla="*/ 7573653 h 7573653"/>
              <a:gd name="connsiteX0" fmla="*/ 2223302 w 2223302"/>
              <a:gd name="connsiteY0" fmla="*/ 7573653 h 7573653"/>
              <a:gd name="connsiteX1" fmla="*/ 1111651 w 2223302"/>
              <a:gd name="connsiteY1" fmla="*/ 7388385 h 7573653"/>
              <a:gd name="connsiteX2" fmla="*/ 1111651 w 2223302"/>
              <a:gd name="connsiteY2" fmla="*/ 3962703 h 7573653"/>
              <a:gd name="connsiteX3" fmla="*/ 0 w 2223302"/>
              <a:gd name="connsiteY3" fmla="*/ 3777435 h 7573653"/>
              <a:gd name="connsiteX4" fmla="*/ 1111651 w 2223302"/>
              <a:gd name="connsiteY4" fmla="*/ 3592167 h 7573653"/>
              <a:gd name="connsiteX5" fmla="*/ 1111651 w 2223302"/>
              <a:gd name="connsiteY5" fmla="*/ 185268 h 7573653"/>
              <a:gd name="connsiteX6" fmla="*/ 2223302 w 2223302"/>
              <a:gd name="connsiteY6" fmla="*/ 0 h 7573653"/>
              <a:gd name="connsiteX0" fmla="*/ 2223302 w 2223302"/>
              <a:gd name="connsiteY0" fmla="*/ 7573653 h 7573653"/>
              <a:gd name="connsiteX1" fmla="*/ 1111651 w 2223302"/>
              <a:gd name="connsiteY1" fmla="*/ 7388385 h 7573653"/>
              <a:gd name="connsiteX2" fmla="*/ 1111651 w 2223302"/>
              <a:gd name="connsiteY2" fmla="*/ 3962703 h 7573653"/>
              <a:gd name="connsiteX3" fmla="*/ 0 w 2223302"/>
              <a:gd name="connsiteY3" fmla="*/ 3777435 h 7573653"/>
              <a:gd name="connsiteX4" fmla="*/ 1111651 w 2223302"/>
              <a:gd name="connsiteY4" fmla="*/ 3592167 h 7573653"/>
              <a:gd name="connsiteX5" fmla="*/ 1111651 w 2223302"/>
              <a:gd name="connsiteY5" fmla="*/ 185268 h 7573653"/>
              <a:gd name="connsiteX6" fmla="*/ 2223302 w 2223302"/>
              <a:gd name="connsiteY6" fmla="*/ 0 h 7573653"/>
              <a:gd name="connsiteX7" fmla="*/ 2223302 w 2223302"/>
              <a:gd name="connsiteY7" fmla="*/ 7573653 h 7573653"/>
              <a:gd name="connsiteX0" fmla="*/ 2223302 w 2223302"/>
              <a:gd name="connsiteY0" fmla="*/ 7573653 h 7573653"/>
              <a:gd name="connsiteX1" fmla="*/ 1111651 w 2223302"/>
              <a:gd name="connsiteY1" fmla="*/ 7388385 h 7573653"/>
              <a:gd name="connsiteX2" fmla="*/ 1111651 w 2223302"/>
              <a:gd name="connsiteY2" fmla="*/ 3962703 h 7573653"/>
              <a:gd name="connsiteX3" fmla="*/ 348791 w 2223302"/>
              <a:gd name="connsiteY3" fmla="*/ 3786865 h 7573653"/>
              <a:gd name="connsiteX4" fmla="*/ 1111651 w 2223302"/>
              <a:gd name="connsiteY4" fmla="*/ 3592167 h 7573653"/>
              <a:gd name="connsiteX5" fmla="*/ 1111651 w 2223302"/>
              <a:gd name="connsiteY5" fmla="*/ 185268 h 7573653"/>
              <a:gd name="connsiteX6" fmla="*/ 2223302 w 2223302"/>
              <a:gd name="connsiteY6" fmla="*/ 0 h 757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3302" h="7573653" stroke="0" extrusionOk="0">
                <a:moveTo>
                  <a:pt x="2223302" y="7573653"/>
                </a:moveTo>
                <a:cubicBezTo>
                  <a:pt x="1609354" y="7573653"/>
                  <a:pt x="1111651" y="7490706"/>
                  <a:pt x="1111651" y="7388385"/>
                </a:cubicBezTo>
                <a:lnTo>
                  <a:pt x="1111651" y="3962703"/>
                </a:lnTo>
                <a:cubicBezTo>
                  <a:pt x="1111651" y="3860382"/>
                  <a:pt x="613948" y="3777435"/>
                  <a:pt x="0" y="3777435"/>
                </a:cubicBezTo>
                <a:cubicBezTo>
                  <a:pt x="613948" y="3777435"/>
                  <a:pt x="1111651" y="3694488"/>
                  <a:pt x="1111651" y="3592167"/>
                </a:cubicBezTo>
                <a:lnTo>
                  <a:pt x="1111651" y="185268"/>
                </a:lnTo>
                <a:cubicBezTo>
                  <a:pt x="1111651" y="82947"/>
                  <a:pt x="1609354" y="0"/>
                  <a:pt x="2223302" y="0"/>
                </a:cubicBezTo>
                <a:lnTo>
                  <a:pt x="2223302" y="7573653"/>
                </a:lnTo>
                <a:close/>
              </a:path>
              <a:path w="2223302" h="7573653" fill="none">
                <a:moveTo>
                  <a:pt x="2223302" y="7573653"/>
                </a:moveTo>
                <a:cubicBezTo>
                  <a:pt x="1609354" y="7573653"/>
                  <a:pt x="1111651" y="7490706"/>
                  <a:pt x="1111651" y="7388385"/>
                </a:cubicBezTo>
                <a:lnTo>
                  <a:pt x="1111651" y="3962703"/>
                </a:lnTo>
                <a:cubicBezTo>
                  <a:pt x="1111651" y="3860382"/>
                  <a:pt x="962739" y="3786865"/>
                  <a:pt x="348791" y="3786865"/>
                </a:cubicBezTo>
                <a:cubicBezTo>
                  <a:pt x="962739" y="3786865"/>
                  <a:pt x="1111651" y="3694488"/>
                  <a:pt x="1111651" y="3592167"/>
                </a:cubicBezTo>
                <a:lnTo>
                  <a:pt x="1111651" y="185268"/>
                </a:lnTo>
                <a:cubicBezTo>
                  <a:pt x="1111651" y="82947"/>
                  <a:pt x="1609354" y="0"/>
                  <a:pt x="2223302" y="0"/>
                </a:cubicBezTo>
              </a:path>
            </a:pathLst>
          </a:custGeom>
          <a:ln>
            <a:solidFill>
              <a:srgbClr val="0070C0"/>
            </a:solidFill>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052050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018675" y="136525"/>
            <a:ext cx="10515600" cy="924339"/>
          </a:xfrm>
          <a:prstGeom prst="rect">
            <a:avLst/>
          </a:prstGeom>
          <a:noFill/>
          <a:ln>
            <a:noFill/>
          </a:ln>
        </p:spPr>
        <p:txBody>
          <a:bodyPr spcFirstLastPara="1" wrap="square" lIns="91425" tIns="45700" rIns="91425" bIns="45700" anchor="ctr" anchorCtr="0">
            <a:normAutofit/>
          </a:bodyPr>
          <a:lstStyle/>
          <a:p>
            <a:r>
              <a:rPr lang="en-US" dirty="0"/>
              <a:t>Multiple Output Neurons</a:t>
            </a:r>
          </a:p>
        </p:txBody>
      </p:sp>
      <p:sp>
        <p:nvSpPr>
          <p:cNvPr id="91" name="Google Shape;91;p2"/>
          <p:cNvSpPr txBox="1">
            <a:spLocks noGrp="1"/>
          </p:cNvSpPr>
          <p:nvPr>
            <p:ph type="body" idx="1"/>
          </p:nvPr>
        </p:nvSpPr>
        <p:spPr>
          <a:xfrm>
            <a:off x="657724" y="1124712"/>
            <a:ext cx="10972622" cy="5486399"/>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dirty="0"/>
              <a:t>How to get the output?</a:t>
            </a:r>
          </a:p>
          <a:p>
            <a:r>
              <a:rPr lang="en-US" dirty="0"/>
              <a:t>Each output neuron corresponds to a class.</a:t>
            </a:r>
          </a:p>
          <a:p>
            <a:pPr lvl="1"/>
            <a:r>
              <a:rPr lang="en-US" dirty="0"/>
              <a:t>Use sigmoid activation for each output neuron. </a:t>
            </a:r>
          </a:p>
          <a:p>
            <a:pPr lvl="1"/>
            <a:r>
              <a:rPr lang="en-US" dirty="0"/>
              <a:t>Apply a threshold (commonly 0.5) to convert to binary: python Copy Edit</a:t>
            </a:r>
          </a:p>
          <a:p>
            <a:r>
              <a:rPr lang="en-US" dirty="0"/>
              <a:t>Use softmax activation in the output layer. </a:t>
            </a:r>
          </a:p>
          <a:p>
            <a:pPr lvl="1"/>
            <a:r>
              <a:rPr lang="en-US" dirty="0"/>
              <a:t>Use argmax to select the class with the highest probability</a:t>
            </a:r>
          </a:p>
          <a:p>
            <a:r>
              <a:rPr lang="en-US" dirty="0"/>
              <a:t>Custom binary output from multiple outputs</a:t>
            </a:r>
          </a:p>
          <a:p>
            <a:pPr lvl="1"/>
            <a:r>
              <a:rPr lang="en-US" dirty="0"/>
              <a:t>Add a final layer</a:t>
            </a:r>
          </a:p>
          <a:p>
            <a:pPr lvl="1"/>
            <a:r>
              <a:rPr lang="en-US" dirty="0"/>
              <a:t>Apply a logic or learned rule (e.g., majority vote, linear combination, etc.)</a:t>
            </a:r>
          </a:p>
        </p:txBody>
      </p:sp>
      <p:sp>
        <p:nvSpPr>
          <p:cNvPr id="2" name="Slide Number Placeholder 1">
            <a:extLst>
              <a:ext uri="{FF2B5EF4-FFF2-40B4-BE49-F238E27FC236}">
                <a16:creationId xmlns:a16="http://schemas.microsoft.com/office/drawing/2014/main" id="{344A50A4-F658-4947-9E1D-850AB00250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3985156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018675" y="136525"/>
            <a:ext cx="10515600" cy="924339"/>
          </a:xfrm>
          <a:prstGeom prst="rect">
            <a:avLst/>
          </a:prstGeom>
          <a:noFill/>
          <a:ln>
            <a:noFill/>
          </a:ln>
        </p:spPr>
        <p:txBody>
          <a:bodyPr spcFirstLastPara="1" wrap="square" lIns="91425" tIns="45700" rIns="91425" bIns="45700" anchor="ctr" anchorCtr="0">
            <a:normAutofit/>
          </a:bodyPr>
          <a:lstStyle/>
          <a:p>
            <a:r>
              <a:rPr lang="en-US" dirty="0"/>
              <a:t>Loss Functions</a:t>
            </a:r>
          </a:p>
        </p:txBody>
      </p:sp>
      <mc:AlternateContent xmlns:mc="http://schemas.openxmlformats.org/markup-compatibility/2006" xmlns:a14="http://schemas.microsoft.com/office/drawing/2010/main">
        <mc:Choice Requires="a14">
          <p:sp>
            <p:nvSpPr>
              <p:cNvPr id="91" name="Google Shape;91;p2"/>
              <p:cNvSpPr txBox="1">
                <a:spLocks noGrp="1"/>
              </p:cNvSpPr>
              <p:nvPr>
                <p:ph type="body" idx="1"/>
              </p:nvPr>
            </p:nvSpPr>
            <p:spPr>
              <a:xfrm>
                <a:off x="657724" y="1124712"/>
                <a:ext cx="10972622" cy="5486399"/>
              </a:xfrm>
              <a:prstGeom prst="rect">
                <a:avLst/>
              </a:prstGeom>
              <a:noFill/>
              <a:ln>
                <a:noFill/>
              </a:ln>
            </p:spPr>
            <p:txBody>
              <a:bodyPr spcFirstLastPara="1" wrap="square" lIns="91425" tIns="45700" rIns="91425" bIns="45700" anchor="t" anchorCtr="0">
                <a:normAutofit/>
              </a:bodyPr>
              <a:lstStyle/>
              <a:p>
                <a:pPr>
                  <a:lnSpc>
                    <a:spcPct val="150000"/>
                  </a:lnSpc>
                </a:pPr>
                <a:r>
                  <a:rPr lang="en-US" dirty="0"/>
                  <a:t>Binary Cross-entropy, </a:t>
                </a:r>
                <a14:m>
                  <m:oMath xmlns:m="http://schemas.openxmlformats.org/officeDocument/2006/math">
                    <m:r>
                      <a:rPr lang="es-ES" i="1" dirty="0" smtClean="0">
                        <a:latin typeface="Cambria Math" panose="02040503050406030204" pitchFamily="18" charset="0"/>
                      </a:rPr>
                      <m:t>𝐿</m:t>
                    </m:r>
                    <m:r>
                      <a:rPr lang="es-ES"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 </m:t>
                    </m:r>
                    <m:r>
                      <a:rPr lang="en-US" b="0" i="1" dirty="0" smtClean="0">
                        <a:latin typeface="Cambria Math" panose="02040503050406030204" pitchFamily="18" charset="0"/>
                      </a:rPr>
                      <m:t>𝑙𝑜𝑔</m:t>
                    </m:r>
                    <m:r>
                      <a:rPr lang="es-ES" i="1" dirty="0" smtClean="0">
                        <a:latin typeface="Cambria Math" panose="02040503050406030204" pitchFamily="18" charset="0"/>
                      </a:rPr>
                      <m:t>(</m:t>
                    </m:r>
                    <m:acc>
                      <m:accPr>
                        <m:chr m:val="̂"/>
                        <m:ctrlPr>
                          <a:rPr lang="es-ES" i="1" dirty="0" smtClean="0">
                            <a:latin typeface="Cambria Math" panose="02040503050406030204" pitchFamily="18" charset="0"/>
                          </a:rPr>
                        </m:ctrlPr>
                      </m:accPr>
                      <m:e>
                        <m:r>
                          <a:rPr lang="en-US" b="0" i="1" dirty="0" smtClean="0">
                            <a:latin typeface="Cambria Math" panose="02040503050406030204" pitchFamily="18" charset="0"/>
                          </a:rPr>
                          <m:t>𝑝</m:t>
                        </m:r>
                      </m:e>
                    </m:acc>
                    <m:r>
                      <a:rPr lang="es-ES" i="1" dirty="0" smtClean="0">
                        <a:latin typeface="Cambria Math" panose="02040503050406030204" pitchFamily="18" charset="0"/>
                      </a:rPr>
                      <m:t>​)+(1−</m:t>
                    </m:r>
                    <m:r>
                      <a:rPr lang="es-ES" i="1" dirty="0" smtClean="0">
                        <a:latin typeface="Cambria Math" panose="02040503050406030204" pitchFamily="18" charset="0"/>
                      </a:rPr>
                      <m:t>𝑦</m:t>
                    </m:r>
                    <m:r>
                      <a:rPr lang="es-ES" i="1" dirty="0" smtClean="0">
                        <a:latin typeface="Cambria Math" panose="02040503050406030204" pitchFamily="18" charset="0"/>
                      </a:rPr>
                      <m:t>)</m:t>
                    </m:r>
                    <m:r>
                      <m:rPr>
                        <m:sty m:val="p"/>
                      </m:rPr>
                      <a:rPr lang="es-ES" i="1" dirty="0" smtClean="0">
                        <a:latin typeface="Cambria Math" panose="02040503050406030204" pitchFamily="18" charset="0"/>
                      </a:rPr>
                      <m:t>log</m:t>
                    </m:r>
                    <m:r>
                      <a:rPr lang="es-ES" i="1" dirty="0" smtClean="0">
                        <a:latin typeface="Cambria Math" panose="02040503050406030204" pitchFamily="18" charset="0"/>
                      </a:rPr>
                      <m:t>⁡(1−</m:t>
                    </m:r>
                    <m:acc>
                      <m:accPr>
                        <m:chr m:val="̂"/>
                        <m:ctrlPr>
                          <a:rPr lang="es-ES" i="1" dirty="0" smtClean="0">
                            <a:latin typeface="Cambria Math" panose="02040503050406030204" pitchFamily="18" charset="0"/>
                          </a:rPr>
                        </m:ctrlPr>
                      </m:accPr>
                      <m:e>
                        <m:r>
                          <a:rPr lang="en-US" b="0" i="1" dirty="0" smtClean="0">
                            <a:latin typeface="Cambria Math" panose="02040503050406030204" pitchFamily="18" charset="0"/>
                          </a:rPr>
                          <m:t>𝑝</m:t>
                        </m:r>
                      </m:e>
                    </m:acc>
                    <m:r>
                      <a:rPr lang="es-ES" i="1" dirty="0" smtClean="0">
                        <a:latin typeface="Cambria Math" panose="02040503050406030204" pitchFamily="18" charset="0"/>
                      </a:rPr>
                      <m:t>​)]</m:t>
                    </m:r>
                  </m:oMath>
                </a14:m>
                <a:endParaRPr lang="en-US" dirty="0"/>
              </a:p>
              <a:p>
                <a:pPr>
                  <a:lnSpc>
                    <a:spcPct val="150000"/>
                  </a:lnSpc>
                </a:pPr>
                <a:r>
                  <a:rPr lang="en-US" dirty="0"/>
                  <a:t>Categorical Cross-entropy, </a:t>
                </a:r>
                <a14:m>
                  <m:oMath xmlns:m="http://schemas.openxmlformats.org/officeDocument/2006/math">
                    <m:r>
                      <a:rPr lang="es-ES" i="1" dirty="0" smtClean="0">
                        <a:latin typeface="Cambria Math" panose="02040503050406030204" pitchFamily="18" charset="0"/>
                      </a:rPr>
                      <m:t>𝐿</m:t>
                    </m:r>
                    <m:r>
                      <a:rPr lang="es-ES" i="1" dirty="0" smtClean="0">
                        <a:latin typeface="Cambria Math" panose="02040503050406030204" pitchFamily="18" charset="0"/>
                      </a:rPr>
                      <m:t>=−</m:t>
                    </m:r>
                    <m:nary>
                      <m:naryPr>
                        <m:chr m:val="∑"/>
                        <m:ctrlPr>
                          <a:rPr lang="es-ES" i="1" dirty="0" smtClean="0">
                            <a:latin typeface="Cambria Math" panose="02040503050406030204" pitchFamily="18" charset="0"/>
                          </a:rPr>
                        </m:ctrlPr>
                      </m:naryPr>
                      <m:sub>
                        <m:r>
                          <m:rPr>
                            <m:brk m:alnAt="23"/>
                          </m:rPr>
                          <a:rPr lang="en-US" b="0" i="1" dirty="0" smtClean="0">
                            <a:latin typeface="Cambria Math" panose="02040503050406030204" pitchFamily="18" charset="0"/>
                          </a:rPr>
                          <m:t>𝑗</m:t>
                        </m:r>
                        <m:r>
                          <a:rPr lang="en-US" b="0" i="1" dirty="0" smtClean="0">
                            <a:latin typeface="Cambria Math" panose="02040503050406030204" pitchFamily="18" charset="0"/>
                          </a:rPr>
                          <m:t>=1</m:t>
                        </m:r>
                      </m:sub>
                      <m:sup>
                        <m:r>
                          <a:rPr lang="en-US" b="0" i="1" dirty="0" smtClean="0">
                            <a:latin typeface="Cambria Math" panose="02040503050406030204" pitchFamily="18" charset="0"/>
                          </a:rPr>
                          <m:t>𝐶</m:t>
                        </m:r>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𝑗</m:t>
                            </m:r>
                          </m:sub>
                        </m:sSub>
                        <m:r>
                          <m:rPr>
                            <m:sty m:val="p"/>
                          </m:rPr>
                          <a:rPr lang="en-US" b="0" i="0" dirty="0" smtClean="0">
                            <a:latin typeface="Cambria Math" panose="02040503050406030204" pitchFamily="18" charset="0"/>
                          </a:rPr>
                          <m:t>log</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𝑝</m:t>
                                </m:r>
                              </m:e>
                            </m:acc>
                          </m:e>
                          <m:sub>
                            <m:r>
                              <a:rPr lang="en-US" b="0" i="1" dirty="0" smtClean="0">
                                <a:latin typeface="Cambria Math" panose="02040503050406030204" pitchFamily="18" charset="0"/>
                              </a:rPr>
                              <m:t>𝑗</m:t>
                            </m:r>
                          </m:sub>
                        </m:sSub>
                        <m:r>
                          <a:rPr lang="en-US" b="0" i="1" dirty="0" smtClean="0">
                            <a:latin typeface="Cambria Math" panose="02040503050406030204" pitchFamily="18" charset="0"/>
                          </a:rPr>
                          <m:t>)</m:t>
                        </m:r>
                      </m:e>
                    </m:nary>
                  </m:oMath>
                </a14:m>
                <a:endParaRPr lang="en-US" dirty="0"/>
              </a:p>
              <a:p>
                <a:pPr>
                  <a:lnSpc>
                    <a:spcPct val="150000"/>
                  </a:lnSpc>
                </a:pPr>
                <a:r>
                  <a:rPr lang="en-US" dirty="0"/>
                  <a:t>Mean Squared Error (MSE)</a:t>
                </a:r>
              </a:p>
              <a:p>
                <a:pPr>
                  <a:lnSpc>
                    <a:spcPct val="150000"/>
                  </a:lnSpc>
                </a:pPr>
                <a:r>
                  <a:rPr lang="en-US" dirty="0"/>
                  <a:t>Mean Absolute Error (MAE)</a:t>
                </a:r>
              </a:p>
            </p:txBody>
          </p:sp>
        </mc:Choice>
        <mc:Fallback xmlns="">
          <p:sp>
            <p:nvSpPr>
              <p:cNvPr id="91" name="Google Shape;91;p2"/>
              <p:cNvSpPr txBox="1">
                <a:spLocks noGrp="1" noRot="1" noChangeAspect="1" noMove="1" noResize="1" noEditPoints="1" noAdjustHandles="1" noChangeArrowheads="1" noChangeShapeType="1" noTextEdit="1"/>
              </p:cNvSpPr>
              <p:nvPr>
                <p:ph type="body" idx="1"/>
              </p:nvPr>
            </p:nvSpPr>
            <p:spPr>
              <a:xfrm>
                <a:off x="657724" y="1124712"/>
                <a:ext cx="10972622" cy="5486399"/>
              </a:xfrm>
              <a:prstGeom prst="rect">
                <a:avLst/>
              </a:prstGeom>
              <a:blipFill>
                <a:blip r:embed="rId3"/>
                <a:stretch>
                  <a:fillRect/>
                </a:stretch>
              </a:blipFill>
              <a:ln>
                <a:noFill/>
              </a:ln>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44A50A4-F658-4947-9E1D-850AB00250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3175515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05FAD-7529-4CDD-9AED-27DF5AF8104B}"/>
              </a:ext>
            </a:extLst>
          </p:cNvPr>
          <p:cNvSpPr>
            <a:spLocks noGrp="1"/>
          </p:cNvSpPr>
          <p:nvPr>
            <p:ph type="title"/>
          </p:nvPr>
        </p:nvSpPr>
        <p:spPr>
          <a:xfrm>
            <a:off x="838200" y="365126"/>
            <a:ext cx="10515600" cy="315912"/>
          </a:xfrm>
        </p:spPr>
        <p:txBody>
          <a:bodyPr>
            <a:normAutofit fontScale="90000"/>
          </a:bodyPr>
          <a:lstStyle/>
          <a:p>
            <a:r>
              <a:rPr lang="en-US" dirty="0"/>
              <a:t>How the Neural Network learns</a:t>
            </a:r>
          </a:p>
        </p:txBody>
      </p:sp>
      <p:sp>
        <p:nvSpPr>
          <p:cNvPr id="3" name="Text Placeholder 2">
            <a:extLst>
              <a:ext uri="{FF2B5EF4-FFF2-40B4-BE49-F238E27FC236}">
                <a16:creationId xmlns:a16="http://schemas.microsoft.com/office/drawing/2014/main" id="{2ECA8070-4470-4342-8F80-A7B8F53F9E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EB2764-D5A2-4127-8531-37760F82C7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5" name="Picture 4">
            <a:extLst>
              <a:ext uri="{FF2B5EF4-FFF2-40B4-BE49-F238E27FC236}">
                <a16:creationId xmlns:a16="http://schemas.microsoft.com/office/drawing/2014/main" id="{C6260C04-B0E6-4509-B899-03B90E737451}"/>
              </a:ext>
            </a:extLst>
          </p:cNvPr>
          <p:cNvPicPr>
            <a:picLocks noChangeAspect="1"/>
          </p:cNvPicPr>
          <p:nvPr/>
        </p:nvPicPr>
        <p:blipFill>
          <a:blip r:embed="rId2"/>
          <a:stretch>
            <a:fillRect/>
          </a:stretch>
        </p:blipFill>
        <p:spPr>
          <a:xfrm>
            <a:off x="1297234" y="988643"/>
            <a:ext cx="9597531" cy="5622472"/>
          </a:xfrm>
          <a:prstGeom prst="rect">
            <a:avLst/>
          </a:prstGeom>
        </p:spPr>
      </p:pic>
    </p:spTree>
    <p:extLst>
      <p:ext uri="{BB962C8B-B14F-4D97-AF65-F5344CB8AC3E}">
        <p14:creationId xmlns:p14="http://schemas.microsoft.com/office/powerpoint/2010/main" val="3437550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F488C-9D61-443C-895A-FE2490A6944E}"/>
              </a:ext>
            </a:extLst>
          </p:cNvPr>
          <p:cNvSpPr>
            <a:spLocks noGrp="1"/>
          </p:cNvSpPr>
          <p:nvPr>
            <p:ph type="title"/>
          </p:nvPr>
        </p:nvSpPr>
        <p:spPr/>
        <p:txBody>
          <a:bodyPr/>
          <a:lstStyle/>
          <a:p>
            <a:r>
              <a:rPr lang="en-US" dirty="0"/>
              <a:t>Gradient descent in backpropagation </a:t>
            </a:r>
          </a:p>
        </p:txBody>
      </p:sp>
      <p:sp>
        <p:nvSpPr>
          <p:cNvPr id="3" name="Text Placeholder 2">
            <a:extLst>
              <a:ext uri="{FF2B5EF4-FFF2-40B4-BE49-F238E27FC236}">
                <a16:creationId xmlns:a16="http://schemas.microsoft.com/office/drawing/2014/main" id="{325850B3-01B5-4C99-80FC-8660478CD12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8E4A37-5E7C-4F32-A75F-150BE92639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1026" name="Picture 2" descr="Gradient descent | Let's talk about science!">
            <a:extLst>
              <a:ext uri="{FF2B5EF4-FFF2-40B4-BE49-F238E27FC236}">
                <a16:creationId xmlns:a16="http://schemas.microsoft.com/office/drawing/2014/main" id="{AEB96A4A-1EA3-4E1B-AE6B-468E2F963C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585" y="1825625"/>
            <a:ext cx="9023131" cy="4889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040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1"/>
          <p:cNvSpPr/>
          <p:nvPr/>
        </p:nvSpPr>
        <p:spPr>
          <a:xfrm>
            <a:off x="4428591" y="2967335"/>
            <a:ext cx="333482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accent1"/>
                </a:solidFill>
                <a:latin typeface="Calibri"/>
                <a:ea typeface="Calibri"/>
                <a:cs typeface="Calibri"/>
                <a:sym typeface="Calibri"/>
              </a:rPr>
              <a:t>Questions?</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2399D7CC-A135-4091-B536-95C0BAAA26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1829</TotalTime>
  <Words>1134</Words>
  <Application>Microsoft Office PowerPoint</Application>
  <PresentationFormat>Widescreen</PresentationFormat>
  <Paragraphs>126</Paragraphs>
  <Slides>19</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 Math</vt:lpstr>
      <vt:lpstr>Times New Roman</vt:lpstr>
      <vt:lpstr>Wingdings</vt:lpstr>
      <vt:lpstr>Office Theme</vt:lpstr>
      <vt:lpstr>Artificial Neural Network (Part 2)</vt:lpstr>
      <vt:lpstr>The XOR problem</vt:lpstr>
      <vt:lpstr>Easy to build AND or OR with perceptrons</vt:lpstr>
      <vt:lpstr>Not possible to capture XOR with perceptrons</vt:lpstr>
      <vt:lpstr>Why? Perceptrons are linear classifiers</vt:lpstr>
      <vt:lpstr>Decision boundaries</vt:lpstr>
      <vt:lpstr>Solution to the XOR problem</vt:lpstr>
      <vt:lpstr>The hidden representation h</vt:lpstr>
      <vt:lpstr>Feed Forward Neural Network (FFNN)</vt:lpstr>
      <vt:lpstr>How It Works</vt:lpstr>
      <vt:lpstr>Mathematics</vt:lpstr>
      <vt:lpstr>One Hidden Layer (Shallow NN)</vt:lpstr>
      <vt:lpstr>One Hidden Layer (Shallow NN)</vt:lpstr>
      <vt:lpstr>Multiple Hidden Layer (Deep NN)</vt:lpstr>
      <vt:lpstr>Multiple Output Neurons</vt:lpstr>
      <vt:lpstr>Loss Functions</vt:lpstr>
      <vt:lpstr>How the Neural Network learns</vt:lpstr>
      <vt:lpstr>Gradient descent in backpropagation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dc:title>
  <dc:creator>Shahidul islam</dc:creator>
  <cp:lastModifiedBy>Ahmedul Kabir</cp:lastModifiedBy>
  <cp:revision>654</cp:revision>
  <dcterms:created xsi:type="dcterms:W3CDTF">2024-01-16T03:17:01Z</dcterms:created>
  <dcterms:modified xsi:type="dcterms:W3CDTF">2026-09-22T19:15:55Z</dcterms:modified>
</cp:coreProperties>
</file>