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4" r:id="rId4"/>
    <p:sldId id="276" r:id="rId5"/>
    <p:sldId id="277" r:id="rId6"/>
    <p:sldId id="275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7" r:id="rId16"/>
    <p:sldId id="288" r:id="rId17"/>
    <p:sldId id="289" r:id="rId18"/>
    <p:sldId id="313" r:id="rId19"/>
    <p:sldId id="314" r:id="rId20"/>
    <p:sldId id="315" r:id="rId21"/>
    <p:sldId id="316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w8TiAGEHEWRBJmlhZ8LyGFz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C9AC0D-79A4-41F8-9187-85EBDDFB2577}">
  <a:tblStyle styleId="{B0C9AC0D-79A4-41F8-9187-85EBDDFB25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EB0D0C-43E2-426A-8440-724715A16C0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83" autoAdjust="0"/>
  </p:normalViewPr>
  <p:slideViewPr>
    <p:cSldViewPr snapToGrid="0">
      <p:cViewPr varScale="1">
        <p:scale>
          <a:sx n="59" d="100"/>
          <a:sy n="59" d="100"/>
        </p:scale>
        <p:origin x="1074" y="6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32402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3745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8917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415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088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6002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3764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674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4161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903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110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8948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4527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5668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4396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011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0882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7533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014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9859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0903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9949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058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233487" y="1122363"/>
            <a:ext cx="9725025" cy="133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Supervised Learning </a:t>
            </a:r>
            <a:br>
              <a:rPr lang="en-US" dirty="0"/>
            </a:br>
            <a:r>
              <a:rPr lang="en-US" dirty="0"/>
              <a:t>(Decision Tree)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3999" y="48708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Dept. of CSE, University of Asia Pacific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en-US" dirty="0"/>
              <a:t>Decision Tree</a:t>
            </a:r>
            <a:endParaRPr lang="en-US"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Tahoma" panose="020B0604030504040204" pitchFamily="34" charset="0"/>
              </a:rPr>
              <a:t>A supervised learning algorithm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Tahoma" panose="020B0604030504040204" pitchFamily="34" charset="0"/>
              </a:rPr>
              <a:t>Mimics a tree-like model of decisions and outcomes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Tahoma" panose="020B0604030504040204" pitchFamily="34" charset="0"/>
              </a:rPr>
              <a:t>Used for classification and regression</a:t>
            </a:r>
            <a:endParaRPr lang="en-US" altLang="en-US" sz="2800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b="1" dirty="0">
                <a:latin typeface="Tahoma" panose="020B0604030504040204" pitchFamily="34" charset="0"/>
              </a:rPr>
              <a:t>Key Components: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b="1" dirty="0">
                <a:latin typeface="Tahoma" panose="020B0604030504040204" pitchFamily="34" charset="0"/>
              </a:rPr>
              <a:t>Root Node</a:t>
            </a:r>
            <a:r>
              <a:rPr lang="en-US" altLang="en-US" dirty="0">
                <a:latin typeface="Tahoma" panose="020B0604030504040204" pitchFamily="34" charset="0"/>
              </a:rPr>
              <a:t>: Starting point (top of the tree)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b="1" dirty="0">
                <a:latin typeface="Tahoma" panose="020B0604030504040204" pitchFamily="34" charset="0"/>
              </a:rPr>
              <a:t>Decision Nodes</a:t>
            </a:r>
            <a:r>
              <a:rPr lang="en-US" altLang="en-US" dirty="0">
                <a:latin typeface="Tahoma" panose="020B0604030504040204" pitchFamily="34" charset="0"/>
              </a:rPr>
              <a:t>: Branches based on feature splits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b="1" dirty="0">
                <a:latin typeface="Tahoma" panose="020B0604030504040204" pitchFamily="34" charset="0"/>
              </a:rPr>
              <a:t>Leaf Nodes</a:t>
            </a:r>
            <a:r>
              <a:rPr lang="en-US" altLang="en-US" dirty="0">
                <a:latin typeface="Tahoma" panose="020B0604030504040204" pitchFamily="34" charset="0"/>
              </a:rPr>
              <a:t>: Final output (class or value)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en-US" dirty="0"/>
              <a:t>Decision Tree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0D2DA4-2DFE-4030-AF5F-9F04ACACE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363" y="555020"/>
            <a:ext cx="8318224" cy="608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7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Decision Making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Starting from the root, the attribute values are tested against the tree </a:t>
            </a:r>
          </a:p>
          <a:p>
            <a:pPr marL="228600" lvl="0" indent="-228600">
              <a:buSzPts val="2800"/>
            </a:pPr>
            <a:r>
              <a:rPr lang="en-US" dirty="0"/>
              <a:t>The path traced from root to leaf holds the class prediction for the tuple</a:t>
            </a:r>
          </a:p>
          <a:p>
            <a:pPr marL="228600" lvl="0" indent="-228600">
              <a:buSzPts val="2800"/>
            </a:pPr>
            <a:r>
              <a:rPr lang="en-US" dirty="0"/>
              <a:t>Can be found the classification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0AE0C-971C-4118-824C-BACB9520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76" y="3069208"/>
            <a:ext cx="4741589" cy="346970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1FBDA2-8964-4D9C-A03F-3CE5A76BB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68927"/>
              </p:ext>
            </p:extLst>
          </p:nvPr>
        </p:nvGraphicFramePr>
        <p:xfrm>
          <a:off x="7096539" y="4015409"/>
          <a:ext cx="3701565" cy="831389"/>
        </p:xfrm>
        <a:graphic>
          <a:graphicData uri="http://schemas.openxmlformats.org/drawingml/2006/table">
            <a:tbl>
              <a:tblPr firstRow="1" bandRow="1">
                <a:tableStyleId>{B0C9AC0D-79A4-41F8-9187-85EBDDFB2577}</a:tableStyleId>
              </a:tblPr>
              <a:tblGrid>
                <a:gridCol w="1233855">
                  <a:extLst>
                    <a:ext uri="{9D8B030D-6E8A-4147-A177-3AD203B41FA5}">
                      <a16:colId xmlns:a16="http://schemas.microsoft.com/office/drawing/2014/main" val="2847679302"/>
                    </a:ext>
                  </a:extLst>
                </a:gridCol>
                <a:gridCol w="1233855">
                  <a:extLst>
                    <a:ext uri="{9D8B030D-6E8A-4147-A177-3AD203B41FA5}">
                      <a16:colId xmlns:a16="http://schemas.microsoft.com/office/drawing/2014/main" val="1114125339"/>
                    </a:ext>
                  </a:extLst>
                </a:gridCol>
                <a:gridCol w="1233855">
                  <a:extLst>
                    <a:ext uri="{9D8B030D-6E8A-4147-A177-3AD203B41FA5}">
                      <a16:colId xmlns:a16="http://schemas.microsoft.com/office/drawing/2014/main" val="2106792720"/>
                    </a:ext>
                  </a:extLst>
                </a:gridCol>
              </a:tblGrid>
              <a:tr h="313229">
                <a:tc>
                  <a:txBody>
                    <a:bodyPr/>
                    <a:lstStyle/>
                    <a:p>
                      <a:r>
                        <a:rPr lang="en-US" dirty="0"/>
                        <a:t>Viral Syndrome?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529899"/>
                  </a:ext>
                </a:extLst>
              </a:tr>
              <a:tr h="31322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42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725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Decision Making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0AE0C-971C-4118-824C-BACB9520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26" y="1108484"/>
            <a:ext cx="7361726" cy="538701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1FBDA2-8964-4D9C-A03F-3CE5A76BB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015181"/>
              </p:ext>
            </p:extLst>
          </p:nvPr>
        </p:nvGraphicFramePr>
        <p:xfrm>
          <a:off x="7484165" y="2657373"/>
          <a:ext cx="3701565" cy="1144618"/>
        </p:xfrm>
        <a:graphic>
          <a:graphicData uri="http://schemas.openxmlformats.org/drawingml/2006/table">
            <a:tbl>
              <a:tblPr firstRow="1" bandRow="1">
                <a:tableStyleId>{B0C9AC0D-79A4-41F8-9187-85EBDDFB2577}</a:tableStyleId>
              </a:tblPr>
              <a:tblGrid>
                <a:gridCol w="1233855">
                  <a:extLst>
                    <a:ext uri="{9D8B030D-6E8A-4147-A177-3AD203B41FA5}">
                      <a16:colId xmlns:a16="http://schemas.microsoft.com/office/drawing/2014/main" val="2847679302"/>
                    </a:ext>
                  </a:extLst>
                </a:gridCol>
                <a:gridCol w="1233855">
                  <a:extLst>
                    <a:ext uri="{9D8B030D-6E8A-4147-A177-3AD203B41FA5}">
                      <a16:colId xmlns:a16="http://schemas.microsoft.com/office/drawing/2014/main" val="1114125339"/>
                    </a:ext>
                  </a:extLst>
                </a:gridCol>
                <a:gridCol w="1233855">
                  <a:extLst>
                    <a:ext uri="{9D8B030D-6E8A-4147-A177-3AD203B41FA5}">
                      <a16:colId xmlns:a16="http://schemas.microsoft.com/office/drawing/2014/main" val="2106792720"/>
                    </a:ext>
                  </a:extLst>
                </a:gridCol>
              </a:tblGrid>
              <a:tr h="313229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Data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226223"/>
                  </a:ext>
                </a:extLst>
              </a:tr>
              <a:tr h="313229">
                <a:tc>
                  <a:txBody>
                    <a:bodyPr/>
                    <a:lstStyle/>
                    <a:p>
                      <a:r>
                        <a:rPr lang="en-US" dirty="0"/>
                        <a:t>Viral Syndrome?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529899"/>
                  </a:ext>
                </a:extLst>
              </a:tr>
              <a:tr h="31322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42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2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en-US" dirty="0"/>
              <a:t>Tree Construction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5715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/>
                  <a:t>Split data</a:t>
                </a:r>
                <a:r>
                  <a:rPr lang="en-US" dirty="0"/>
                  <a:t> using features (e.g., “Temperature &gt; 38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dirty="0"/>
                  <a:t>?")</a:t>
                </a:r>
              </a:p>
              <a:p>
                <a:pPr marL="5715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/>
                  <a:t>Repeat</a:t>
                </a:r>
                <a:r>
                  <a:rPr lang="en-US" dirty="0"/>
                  <a:t> splitting to maximize purity (e.g., Gini impurity/Entropy for classification, MSE for regression)</a:t>
                </a:r>
              </a:p>
              <a:p>
                <a:pPr marL="5715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1" dirty="0"/>
                  <a:t>Stop</a:t>
                </a:r>
                <a:r>
                  <a:rPr lang="en-US" dirty="0"/>
                  <a:t> when a stopping criterion is met (max depth, min samples per leaf)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blipFill>
                <a:blip r:embed="rId3"/>
                <a:stretch>
                  <a:fillRect r="-4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5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What if the Feature is not Discrete?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dirty="0"/>
              <a:t>Discretization to form an ordinal categorical attribute</a:t>
            </a:r>
          </a:p>
          <a:p>
            <a:pPr marL="685800" lvl="1" indent="-228600">
              <a:lnSpc>
                <a:spcPct val="150000"/>
              </a:lnSpc>
              <a:buSzPts val="2800"/>
            </a:pPr>
            <a:r>
              <a:rPr lang="en-US" sz="2800" dirty="0"/>
              <a:t> </a:t>
            </a:r>
            <a:r>
              <a:rPr lang="en-US" dirty="0"/>
              <a:t>Static – discretize once at the beginning</a:t>
            </a:r>
          </a:p>
          <a:p>
            <a:pPr marL="685800" lvl="1" indent="-228600">
              <a:lnSpc>
                <a:spcPct val="150000"/>
              </a:lnSpc>
              <a:buSzPts val="2400"/>
            </a:pPr>
            <a:r>
              <a:rPr lang="en-US" dirty="0"/>
              <a:t> Dynamic – ranges can be found by equal interval for example, bucketing, equal frequency bucketing (percentiles), or clustering.</a:t>
            </a:r>
          </a:p>
          <a:p>
            <a:pPr marL="1600200" lvl="3" indent="-101600">
              <a:lnSpc>
                <a:spcPct val="150000"/>
              </a:lnSpc>
              <a:buSzPts val="2000"/>
              <a:buNone/>
            </a:pPr>
            <a:endParaRPr lang="en-US" sz="2000" dirty="0"/>
          </a:p>
          <a:p>
            <a:pPr marL="228600" lvl="0" indent="-228600">
              <a:lnSpc>
                <a:spcPct val="150000"/>
              </a:lnSpc>
              <a:buSzPts val="2800"/>
            </a:pPr>
            <a:r>
              <a:rPr lang="en-US" dirty="0"/>
              <a:t>Binary Decision: (A &lt; v) or (A ≥ v)</a:t>
            </a:r>
          </a:p>
          <a:p>
            <a:pPr marL="685800" lvl="1" indent="-228600">
              <a:lnSpc>
                <a:spcPct val="150000"/>
              </a:lnSpc>
              <a:buSzPts val="2800"/>
            </a:pPr>
            <a:r>
              <a:rPr lang="en-US" sz="2800" dirty="0"/>
              <a:t> </a:t>
            </a:r>
            <a:r>
              <a:rPr lang="en-US" dirty="0"/>
              <a:t>consider all possible splits and finds the best cut</a:t>
            </a:r>
          </a:p>
          <a:p>
            <a:pPr marL="685800" lvl="1" indent="-228600">
              <a:lnSpc>
                <a:spcPct val="150000"/>
              </a:lnSpc>
              <a:buSzPts val="2400"/>
            </a:pPr>
            <a:r>
              <a:rPr lang="en-US" dirty="0"/>
              <a:t> can be more compute intensive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Types of Split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b="1" dirty="0"/>
              <a:t>Binary split</a:t>
            </a:r>
            <a:r>
              <a:rPr lang="en-US" dirty="0"/>
              <a:t>: Divides values into two subsets</a:t>
            </a:r>
          </a:p>
          <a:p>
            <a:pPr marL="228600" lvl="0" indent="-228600">
              <a:spcBef>
                <a:spcPts val="0"/>
              </a:spcBef>
              <a:buSzPts val="2800"/>
            </a:pPr>
            <a:endParaRPr lang="en-US" dirty="0"/>
          </a:p>
          <a:p>
            <a:pPr marL="228600" lvl="0" indent="-228600">
              <a:spcBef>
                <a:spcPts val="0"/>
              </a:spcBef>
              <a:buSzPts val="2800"/>
            </a:pPr>
            <a:endParaRPr lang="en-US" dirty="0"/>
          </a:p>
          <a:p>
            <a:pPr marL="228600" lvl="0" indent="-228600">
              <a:spcBef>
                <a:spcPts val="0"/>
              </a:spcBef>
              <a:buSzPts val="2800"/>
            </a:pPr>
            <a:endParaRPr lang="en-US" dirty="0"/>
          </a:p>
          <a:p>
            <a:pPr marL="228600" lvl="0" indent="-228600">
              <a:spcBef>
                <a:spcPts val="0"/>
              </a:spcBef>
              <a:buSzPts val="2800"/>
            </a:pPr>
            <a:endParaRPr lang="en-US" dirty="0"/>
          </a:p>
          <a:p>
            <a:pPr marL="685800" lvl="1" indent="-228600">
              <a:spcBef>
                <a:spcPts val="0"/>
              </a:spcBef>
              <a:buSzPts val="2800"/>
            </a:pPr>
            <a:r>
              <a:rPr lang="en-US" dirty="0"/>
              <a:t>Need to find optimal partitioning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b="1" dirty="0"/>
              <a:t>Multi-way split</a:t>
            </a:r>
            <a:r>
              <a:rPr lang="en-US" dirty="0"/>
              <a:t>: Use as many partitions as distinct values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229AAC-68CC-4EC9-949A-947B9086FB0E}"/>
              </a:ext>
            </a:extLst>
          </p:cNvPr>
          <p:cNvGrpSpPr/>
          <p:nvPr/>
        </p:nvGrpSpPr>
        <p:grpSpPr>
          <a:xfrm>
            <a:off x="773694" y="1990317"/>
            <a:ext cx="10859761" cy="920189"/>
            <a:chOff x="654424" y="4959351"/>
            <a:chExt cx="10859761" cy="920189"/>
          </a:xfrm>
        </p:grpSpPr>
        <p:grpSp>
          <p:nvGrpSpPr>
            <p:cNvPr id="5" name="Google Shape;585;p47">
              <a:extLst>
                <a:ext uri="{FF2B5EF4-FFF2-40B4-BE49-F238E27FC236}">
                  <a16:creationId xmlns:a16="http://schemas.microsoft.com/office/drawing/2014/main" id="{456A85F1-C537-40FE-A776-3577436B203E}"/>
                </a:ext>
              </a:extLst>
            </p:cNvPr>
            <p:cNvGrpSpPr/>
            <p:nvPr/>
          </p:nvGrpSpPr>
          <p:grpSpPr>
            <a:xfrm>
              <a:off x="4393840" y="4959351"/>
              <a:ext cx="2774950" cy="914400"/>
              <a:chOff x="3513" y="3216"/>
              <a:chExt cx="1748" cy="576"/>
            </a:xfrm>
          </p:grpSpPr>
          <p:sp>
            <p:nvSpPr>
              <p:cNvPr id="6" name="Google Shape;586;p47">
                <a:extLst>
                  <a:ext uri="{FF2B5EF4-FFF2-40B4-BE49-F238E27FC236}">
                    <a16:creationId xmlns:a16="http://schemas.microsoft.com/office/drawing/2014/main" id="{09EF5D67-3BF2-417F-BA4A-729EF0421390}"/>
                  </a:ext>
                </a:extLst>
              </p:cNvPr>
              <p:cNvSpPr/>
              <p:nvPr/>
            </p:nvSpPr>
            <p:spPr>
              <a:xfrm>
                <a:off x="4186" y="3216"/>
                <a:ext cx="576" cy="28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Size</a:t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7" name="Google Shape;587;p47">
                <a:extLst>
                  <a:ext uri="{FF2B5EF4-FFF2-40B4-BE49-F238E27FC236}">
                    <a16:creationId xmlns:a16="http://schemas.microsoft.com/office/drawing/2014/main" id="{3BD276C1-89DF-4A52-B4A7-CEB78BB6A727}"/>
                  </a:ext>
                </a:extLst>
              </p:cNvPr>
              <p:cNvCxnSpPr/>
              <p:nvPr/>
            </p:nvCxnSpPr>
            <p:spPr>
              <a:xfrm flipH="1">
                <a:off x="3946" y="3504"/>
                <a:ext cx="528" cy="2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" name="Google Shape;588;p47">
                <a:extLst>
                  <a:ext uri="{FF2B5EF4-FFF2-40B4-BE49-F238E27FC236}">
                    <a16:creationId xmlns:a16="http://schemas.microsoft.com/office/drawing/2014/main" id="{0D99B7D1-2963-43C4-861A-2E34A719180E}"/>
                  </a:ext>
                </a:extLst>
              </p:cNvPr>
              <p:cNvCxnSpPr/>
              <p:nvPr/>
            </p:nvCxnSpPr>
            <p:spPr>
              <a:xfrm>
                <a:off x="4474" y="3504"/>
                <a:ext cx="480" cy="2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" name="Google Shape;589;p47">
                <a:extLst>
                  <a:ext uri="{FF2B5EF4-FFF2-40B4-BE49-F238E27FC236}">
                    <a16:creationId xmlns:a16="http://schemas.microsoft.com/office/drawing/2014/main" id="{BBB342D1-2DCC-4B45-8DB2-1FBEA2D377C2}"/>
                  </a:ext>
                </a:extLst>
              </p:cNvPr>
              <p:cNvSpPr txBox="1"/>
              <p:nvPr/>
            </p:nvSpPr>
            <p:spPr>
              <a:xfrm>
                <a:off x="3513" y="3360"/>
                <a:ext cx="68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{Medium, </a:t>
                </a:r>
                <a:b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Large}</a:t>
                </a:r>
                <a:endParaRPr/>
              </a:p>
            </p:txBody>
          </p:sp>
          <p:sp>
            <p:nvSpPr>
              <p:cNvPr id="10" name="Google Shape;590;p47">
                <a:extLst>
                  <a:ext uri="{FF2B5EF4-FFF2-40B4-BE49-F238E27FC236}">
                    <a16:creationId xmlns:a16="http://schemas.microsoft.com/office/drawing/2014/main" id="{EBE758E8-AB65-4076-8608-311917FA6740}"/>
                  </a:ext>
                </a:extLst>
              </p:cNvPr>
              <p:cNvSpPr txBox="1"/>
              <p:nvPr/>
            </p:nvSpPr>
            <p:spPr>
              <a:xfrm>
                <a:off x="4740" y="3456"/>
                <a:ext cx="52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{Small}</a:t>
                </a:r>
                <a:endParaRPr/>
              </a:p>
            </p:txBody>
          </p:sp>
        </p:grpSp>
        <p:grpSp>
          <p:nvGrpSpPr>
            <p:cNvPr id="11" name="Google Shape;591;p47">
              <a:extLst>
                <a:ext uri="{FF2B5EF4-FFF2-40B4-BE49-F238E27FC236}">
                  <a16:creationId xmlns:a16="http://schemas.microsoft.com/office/drawing/2014/main" id="{D31F9723-ECFB-4499-89CD-7ED468325F15}"/>
                </a:ext>
              </a:extLst>
            </p:cNvPr>
            <p:cNvGrpSpPr/>
            <p:nvPr/>
          </p:nvGrpSpPr>
          <p:grpSpPr>
            <a:xfrm>
              <a:off x="654424" y="4965140"/>
              <a:ext cx="2997200" cy="914400"/>
              <a:chOff x="768" y="3216"/>
              <a:chExt cx="1794" cy="576"/>
            </a:xfrm>
          </p:grpSpPr>
          <p:sp>
            <p:nvSpPr>
              <p:cNvPr id="12" name="Google Shape;592;p47">
                <a:extLst>
                  <a:ext uri="{FF2B5EF4-FFF2-40B4-BE49-F238E27FC236}">
                    <a16:creationId xmlns:a16="http://schemas.microsoft.com/office/drawing/2014/main" id="{70E79E6E-A4CE-40DE-93D2-069DF434A301}"/>
                  </a:ext>
                </a:extLst>
              </p:cNvPr>
              <p:cNvSpPr/>
              <p:nvPr/>
            </p:nvSpPr>
            <p:spPr>
              <a:xfrm>
                <a:off x="1494" y="3216"/>
                <a:ext cx="576" cy="28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Size</a:t>
                </a:r>
                <a:endParaRPr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3" name="Google Shape;593;p47">
                <a:extLst>
                  <a:ext uri="{FF2B5EF4-FFF2-40B4-BE49-F238E27FC236}">
                    <a16:creationId xmlns:a16="http://schemas.microsoft.com/office/drawing/2014/main" id="{59AB5DC1-41BE-453F-BFBF-E7E0C16532CE}"/>
                  </a:ext>
                </a:extLst>
              </p:cNvPr>
              <p:cNvCxnSpPr/>
              <p:nvPr/>
            </p:nvCxnSpPr>
            <p:spPr>
              <a:xfrm flipH="1">
                <a:off x="1254" y="3504"/>
                <a:ext cx="528" cy="2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594;p47">
                <a:extLst>
                  <a:ext uri="{FF2B5EF4-FFF2-40B4-BE49-F238E27FC236}">
                    <a16:creationId xmlns:a16="http://schemas.microsoft.com/office/drawing/2014/main" id="{CDA72DDB-FAF9-4C85-83D2-9C11CAFF93BB}"/>
                  </a:ext>
                </a:extLst>
              </p:cNvPr>
              <p:cNvCxnSpPr/>
              <p:nvPr/>
            </p:nvCxnSpPr>
            <p:spPr>
              <a:xfrm>
                <a:off x="1782" y="3504"/>
                <a:ext cx="480" cy="2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" name="Google Shape;595;p47">
                <a:extLst>
                  <a:ext uri="{FF2B5EF4-FFF2-40B4-BE49-F238E27FC236}">
                    <a16:creationId xmlns:a16="http://schemas.microsoft.com/office/drawing/2014/main" id="{B1689627-4346-4FDA-8977-8BDB24CD0171}"/>
                  </a:ext>
                </a:extLst>
              </p:cNvPr>
              <p:cNvSpPr txBox="1"/>
              <p:nvPr/>
            </p:nvSpPr>
            <p:spPr>
              <a:xfrm>
                <a:off x="768" y="3360"/>
                <a:ext cx="594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{Small, Medium}</a:t>
                </a:r>
                <a:endParaRPr/>
              </a:p>
            </p:txBody>
          </p:sp>
          <p:sp>
            <p:nvSpPr>
              <p:cNvPr id="16" name="Google Shape;596;p47">
                <a:extLst>
                  <a:ext uri="{FF2B5EF4-FFF2-40B4-BE49-F238E27FC236}">
                    <a16:creationId xmlns:a16="http://schemas.microsoft.com/office/drawing/2014/main" id="{93A9C44F-5258-48E3-A88D-6E2065119BA2}"/>
                  </a:ext>
                </a:extLst>
              </p:cNvPr>
              <p:cNvSpPr txBox="1"/>
              <p:nvPr/>
            </p:nvSpPr>
            <p:spPr>
              <a:xfrm>
                <a:off x="2059" y="3456"/>
                <a:ext cx="503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{Large}</a:t>
                </a:r>
                <a:endParaRPr dirty="0"/>
              </a:p>
            </p:txBody>
          </p:sp>
        </p:grpSp>
        <p:grpSp>
          <p:nvGrpSpPr>
            <p:cNvPr id="17" name="Google Shape;597;p47">
              <a:extLst>
                <a:ext uri="{FF2B5EF4-FFF2-40B4-BE49-F238E27FC236}">
                  <a16:creationId xmlns:a16="http://schemas.microsoft.com/office/drawing/2014/main" id="{69358151-AB8F-4C3B-8452-E81AB794B446}"/>
                </a:ext>
              </a:extLst>
            </p:cNvPr>
            <p:cNvGrpSpPr/>
            <p:nvPr/>
          </p:nvGrpSpPr>
          <p:grpSpPr>
            <a:xfrm>
              <a:off x="8412210" y="4959351"/>
              <a:ext cx="3101975" cy="914400"/>
              <a:chOff x="768" y="3216"/>
              <a:chExt cx="1856" cy="576"/>
            </a:xfrm>
          </p:grpSpPr>
          <p:sp>
            <p:nvSpPr>
              <p:cNvPr id="18" name="Google Shape;598;p47">
                <a:extLst>
                  <a:ext uri="{FF2B5EF4-FFF2-40B4-BE49-F238E27FC236}">
                    <a16:creationId xmlns:a16="http://schemas.microsoft.com/office/drawing/2014/main" id="{CBA47CA9-96B9-4378-9A92-65A9EAB0FB14}"/>
                  </a:ext>
                </a:extLst>
              </p:cNvPr>
              <p:cNvSpPr/>
              <p:nvPr/>
            </p:nvSpPr>
            <p:spPr>
              <a:xfrm>
                <a:off x="1494" y="3216"/>
                <a:ext cx="576" cy="28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Size</a:t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9" name="Google Shape;599;p47">
                <a:extLst>
                  <a:ext uri="{FF2B5EF4-FFF2-40B4-BE49-F238E27FC236}">
                    <a16:creationId xmlns:a16="http://schemas.microsoft.com/office/drawing/2014/main" id="{6DA0165E-623E-4C84-B1B5-FDF4941F1D54}"/>
                  </a:ext>
                </a:extLst>
              </p:cNvPr>
              <p:cNvCxnSpPr/>
              <p:nvPr/>
            </p:nvCxnSpPr>
            <p:spPr>
              <a:xfrm flipH="1">
                <a:off x="1254" y="3504"/>
                <a:ext cx="528" cy="2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600;p47">
                <a:extLst>
                  <a:ext uri="{FF2B5EF4-FFF2-40B4-BE49-F238E27FC236}">
                    <a16:creationId xmlns:a16="http://schemas.microsoft.com/office/drawing/2014/main" id="{9057E570-FEFF-4298-B499-2BAE8F2E1AFB}"/>
                  </a:ext>
                </a:extLst>
              </p:cNvPr>
              <p:cNvCxnSpPr/>
              <p:nvPr/>
            </p:nvCxnSpPr>
            <p:spPr>
              <a:xfrm>
                <a:off x="1782" y="3504"/>
                <a:ext cx="480" cy="2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" name="Google Shape;601;p47">
                <a:extLst>
                  <a:ext uri="{FF2B5EF4-FFF2-40B4-BE49-F238E27FC236}">
                    <a16:creationId xmlns:a16="http://schemas.microsoft.com/office/drawing/2014/main" id="{A83BF497-9BAD-4F1B-94CD-A13562CB6FC1}"/>
                  </a:ext>
                </a:extLst>
              </p:cNvPr>
              <p:cNvSpPr txBox="1"/>
              <p:nvPr/>
            </p:nvSpPr>
            <p:spPr>
              <a:xfrm>
                <a:off x="768" y="3360"/>
                <a:ext cx="594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{Small, Large}</a:t>
                </a:r>
                <a:endParaRPr/>
              </a:p>
            </p:txBody>
          </p:sp>
          <p:sp>
            <p:nvSpPr>
              <p:cNvPr id="22" name="Google Shape;602;p47">
                <a:extLst>
                  <a:ext uri="{FF2B5EF4-FFF2-40B4-BE49-F238E27FC236}">
                    <a16:creationId xmlns:a16="http://schemas.microsoft.com/office/drawing/2014/main" id="{5749973F-76A1-483D-8DBF-F123F772FD38}"/>
                  </a:ext>
                </a:extLst>
              </p:cNvPr>
              <p:cNvSpPr txBox="1"/>
              <p:nvPr/>
            </p:nvSpPr>
            <p:spPr>
              <a:xfrm>
                <a:off x="2000" y="3456"/>
                <a:ext cx="624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{Medium}</a:t>
                </a:r>
                <a:endParaRPr/>
              </a:p>
            </p:txBody>
          </p:sp>
        </p:grpSp>
      </p:grpSp>
      <p:grpSp>
        <p:nvGrpSpPr>
          <p:cNvPr id="24" name="Google Shape;577;p47">
            <a:extLst>
              <a:ext uri="{FF2B5EF4-FFF2-40B4-BE49-F238E27FC236}">
                <a16:creationId xmlns:a16="http://schemas.microsoft.com/office/drawing/2014/main" id="{2A0B9761-5844-4913-BD47-00DA8A6A39DE}"/>
              </a:ext>
            </a:extLst>
          </p:cNvPr>
          <p:cNvGrpSpPr/>
          <p:nvPr/>
        </p:nvGrpSpPr>
        <p:grpSpPr>
          <a:xfrm>
            <a:off x="4371410" y="4429344"/>
            <a:ext cx="2608263" cy="914400"/>
            <a:chOff x="1853" y="1248"/>
            <a:chExt cx="1643" cy="576"/>
          </a:xfrm>
        </p:grpSpPr>
        <p:sp>
          <p:nvSpPr>
            <p:cNvPr id="25" name="Google Shape;578;p47">
              <a:extLst>
                <a:ext uri="{FF2B5EF4-FFF2-40B4-BE49-F238E27FC236}">
                  <a16:creationId xmlns:a16="http://schemas.microsoft.com/office/drawing/2014/main" id="{B1CE04C7-88BA-4B3E-BA13-FDEA8CDA1240}"/>
                </a:ext>
              </a:extLst>
            </p:cNvPr>
            <p:cNvSpPr/>
            <p:nvPr/>
          </p:nvSpPr>
          <p:spPr>
            <a:xfrm>
              <a:off x="2352" y="1248"/>
              <a:ext cx="576" cy="28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Size</a:t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" name="Google Shape;579;p47">
              <a:extLst>
                <a:ext uri="{FF2B5EF4-FFF2-40B4-BE49-F238E27FC236}">
                  <a16:creationId xmlns:a16="http://schemas.microsoft.com/office/drawing/2014/main" id="{9B284D51-33A5-4B78-8463-C871C7D41595}"/>
                </a:ext>
              </a:extLst>
            </p:cNvPr>
            <p:cNvCxnSpPr/>
            <p:nvPr/>
          </p:nvCxnSpPr>
          <p:spPr>
            <a:xfrm flipH="1">
              <a:off x="2064" y="1536"/>
              <a:ext cx="576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580;p47">
              <a:extLst>
                <a:ext uri="{FF2B5EF4-FFF2-40B4-BE49-F238E27FC236}">
                  <a16:creationId xmlns:a16="http://schemas.microsoft.com/office/drawing/2014/main" id="{D2FAB797-1A0C-4EBF-A20F-4E232EA2B8B7}"/>
                </a:ext>
              </a:extLst>
            </p:cNvPr>
            <p:cNvCxnSpPr/>
            <p:nvPr/>
          </p:nvCxnSpPr>
          <p:spPr>
            <a:xfrm>
              <a:off x="2640" y="1536"/>
              <a:ext cx="0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581;p47">
              <a:extLst>
                <a:ext uri="{FF2B5EF4-FFF2-40B4-BE49-F238E27FC236}">
                  <a16:creationId xmlns:a16="http://schemas.microsoft.com/office/drawing/2014/main" id="{BB079D36-7B09-4290-9DC4-AA988EB6B4A4}"/>
                </a:ext>
              </a:extLst>
            </p:cNvPr>
            <p:cNvCxnSpPr/>
            <p:nvPr/>
          </p:nvCxnSpPr>
          <p:spPr>
            <a:xfrm>
              <a:off x="2640" y="1536"/>
              <a:ext cx="576" cy="1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582;p47">
              <a:extLst>
                <a:ext uri="{FF2B5EF4-FFF2-40B4-BE49-F238E27FC236}">
                  <a16:creationId xmlns:a16="http://schemas.microsoft.com/office/drawing/2014/main" id="{A38E7B2D-DD8F-456B-BA17-27AE974B4827}"/>
                </a:ext>
              </a:extLst>
            </p:cNvPr>
            <p:cNvSpPr txBox="1"/>
            <p:nvPr/>
          </p:nvSpPr>
          <p:spPr>
            <a:xfrm>
              <a:off x="1853" y="1440"/>
              <a:ext cx="435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Small</a:t>
              </a:r>
              <a:endParaRPr/>
            </a:p>
          </p:txBody>
        </p:sp>
        <p:sp>
          <p:nvSpPr>
            <p:cNvPr id="30" name="Google Shape;583;p47">
              <a:extLst>
                <a:ext uri="{FF2B5EF4-FFF2-40B4-BE49-F238E27FC236}">
                  <a16:creationId xmlns:a16="http://schemas.microsoft.com/office/drawing/2014/main" id="{1C05EF36-7FD0-49A0-A3E7-FFF159CE004B}"/>
                </a:ext>
              </a:extLst>
            </p:cNvPr>
            <p:cNvSpPr txBox="1"/>
            <p:nvPr/>
          </p:nvSpPr>
          <p:spPr>
            <a:xfrm>
              <a:off x="2343" y="1608"/>
              <a:ext cx="57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Medium</a:t>
              </a:r>
              <a:endParaRPr dirty="0"/>
            </a:p>
          </p:txBody>
        </p:sp>
        <p:sp>
          <p:nvSpPr>
            <p:cNvPr id="31" name="Google Shape;584;p47">
              <a:extLst>
                <a:ext uri="{FF2B5EF4-FFF2-40B4-BE49-F238E27FC236}">
                  <a16:creationId xmlns:a16="http://schemas.microsoft.com/office/drawing/2014/main" id="{71FE1E88-0B12-47A2-9117-76DECDA8D413}"/>
                </a:ext>
              </a:extLst>
            </p:cNvPr>
            <p:cNvSpPr txBox="1"/>
            <p:nvPr/>
          </p:nvSpPr>
          <p:spPr>
            <a:xfrm>
              <a:off x="3053" y="1440"/>
              <a:ext cx="44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Large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53643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Attribute Selection Metrics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3200" dirty="0"/>
              <a:t>Information Gain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3200" dirty="0"/>
              <a:t>Gain Ratio</a:t>
            </a:r>
            <a:endParaRPr lang="en-US" dirty="0"/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3200" dirty="0"/>
              <a:t>Gini Index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1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Information Gain (ID3)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All attributes are assumed to be categorical</a:t>
                </a:r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Select the attribute with the highest information gain</a:t>
                </a:r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endParaRPr lang="en-US" sz="3200" dirty="0"/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Entropy: A measure of uncertainty in the dataset,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sz="3200" dirty="0"/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p</a:t>
                </a:r>
                <a:r>
                  <a:rPr lang="en-US" sz="3200" baseline="-25000" dirty="0"/>
                  <a:t>i</a:t>
                </a:r>
                <a:r>
                  <a:rPr lang="en-US" sz="3200" dirty="0"/>
                  <a:t> = the number of occurrences of class </a:t>
                </a:r>
                <a:r>
                  <a:rPr lang="en-US" sz="3200" i="1" dirty="0" err="1"/>
                  <a:t>i</a:t>
                </a:r>
                <a:r>
                  <a:rPr lang="en-US" sz="3200" i="1" dirty="0"/>
                  <a:t> (1…k)</a:t>
                </a:r>
                <a:r>
                  <a:rPr lang="en-US" sz="3200" dirty="0"/>
                  <a:t> divided by the total number of instances (proportion of class </a:t>
                </a:r>
                <a:r>
                  <a:rPr lang="en-US" sz="3200" dirty="0" err="1"/>
                  <a:t>i</a:t>
                </a:r>
                <a:r>
                  <a:rPr lang="en-US" sz="3200" dirty="0"/>
                  <a:t>)</a:t>
                </a:r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k = Number of class</a:t>
                </a:r>
              </a:p>
              <a:p>
                <a:pPr indent="-4572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en-US" sz="3200" dirty="0"/>
                  <a:t>D = Dataset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blipFill>
                <a:blip r:embed="rId3"/>
                <a:stretch>
                  <a:fillRect l="-1033" b="-17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Information Gain (ID3)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spcBef>
                    <a:spcPts val="0"/>
                  </a:spcBef>
                  <a:buSzPts val="2800"/>
                </a:pPr>
                <a:r>
                  <a:rPr lang="en-US" sz="3200" dirty="0"/>
                  <a:t>When an attribute splits the dataset into subsets, </a:t>
                </a:r>
                <a:r>
                  <a:rPr lang="en-US" sz="3200" dirty="0">
                    <a:highlight>
                      <a:srgbClr val="FFFF00"/>
                    </a:highlight>
                  </a:rPr>
                  <a:t>Weighted Entropy</a:t>
                </a:r>
                <a:r>
                  <a:rPr lang="en-US" sz="3200" dirty="0"/>
                  <a:t> is the average entropy of those subsets, weighted by the proportion of samples in each subset.</a:t>
                </a:r>
              </a:p>
              <a:p>
                <a:pPr indent="-279400"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𝑊𝑒𝑖𝑔h𝑡𝑒𝑑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  <a:p>
                <a:pPr indent="-279400">
                  <a:spcBef>
                    <a:spcPts val="0"/>
                  </a:spcBef>
                  <a:buSzPts val="2800"/>
                  <a:buNone/>
                </a:pPr>
                <a:endParaRPr lang="en-US" sz="3200" dirty="0"/>
              </a:p>
              <a:p>
                <a:pPr indent="-457200">
                  <a:spcBef>
                    <a:spcPts val="0"/>
                  </a:spcBef>
                  <a:buSzPts val="2800"/>
                </a:pPr>
                <a:r>
                  <a:rPr lang="en-US" sz="3200" dirty="0"/>
                  <a:t>Information gained by branching on attribute A</a:t>
                </a:r>
              </a:p>
              <a:p>
                <a:pPr indent="-457200">
                  <a:spcBef>
                    <a:spcPts val="0"/>
                  </a:spcBef>
                  <a:buSzPts val="2800"/>
                </a:pPr>
                <a:endParaRPr lang="en-US" sz="3200" dirty="0"/>
              </a:p>
              <a:p>
                <a:pPr marL="0" indent="0">
                  <a:spcBef>
                    <a:spcPts val="0"/>
                  </a:spcBef>
                  <a:buSzPts val="2800"/>
                  <a:buNone/>
                </a:pPr>
                <a:r>
                  <a:rPr lang="en-US" sz="3200" dirty="0"/>
                  <a:t>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𝑊𝑒𝑖𝑔h𝑡𝑒𝑑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16828" cy="5486399"/>
              </a:xfrm>
              <a:prstGeom prst="rect">
                <a:avLst/>
              </a:prstGeom>
              <a:blipFill>
                <a:blip r:embed="rId3"/>
                <a:stretch>
                  <a:fillRect l="-1033" t="-2447" r="-13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8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Example Dataset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Google Shape;629;p51">
            <a:extLst>
              <a:ext uri="{FF2B5EF4-FFF2-40B4-BE49-F238E27FC236}">
                <a16:creationId xmlns:a16="http://schemas.microsoft.com/office/drawing/2014/main" id="{CB5A77FD-A59C-44D9-A53A-1C9590E3C1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9529851"/>
              </p:ext>
            </p:extLst>
          </p:nvPr>
        </p:nvGraphicFramePr>
        <p:xfrm>
          <a:off x="1465421" y="1034705"/>
          <a:ext cx="9261158" cy="5435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r:id="rId4" imgW="8382000" imgH="4919662" progId="Excel.Sheet.8">
                  <p:embed/>
                </p:oleObj>
              </mc:Choice>
              <mc:Fallback>
                <p:oleObj r:id="rId4" imgW="8382000" imgH="4919662" progId="Excel.Sheet.8">
                  <p:embed/>
                  <p:pic>
                    <p:nvPicPr>
                      <p:cNvPr id="629" name="Google Shape;629;p51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1465421" y="1034705"/>
                        <a:ext cx="9261158" cy="5435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669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8FD839-A60F-4055-BAAE-D598F8FACA03}"/>
                  </a:ext>
                </a:extLst>
              </p:cNvPr>
              <p:cNvSpPr txBox="1"/>
              <p:nvPr/>
            </p:nvSpPr>
            <p:spPr>
              <a:xfrm>
                <a:off x="477078" y="1325700"/>
                <a:ext cx="11057197" cy="39380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9, 5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=0.940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𝑊𝑒𝑖𝑔h𝑡𝑒𝑑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2, 3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4, 0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3, 2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=0.694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𝑊𝐸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=0.246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𝑖𝑛𝑐𝑜𝑚𝑒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=0.029</m:t>
                      </m:r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0.151</m:t>
                      </m:r>
                    </m:oMath>
                  </m:oMathPara>
                </a14:m>
                <a:endParaRPr lang="en-US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𝑐𝑟𝑒𝑑𝑖𝑡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𝑟𝑎𝑡𝑖𝑛𝑔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0.048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8FD839-A60F-4055-BAAE-D598F8FAC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8" y="1325700"/>
                <a:ext cx="11057197" cy="3938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4FADAB1-736F-4CCC-A578-B8D81D6C91A2}"/>
              </a:ext>
            </a:extLst>
          </p:cNvPr>
          <p:cNvSpPr/>
          <p:nvPr/>
        </p:nvSpPr>
        <p:spPr>
          <a:xfrm>
            <a:off x="838200" y="5532300"/>
            <a:ext cx="105155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attribute with the maximum gain is selected as the splitting category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49242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Example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B3AA37-5BF4-4395-AF77-E6D62452178C}"/>
              </a:ext>
            </a:extLst>
          </p:cNvPr>
          <p:cNvGrpSpPr/>
          <p:nvPr/>
        </p:nvGrpSpPr>
        <p:grpSpPr>
          <a:xfrm>
            <a:off x="1082285" y="1113183"/>
            <a:ext cx="9640132" cy="5337313"/>
            <a:chOff x="1792754" y="1506538"/>
            <a:chExt cx="8427011" cy="4665662"/>
          </a:xfrm>
        </p:grpSpPr>
        <p:grpSp>
          <p:nvGrpSpPr>
            <p:cNvPr id="13" name="Google Shape;646;p53">
              <a:extLst>
                <a:ext uri="{FF2B5EF4-FFF2-40B4-BE49-F238E27FC236}">
                  <a16:creationId xmlns:a16="http://schemas.microsoft.com/office/drawing/2014/main" id="{D827EE2C-245B-4128-B354-C6C7B9D7FD68}"/>
                </a:ext>
              </a:extLst>
            </p:cNvPr>
            <p:cNvGrpSpPr/>
            <p:nvPr/>
          </p:nvGrpSpPr>
          <p:grpSpPr>
            <a:xfrm>
              <a:off x="1792754" y="1506538"/>
              <a:ext cx="8427011" cy="4665662"/>
              <a:chOff x="0" y="2209800"/>
              <a:chExt cx="8958943" cy="4519613"/>
            </a:xfrm>
          </p:grpSpPr>
          <p:graphicFrame>
            <p:nvGraphicFramePr>
              <p:cNvPr id="14" name="Google Shape;647;p53">
                <a:extLst>
                  <a:ext uri="{FF2B5EF4-FFF2-40B4-BE49-F238E27FC236}">
                    <a16:creationId xmlns:a16="http://schemas.microsoft.com/office/drawing/2014/main" id="{DE813804-DB6A-4AAE-8929-D0D7BD9AB4F3}"/>
                  </a:ext>
                </a:extLst>
              </p:cNvPr>
              <p:cNvGraphicFramePr/>
              <p:nvPr/>
            </p:nvGraphicFramePr>
            <p:xfrm>
              <a:off x="0" y="3613944"/>
              <a:ext cx="3727450" cy="1675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47" r:id="rId4" imgW="3727450" imgH="1675606" progId="Excel.Sheet.8">
                      <p:embed/>
                    </p:oleObj>
                  </mc:Choice>
                  <mc:Fallback>
                    <p:oleObj r:id="rId4" imgW="3727450" imgH="1675606" progId="Excel.Sheet.8">
                      <p:embed/>
                      <p:pic>
                        <p:nvPicPr>
                          <p:cNvPr id="647" name="Google Shape;647;p53"/>
                          <p:cNvPicPr preferRelativeResize="0"/>
                          <p:nvPr/>
                        </p:nvPicPr>
                        <p:blipFill rotWithShape="1">
                          <a:blip r:embed="rId5">
                            <a:alphaModFix/>
                          </a:blip>
                          <a:srcRect/>
                          <a:stretch/>
                        </p:blipFill>
                        <p:spPr>
                          <a:xfrm>
                            <a:off x="0" y="3613944"/>
                            <a:ext cx="3727450" cy="1675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Google Shape;648;p53">
                <a:extLst>
                  <a:ext uri="{FF2B5EF4-FFF2-40B4-BE49-F238E27FC236}">
                    <a16:creationId xmlns:a16="http://schemas.microsoft.com/office/drawing/2014/main" id="{BE83EBD1-093B-4609-9C2F-17136A2C3292}"/>
                  </a:ext>
                </a:extLst>
              </p:cNvPr>
              <p:cNvGraphicFramePr/>
              <p:nvPr/>
            </p:nvGraphicFramePr>
            <p:xfrm>
              <a:off x="5460093" y="3682660"/>
              <a:ext cx="3498850" cy="1575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48" r:id="rId6" imgW="3498850" imgH="1575139" progId="Excel.Sheet.8">
                      <p:embed/>
                    </p:oleObj>
                  </mc:Choice>
                  <mc:Fallback>
                    <p:oleObj r:id="rId6" imgW="3498850" imgH="1575139" progId="Excel.Sheet.8">
                      <p:embed/>
                      <p:pic>
                        <p:nvPicPr>
                          <p:cNvPr id="648" name="Google Shape;648;p53"/>
                          <p:cNvPicPr preferRelativeResize="0"/>
                          <p:nvPr/>
                        </p:nvPicPr>
                        <p:blipFill rotWithShape="1">
                          <a:blip r:embed="rId7">
                            <a:alphaModFix/>
                          </a:blip>
                          <a:srcRect/>
                          <a:stretch/>
                        </p:blipFill>
                        <p:spPr>
                          <a:xfrm>
                            <a:off x="5460093" y="3682660"/>
                            <a:ext cx="3498850" cy="1575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Google Shape;649;p53">
                <a:extLst>
                  <a:ext uri="{FF2B5EF4-FFF2-40B4-BE49-F238E27FC236}">
                    <a16:creationId xmlns:a16="http://schemas.microsoft.com/office/drawing/2014/main" id="{BFF73587-A71A-4817-BF86-FAC1E2B6B841}"/>
                  </a:ext>
                </a:extLst>
              </p:cNvPr>
              <p:cNvGraphicFramePr/>
              <p:nvPr/>
            </p:nvGraphicFramePr>
            <p:xfrm>
              <a:off x="2667000" y="5410200"/>
              <a:ext cx="3487738" cy="1319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49" r:id="rId8" imgW="3487738" imgH="1319213" progId="Excel.Sheet.8">
                      <p:embed/>
                    </p:oleObj>
                  </mc:Choice>
                  <mc:Fallback>
                    <p:oleObj r:id="rId8" imgW="3487738" imgH="1319213" progId="Excel.Sheet.8">
                      <p:embed/>
                      <p:pic>
                        <p:nvPicPr>
                          <p:cNvPr id="649" name="Google Shape;649;p53"/>
                          <p:cNvPicPr preferRelativeResize="0"/>
                          <p:nvPr/>
                        </p:nvPicPr>
                        <p:blipFill rotWithShape="1">
                          <a:blip r:embed="rId9">
                            <a:alphaModFix/>
                          </a:blip>
                          <a:srcRect/>
                          <a:stretch/>
                        </p:blipFill>
                        <p:spPr>
                          <a:xfrm>
                            <a:off x="2667000" y="5410200"/>
                            <a:ext cx="3487738" cy="1319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Google Shape;650;p53">
                <a:extLst>
                  <a:ext uri="{FF2B5EF4-FFF2-40B4-BE49-F238E27FC236}">
                    <a16:creationId xmlns:a16="http://schemas.microsoft.com/office/drawing/2014/main" id="{C8DEE88F-D530-48A4-9662-570889C541F7}"/>
                  </a:ext>
                </a:extLst>
              </p:cNvPr>
              <p:cNvSpPr txBox="1"/>
              <p:nvPr/>
            </p:nvSpPr>
            <p:spPr>
              <a:xfrm>
                <a:off x="3886495" y="2209800"/>
                <a:ext cx="685852" cy="370043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Age?</a:t>
                </a:r>
                <a:endParaRPr/>
              </a:p>
            </p:txBody>
          </p:sp>
          <p:cxnSp>
            <p:nvCxnSpPr>
              <p:cNvPr id="18" name="Google Shape;651;p53">
                <a:extLst>
                  <a:ext uri="{FF2B5EF4-FFF2-40B4-BE49-F238E27FC236}">
                    <a16:creationId xmlns:a16="http://schemas.microsoft.com/office/drawing/2014/main" id="{ABA868C1-1522-42F0-8834-F5F506B29838}"/>
                  </a:ext>
                </a:extLst>
              </p:cNvPr>
              <p:cNvCxnSpPr/>
              <p:nvPr/>
            </p:nvCxnSpPr>
            <p:spPr>
              <a:xfrm rot="10800000" flipH="1">
                <a:off x="2629100" y="2590568"/>
                <a:ext cx="1333601" cy="102297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652;p53">
                <a:extLst>
                  <a:ext uri="{FF2B5EF4-FFF2-40B4-BE49-F238E27FC236}">
                    <a16:creationId xmlns:a16="http://schemas.microsoft.com/office/drawing/2014/main" id="{13F01CDF-9793-4B28-BDAC-EEE2C97682EF}"/>
                  </a:ext>
                </a:extLst>
              </p:cNvPr>
              <p:cNvCxnSpPr/>
              <p:nvPr/>
            </p:nvCxnSpPr>
            <p:spPr>
              <a:xfrm rot="-5400000">
                <a:off x="2743327" y="4038313"/>
                <a:ext cx="2895985" cy="31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653;p53">
                <a:extLst>
                  <a:ext uri="{FF2B5EF4-FFF2-40B4-BE49-F238E27FC236}">
                    <a16:creationId xmlns:a16="http://schemas.microsoft.com/office/drawing/2014/main" id="{E677A5E6-5678-4C97-9F15-0F3735F445D4}"/>
                  </a:ext>
                </a:extLst>
              </p:cNvPr>
              <p:cNvCxnSpPr/>
              <p:nvPr/>
            </p:nvCxnSpPr>
            <p:spPr>
              <a:xfrm rot="10800000">
                <a:off x="4419935" y="2590568"/>
                <a:ext cx="2362379" cy="102297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1" name="Google Shape;654;p53">
                <a:extLst>
                  <a:ext uri="{FF2B5EF4-FFF2-40B4-BE49-F238E27FC236}">
                    <a16:creationId xmlns:a16="http://schemas.microsoft.com/office/drawing/2014/main" id="{561D3241-3183-4FBA-8AEB-EB48ADC1FCF1}"/>
                  </a:ext>
                </a:extLst>
              </p:cNvPr>
              <p:cNvSpPr txBox="1"/>
              <p:nvPr/>
            </p:nvSpPr>
            <p:spPr>
              <a:xfrm>
                <a:off x="2209800" y="2819400"/>
                <a:ext cx="838200" cy="369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&lt;=30</a:t>
                </a:r>
                <a:endParaRPr dirty="0"/>
              </a:p>
            </p:txBody>
          </p:sp>
          <p:sp>
            <p:nvSpPr>
              <p:cNvPr id="22" name="Google Shape;655;p53">
                <a:extLst>
                  <a:ext uri="{FF2B5EF4-FFF2-40B4-BE49-F238E27FC236}">
                    <a16:creationId xmlns:a16="http://schemas.microsoft.com/office/drawing/2014/main" id="{953B4069-A76B-4215-AFAF-B486A7ACDA16}"/>
                  </a:ext>
                </a:extLst>
              </p:cNvPr>
              <p:cNvSpPr txBox="1"/>
              <p:nvPr/>
            </p:nvSpPr>
            <p:spPr>
              <a:xfrm>
                <a:off x="5334000" y="2667000"/>
                <a:ext cx="838200" cy="369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&gt;40</a:t>
                </a:r>
                <a:endParaRPr/>
              </a:p>
            </p:txBody>
          </p:sp>
        </p:grpSp>
        <p:sp>
          <p:nvSpPr>
            <p:cNvPr id="26" name="Google Shape;654;p53">
              <a:extLst>
                <a:ext uri="{FF2B5EF4-FFF2-40B4-BE49-F238E27FC236}">
                  <a16:creationId xmlns:a16="http://schemas.microsoft.com/office/drawing/2014/main" id="{C410893D-2B2F-4B7E-B62E-7405EFC57C8D}"/>
                </a:ext>
              </a:extLst>
            </p:cNvPr>
            <p:cNvSpPr txBox="1"/>
            <p:nvPr/>
          </p:nvSpPr>
          <p:spPr>
            <a:xfrm>
              <a:off x="5376840" y="3528718"/>
              <a:ext cx="788432" cy="3818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rPr lang="en-US" sz="1800" dirty="0">
                  <a:solidFill>
                    <a:schemeClr val="dk1"/>
                  </a:solidFill>
                  <a:latin typeface="Constantia"/>
                  <a:sym typeface="Constantia"/>
                </a:rPr>
                <a:t>31…40</a:t>
              </a:r>
              <a:endParaRPr sz="1800" dirty="0">
                <a:solidFill>
                  <a:schemeClr val="dk1"/>
                </a:solidFill>
                <a:latin typeface="Constanti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915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Example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pSp>
        <p:nvGrpSpPr>
          <p:cNvPr id="23" name="Google Shape;661;p54">
            <a:extLst>
              <a:ext uri="{FF2B5EF4-FFF2-40B4-BE49-F238E27FC236}">
                <a16:creationId xmlns:a16="http://schemas.microsoft.com/office/drawing/2014/main" id="{BA97769C-36DA-4757-BAD6-CA57004DC762}"/>
              </a:ext>
            </a:extLst>
          </p:cNvPr>
          <p:cNvGrpSpPr/>
          <p:nvPr/>
        </p:nvGrpSpPr>
        <p:grpSpPr>
          <a:xfrm>
            <a:off x="1877677" y="1325700"/>
            <a:ext cx="8520764" cy="4718251"/>
            <a:chOff x="621" y="1152"/>
            <a:chExt cx="4457" cy="2468"/>
          </a:xfrm>
        </p:grpSpPr>
        <p:sp>
          <p:nvSpPr>
            <p:cNvPr id="24" name="Google Shape;662;p54">
              <a:extLst>
                <a:ext uri="{FF2B5EF4-FFF2-40B4-BE49-F238E27FC236}">
                  <a16:creationId xmlns:a16="http://schemas.microsoft.com/office/drawing/2014/main" id="{B2320A0B-AAAE-481F-9389-2184575ACD39}"/>
                </a:ext>
              </a:extLst>
            </p:cNvPr>
            <p:cNvSpPr/>
            <p:nvPr/>
          </p:nvSpPr>
          <p:spPr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age?</a:t>
              </a:r>
              <a:endParaRPr dirty="0"/>
            </a:p>
          </p:txBody>
        </p:sp>
        <p:sp>
          <p:nvSpPr>
            <p:cNvPr id="27" name="Google Shape;664;p54">
              <a:extLst>
                <a:ext uri="{FF2B5EF4-FFF2-40B4-BE49-F238E27FC236}">
                  <a16:creationId xmlns:a16="http://schemas.microsoft.com/office/drawing/2014/main" id="{E0F75BEB-CD1A-47CC-9C49-DD655EA8A004}"/>
                </a:ext>
              </a:extLst>
            </p:cNvPr>
            <p:cNvSpPr/>
            <p:nvPr/>
          </p:nvSpPr>
          <p:spPr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student?</a:t>
              </a:r>
              <a:endParaRPr dirty="0"/>
            </a:p>
          </p:txBody>
        </p:sp>
        <p:sp>
          <p:nvSpPr>
            <p:cNvPr id="28" name="Google Shape;665;p54">
              <a:extLst>
                <a:ext uri="{FF2B5EF4-FFF2-40B4-BE49-F238E27FC236}">
                  <a16:creationId xmlns:a16="http://schemas.microsoft.com/office/drawing/2014/main" id="{373B96AA-471F-43E7-A68D-278D666C6B9B}"/>
                </a:ext>
              </a:extLst>
            </p:cNvPr>
            <p:cNvSpPr/>
            <p:nvPr/>
          </p:nvSpPr>
          <p:spPr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credit rating?</a:t>
              </a:r>
              <a:endParaRPr/>
            </a:p>
          </p:txBody>
        </p:sp>
        <p:cxnSp>
          <p:nvCxnSpPr>
            <p:cNvPr id="29" name="Google Shape;666;p54">
              <a:extLst>
                <a:ext uri="{FF2B5EF4-FFF2-40B4-BE49-F238E27FC236}">
                  <a16:creationId xmlns:a16="http://schemas.microsoft.com/office/drawing/2014/main" id="{D8A82B34-CE77-4B2F-B4FA-ED594926E8CF}"/>
                </a:ext>
              </a:extLst>
            </p:cNvPr>
            <p:cNvCxnSpPr>
              <a:cxnSpLocks/>
              <a:stCxn id="24" idx="1"/>
              <a:endCxn id="27" idx="0"/>
            </p:cNvCxnSpPr>
            <p:nvPr/>
          </p:nvCxnSpPr>
          <p:spPr>
            <a:xfrm flipH="1">
              <a:off x="1611" y="1300"/>
              <a:ext cx="776" cy="1042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667;p54">
              <a:extLst>
                <a:ext uri="{FF2B5EF4-FFF2-40B4-BE49-F238E27FC236}">
                  <a16:creationId xmlns:a16="http://schemas.microsoft.com/office/drawing/2014/main" id="{6BFA18A6-7E51-4FCA-A641-887BC148F393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>
              <a:off x="2625" y="1448"/>
              <a:ext cx="16" cy="894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668;p54">
              <a:extLst>
                <a:ext uri="{FF2B5EF4-FFF2-40B4-BE49-F238E27FC236}">
                  <a16:creationId xmlns:a16="http://schemas.microsoft.com/office/drawing/2014/main" id="{3E95417A-1A58-49FC-AA21-AEDAD9357759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2862" y="1300"/>
              <a:ext cx="1117" cy="1035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" name="Google Shape;669;p54">
              <a:extLst>
                <a:ext uri="{FF2B5EF4-FFF2-40B4-BE49-F238E27FC236}">
                  <a16:creationId xmlns:a16="http://schemas.microsoft.com/office/drawing/2014/main" id="{3AEC0213-29FB-462C-8F6F-108839AE1F2E}"/>
                </a:ext>
              </a:extLst>
            </p:cNvPr>
            <p:cNvSpPr/>
            <p:nvPr/>
          </p:nvSpPr>
          <p:spPr>
            <a:xfrm>
              <a:off x="1548" y="1949"/>
              <a:ext cx="534" cy="242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&lt;=30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670;p54">
              <a:extLst>
                <a:ext uri="{FF2B5EF4-FFF2-40B4-BE49-F238E27FC236}">
                  <a16:creationId xmlns:a16="http://schemas.microsoft.com/office/drawing/2014/main" id="{96E96D15-B9CF-4CB6-ABC1-6E3E1C178F90}"/>
                </a:ext>
              </a:extLst>
            </p:cNvPr>
            <p:cNvSpPr/>
            <p:nvPr/>
          </p:nvSpPr>
          <p:spPr>
            <a:xfrm>
              <a:off x="3523" y="1906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&gt;40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" name="Google Shape;671;p54">
              <a:extLst>
                <a:ext uri="{FF2B5EF4-FFF2-40B4-BE49-F238E27FC236}">
                  <a16:creationId xmlns:a16="http://schemas.microsoft.com/office/drawing/2014/main" id="{8359792F-EB82-4754-958D-B48DBB1B4E87}"/>
                </a:ext>
              </a:extLst>
            </p:cNvPr>
            <p:cNvCxnSpPr/>
            <p:nvPr/>
          </p:nvCxnSpPr>
          <p:spPr>
            <a:xfrm flipH="1">
              <a:off x="960" y="2640"/>
              <a:ext cx="528" cy="624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672;p54">
              <a:extLst>
                <a:ext uri="{FF2B5EF4-FFF2-40B4-BE49-F238E27FC236}">
                  <a16:creationId xmlns:a16="http://schemas.microsoft.com/office/drawing/2014/main" id="{69DBF795-CA28-4F4A-AEA8-27186AE46AA9}"/>
                </a:ext>
              </a:extLst>
            </p:cNvPr>
            <p:cNvCxnSpPr/>
            <p:nvPr/>
          </p:nvCxnSpPr>
          <p:spPr>
            <a:xfrm>
              <a:off x="1728" y="2640"/>
              <a:ext cx="480" cy="624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673;p54">
              <a:extLst>
                <a:ext uri="{FF2B5EF4-FFF2-40B4-BE49-F238E27FC236}">
                  <a16:creationId xmlns:a16="http://schemas.microsoft.com/office/drawing/2014/main" id="{E3067274-C304-4108-9841-002B15517329}"/>
                </a:ext>
              </a:extLst>
            </p:cNvPr>
            <p:cNvCxnSpPr>
              <a:cxnSpLocks/>
              <a:endCxn id="44" idx="0"/>
            </p:cNvCxnSpPr>
            <p:nvPr/>
          </p:nvCxnSpPr>
          <p:spPr>
            <a:xfrm flipH="1">
              <a:off x="3302" y="2640"/>
              <a:ext cx="538" cy="64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674;p54">
              <a:extLst>
                <a:ext uri="{FF2B5EF4-FFF2-40B4-BE49-F238E27FC236}">
                  <a16:creationId xmlns:a16="http://schemas.microsoft.com/office/drawing/2014/main" id="{FCB90ADC-FAEE-49A4-9ED5-573DA643DF01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128" y="2640"/>
              <a:ext cx="606" cy="64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9" name="Google Shape;676;p54">
              <a:extLst>
                <a:ext uri="{FF2B5EF4-FFF2-40B4-BE49-F238E27FC236}">
                  <a16:creationId xmlns:a16="http://schemas.microsoft.com/office/drawing/2014/main" id="{7E095E0D-7C23-4B84-B8FE-48F70A48C20D}"/>
                </a:ext>
              </a:extLst>
            </p:cNvPr>
            <p:cNvSpPr/>
            <p:nvPr/>
          </p:nvSpPr>
          <p:spPr>
            <a:xfrm>
              <a:off x="621" y="3264"/>
              <a:ext cx="570" cy="340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 dirty="0"/>
            </a:p>
          </p:txBody>
        </p:sp>
        <p:sp>
          <p:nvSpPr>
            <p:cNvPr id="40" name="Google Shape;677;p54">
              <a:extLst>
                <a:ext uri="{FF2B5EF4-FFF2-40B4-BE49-F238E27FC236}">
                  <a16:creationId xmlns:a16="http://schemas.microsoft.com/office/drawing/2014/main" id="{5678FE8E-4BBE-4D10-95AC-67791C3E8310}"/>
                </a:ext>
              </a:extLst>
            </p:cNvPr>
            <p:cNvSpPr/>
            <p:nvPr/>
          </p:nvSpPr>
          <p:spPr>
            <a:xfrm>
              <a:off x="1900" y="3270"/>
              <a:ext cx="689" cy="34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 dirty="0"/>
            </a:p>
          </p:txBody>
        </p:sp>
        <p:sp>
          <p:nvSpPr>
            <p:cNvPr id="41" name="Google Shape;678;p54">
              <a:extLst>
                <a:ext uri="{FF2B5EF4-FFF2-40B4-BE49-F238E27FC236}">
                  <a16:creationId xmlns:a16="http://schemas.microsoft.com/office/drawing/2014/main" id="{01F639AF-FBA5-4E12-8F9D-1E0EEAC73343}"/>
                </a:ext>
              </a:extLst>
            </p:cNvPr>
            <p:cNvSpPr/>
            <p:nvPr/>
          </p:nvSpPr>
          <p:spPr>
            <a:xfrm>
              <a:off x="4389" y="3280"/>
              <a:ext cx="689" cy="34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 dirty="0"/>
            </a:p>
          </p:txBody>
        </p:sp>
        <p:sp>
          <p:nvSpPr>
            <p:cNvPr id="42" name="Google Shape;679;p54">
              <a:extLst>
                <a:ext uri="{FF2B5EF4-FFF2-40B4-BE49-F238E27FC236}">
                  <a16:creationId xmlns:a16="http://schemas.microsoft.com/office/drawing/2014/main" id="{B8A2447E-7456-41A9-85AC-0D91E25ED231}"/>
                </a:ext>
              </a:extLst>
            </p:cNvPr>
            <p:cNvSpPr/>
            <p:nvPr/>
          </p:nvSpPr>
          <p:spPr>
            <a:xfrm>
              <a:off x="2302" y="2339"/>
              <a:ext cx="689" cy="34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 dirty="0"/>
            </a:p>
          </p:txBody>
        </p:sp>
        <p:sp>
          <p:nvSpPr>
            <p:cNvPr id="43" name="Google Shape;680;p54">
              <a:extLst>
                <a:ext uri="{FF2B5EF4-FFF2-40B4-BE49-F238E27FC236}">
                  <a16:creationId xmlns:a16="http://schemas.microsoft.com/office/drawing/2014/main" id="{F1E9D052-675A-4D4D-951E-E692CF683F23}"/>
                </a:ext>
              </a:extLst>
            </p:cNvPr>
            <p:cNvSpPr/>
            <p:nvPr/>
          </p:nvSpPr>
          <p:spPr>
            <a:xfrm>
              <a:off x="2305" y="1949"/>
              <a:ext cx="672" cy="26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Noto Sans Symbols"/>
                <a:buNone/>
              </a:pPr>
              <a:r>
                <a:rPr lang="en-US" sz="20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31...40</a:t>
              </a:r>
              <a:endParaRPr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" name="Google Shape;681;p54">
              <a:extLst>
                <a:ext uri="{FF2B5EF4-FFF2-40B4-BE49-F238E27FC236}">
                  <a16:creationId xmlns:a16="http://schemas.microsoft.com/office/drawing/2014/main" id="{10FE7D10-3CBC-44BE-8704-06B2FF732176}"/>
                </a:ext>
              </a:extLst>
            </p:cNvPr>
            <p:cNvSpPr/>
            <p:nvPr/>
          </p:nvSpPr>
          <p:spPr>
            <a:xfrm rot="21456844">
              <a:off x="2917" y="3280"/>
              <a:ext cx="785" cy="340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 dirty="0"/>
            </a:p>
          </p:txBody>
        </p:sp>
        <p:sp>
          <p:nvSpPr>
            <p:cNvPr id="45" name="Google Shape;682;p54">
              <a:extLst>
                <a:ext uri="{FF2B5EF4-FFF2-40B4-BE49-F238E27FC236}">
                  <a16:creationId xmlns:a16="http://schemas.microsoft.com/office/drawing/2014/main" id="{707E24FE-697D-42B9-9AF7-EFF527630B25}"/>
                </a:ext>
              </a:extLst>
            </p:cNvPr>
            <p:cNvSpPr/>
            <p:nvPr/>
          </p:nvSpPr>
          <p:spPr>
            <a:xfrm>
              <a:off x="3349" y="2829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fair</a:t>
              </a:r>
              <a:endParaRPr/>
            </a:p>
          </p:txBody>
        </p:sp>
        <p:sp>
          <p:nvSpPr>
            <p:cNvPr id="46" name="Google Shape;683;p54">
              <a:extLst>
                <a:ext uri="{FF2B5EF4-FFF2-40B4-BE49-F238E27FC236}">
                  <a16:creationId xmlns:a16="http://schemas.microsoft.com/office/drawing/2014/main" id="{21D99307-4FD4-4DE7-AF0F-0EA22D4B7043}"/>
                </a:ext>
              </a:extLst>
            </p:cNvPr>
            <p:cNvSpPr/>
            <p:nvPr/>
          </p:nvSpPr>
          <p:spPr>
            <a:xfrm>
              <a:off x="4080" y="2832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excellent</a:t>
              </a:r>
              <a:endParaRPr dirty="0"/>
            </a:p>
          </p:txBody>
        </p:sp>
        <p:sp>
          <p:nvSpPr>
            <p:cNvPr id="47" name="Google Shape;684;p54">
              <a:extLst>
                <a:ext uri="{FF2B5EF4-FFF2-40B4-BE49-F238E27FC236}">
                  <a16:creationId xmlns:a16="http://schemas.microsoft.com/office/drawing/2014/main" id="{0F4C54E9-8290-4D59-92AA-4D1FD5CF5501}"/>
                </a:ext>
              </a:extLst>
            </p:cNvPr>
            <p:cNvSpPr/>
            <p:nvPr/>
          </p:nvSpPr>
          <p:spPr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48" name="Google Shape;685;p54">
              <a:extLst>
                <a:ext uri="{FF2B5EF4-FFF2-40B4-BE49-F238E27FC236}">
                  <a16:creationId xmlns:a16="http://schemas.microsoft.com/office/drawing/2014/main" id="{B9678C73-2ED8-43AC-8644-4932F9F82DD9}"/>
                </a:ext>
              </a:extLst>
            </p:cNvPr>
            <p:cNvSpPr/>
            <p:nvPr/>
          </p:nvSpPr>
          <p:spPr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0649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Problems with Information Gain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16828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lnSpc>
                <a:spcPct val="110000"/>
              </a:lnSpc>
              <a:spcBef>
                <a:spcPts val="0"/>
              </a:spcBef>
              <a:buSzPts val="2800"/>
            </a:pPr>
            <a:r>
              <a:rPr lang="en-US" sz="3200" dirty="0"/>
              <a:t>Information gain measure is biased towards attributes with a large number of values</a:t>
            </a:r>
          </a:p>
          <a:p>
            <a:pPr lvl="0" indent="-279400">
              <a:lnSpc>
                <a:spcPct val="110000"/>
              </a:lnSpc>
              <a:spcBef>
                <a:spcPts val="0"/>
              </a:spcBef>
              <a:buSzPts val="2800"/>
              <a:buNone/>
            </a:pPr>
            <a:endParaRPr lang="en-US" sz="3200" dirty="0"/>
          </a:p>
          <a:p>
            <a:pPr lvl="0" indent="-457200">
              <a:lnSpc>
                <a:spcPct val="110000"/>
              </a:lnSpc>
              <a:spcBef>
                <a:spcPts val="0"/>
              </a:spcBef>
              <a:buSzPts val="2800"/>
            </a:pPr>
            <a:r>
              <a:rPr lang="en-US" sz="3200" dirty="0"/>
              <a:t>C4.5 (a successor of ID3) uses gain ratio to overcome the problem (normalization to information gain)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15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Gain Ratio (C4.5)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5" name="Google Shape;697;p56">
            <a:extLst>
              <a:ext uri="{FF2B5EF4-FFF2-40B4-BE49-F238E27FC236}">
                <a16:creationId xmlns:a16="http://schemas.microsoft.com/office/drawing/2014/main" id="{A3A994C9-BCE5-4D8A-91DB-65DACC8377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7038" y="1690688"/>
            <a:ext cx="55626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98;p56">
            <a:extLst>
              <a:ext uri="{FF2B5EF4-FFF2-40B4-BE49-F238E27FC236}">
                <a16:creationId xmlns:a16="http://schemas.microsoft.com/office/drawing/2014/main" id="{FF7F9D74-4D58-4166-AF39-85C845B00B35}"/>
              </a:ext>
            </a:extLst>
          </p:cNvPr>
          <p:cNvSpPr/>
          <p:nvPr/>
        </p:nvSpPr>
        <p:spPr>
          <a:xfrm>
            <a:off x="1067525" y="3852059"/>
            <a:ext cx="10160769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attribute with the maximum gain ratio is selected as the splitting attribute</a:t>
            </a:r>
            <a:endParaRPr/>
          </a:p>
        </p:txBody>
      </p:sp>
      <p:sp>
        <p:nvSpPr>
          <p:cNvPr id="7" name="Google Shape;699;p56">
            <a:extLst>
              <a:ext uri="{FF2B5EF4-FFF2-40B4-BE49-F238E27FC236}">
                <a16:creationId xmlns:a16="http://schemas.microsoft.com/office/drawing/2014/main" id="{DE1E1FD8-2A4E-4E27-8110-91C21476BF96}"/>
              </a:ext>
            </a:extLst>
          </p:cNvPr>
          <p:cNvSpPr txBox="1"/>
          <p:nvPr/>
        </p:nvSpPr>
        <p:spPr>
          <a:xfrm>
            <a:off x="3959591" y="2521031"/>
            <a:ext cx="3579506" cy="64081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9833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Problems with Gain Ratio</a:t>
            </a:r>
            <a:endParaRPr dirty="0"/>
          </a:p>
        </p:txBody>
      </p:sp>
      <p:sp>
        <p:nvSpPr>
          <p:cNvPr id="713" name="Google Shape;713;p58"/>
          <p:cNvSpPr/>
          <p:nvPr/>
        </p:nvSpPr>
        <p:spPr>
          <a:xfrm>
            <a:off x="838200" y="1690688"/>
            <a:ext cx="1032285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 of C4.5-Gain Ratio</a:t>
            </a:r>
            <a:endParaRPr dirty="0"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 to prefer unbalanced split in which one partition is 	much smaller than the other.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(Classification &amp; Regression Tree)</a:t>
            </a:r>
            <a:endParaRPr dirty="0"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creates a Binary Tree</a:t>
            </a:r>
            <a:endParaRPr dirty="0"/>
          </a:p>
          <a:p>
            <a:pPr marL="914400" marR="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Gini Index as a attribute selection measure.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Gini Index</a:t>
            </a:r>
            <a:endParaRPr dirty="0"/>
          </a:p>
        </p:txBody>
      </p:sp>
      <p:sp>
        <p:nvSpPr>
          <p:cNvPr id="719" name="Google Shape;719;p59"/>
          <p:cNvSpPr/>
          <p:nvPr/>
        </p:nvSpPr>
        <p:spPr>
          <a:xfrm>
            <a:off x="838200" y="1438836"/>
            <a:ext cx="1023321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data set D contains examples from n classes,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index,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is defined as </a:t>
            </a:r>
            <a:endParaRPr dirty="0"/>
          </a:p>
        </p:txBody>
      </p:sp>
      <p:pic>
        <p:nvPicPr>
          <p:cNvPr id="720" name="Google Shape;72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241" y="2138278"/>
            <a:ext cx="2870200" cy="839787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9"/>
          <p:cNvSpPr/>
          <p:nvPr/>
        </p:nvSpPr>
        <p:spPr>
          <a:xfrm>
            <a:off x="838199" y="2978304"/>
            <a:ext cx="1023321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p</a:t>
            </a:r>
            <a:r>
              <a:rPr lang="en-US" sz="28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relative frequency of class j in D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dataset D is split on A into two subset D1 and D2, the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index,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is defined as </a:t>
            </a:r>
            <a:endParaRPr dirty="0"/>
          </a:p>
        </p:txBody>
      </p:sp>
      <p:pic>
        <p:nvPicPr>
          <p:cNvPr id="722" name="Google Shape;72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447" y="4180310"/>
            <a:ext cx="5919787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9"/>
          <p:cNvSpPr/>
          <p:nvPr/>
        </p:nvSpPr>
        <p:spPr>
          <a:xfrm>
            <a:off x="838199" y="4895944"/>
            <a:ext cx="1023321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split is always binary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 in impurity is defined as</a:t>
            </a:r>
            <a:endParaRPr dirty="0"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1221" y="5850051"/>
            <a:ext cx="4440238" cy="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30" name="Google Shape;730;p60"/>
          <p:cNvSpPr txBox="1"/>
          <p:nvPr/>
        </p:nvSpPr>
        <p:spPr>
          <a:xfrm>
            <a:off x="2725108" y="1739589"/>
            <a:ext cx="6741781" cy="9028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1" name="Google Shape;731;p60"/>
          <p:cNvSpPr txBox="1"/>
          <p:nvPr/>
        </p:nvSpPr>
        <p:spPr>
          <a:xfrm>
            <a:off x="2636270" y="2730026"/>
            <a:ext cx="6919458" cy="13979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2" name="Google Shape;732;p60"/>
          <p:cNvSpPr txBox="1"/>
          <p:nvPr/>
        </p:nvSpPr>
        <p:spPr>
          <a:xfrm>
            <a:off x="3632246" y="4445457"/>
            <a:ext cx="4927503" cy="3994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113" b="-257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3" name="Google Shape;733;p60"/>
          <p:cNvSpPr/>
          <p:nvPr/>
        </p:nvSpPr>
        <p:spPr>
          <a:xfrm>
            <a:off x="1015615" y="4844862"/>
            <a:ext cx="10160769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attribute with the Minimum Gini Index is selected as the splitting attribute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1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Practice Problem</a:t>
            </a:r>
            <a:endParaRPr dirty="0"/>
          </a:p>
        </p:txBody>
      </p:sp>
      <p:pic>
        <p:nvPicPr>
          <p:cNvPr id="231" name="Picture 9">
            <a:extLst>
              <a:ext uri="{FF2B5EF4-FFF2-40B4-BE49-F238E27FC236}">
                <a16:creationId xmlns:a16="http://schemas.microsoft.com/office/drawing/2014/main" id="{9DDD3D1C-D1ED-404F-9659-7C27859004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5"/>
          <a:stretch/>
        </p:blipFill>
        <p:spPr bwMode="auto">
          <a:xfrm>
            <a:off x="2326512" y="1025525"/>
            <a:ext cx="7538975" cy="536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4428591" y="2967335"/>
            <a:ext cx="33348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99D7CC-A135-4091-B536-95C0BAAA2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676</Words>
  <Application>Microsoft Office PowerPoint</Application>
  <PresentationFormat>Widescreen</PresentationFormat>
  <Paragraphs>156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Constantia</vt:lpstr>
      <vt:lpstr>Noto Sans Symbols</vt:lpstr>
      <vt:lpstr>Tahoma</vt:lpstr>
      <vt:lpstr>Times New Roman</vt:lpstr>
      <vt:lpstr>Office Theme</vt:lpstr>
      <vt:lpstr>Microsoft Excel 97-2003 Worksheet</vt:lpstr>
      <vt:lpstr>Supervised Learning  (Decision Tree)</vt:lpstr>
      <vt:lpstr>Decision Tree</vt:lpstr>
      <vt:lpstr>Decision Tree</vt:lpstr>
      <vt:lpstr>Decision Making</vt:lpstr>
      <vt:lpstr>Decision Making (Cont.)</vt:lpstr>
      <vt:lpstr>Tree Construction</vt:lpstr>
      <vt:lpstr>What if the Feature is not Discrete?</vt:lpstr>
      <vt:lpstr>Types of Split</vt:lpstr>
      <vt:lpstr>Attribute Selection Metrics</vt:lpstr>
      <vt:lpstr>Information Gain (ID3)</vt:lpstr>
      <vt:lpstr>Information Gain (ID3)</vt:lpstr>
      <vt:lpstr>Example Dataset</vt:lpstr>
      <vt:lpstr>Example</vt:lpstr>
      <vt:lpstr>Example (Cont.)</vt:lpstr>
      <vt:lpstr>Example (Cont.)</vt:lpstr>
      <vt:lpstr>Problems with Information Gain</vt:lpstr>
      <vt:lpstr>Gain Ratio (C4.5)</vt:lpstr>
      <vt:lpstr>Problems with Gain Ratio</vt:lpstr>
      <vt:lpstr>Gini Index</vt:lpstr>
      <vt:lpstr>Example</vt:lpstr>
      <vt:lpstr>Practice 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Shahidul islam</dc:creator>
  <cp:lastModifiedBy>Ahmedul Kabir</cp:lastModifiedBy>
  <cp:revision>435</cp:revision>
  <dcterms:created xsi:type="dcterms:W3CDTF">2024-01-16T03:17:01Z</dcterms:created>
  <dcterms:modified xsi:type="dcterms:W3CDTF">2026-08-09T18:13:31Z</dcterms:modified>
</cp:coreProperties>
</file>